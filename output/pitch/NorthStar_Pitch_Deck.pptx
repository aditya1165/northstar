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4465b0bcdd4b4d73" /><Relationship Type="http://schemas.openxmlformats.org/officeDocument/2006/relationships/extended-properties" Target="/docProps/app.xml" Id="R3ec369422f7843ed" /><Relationship Type="http://schemas.openxmlformats.org/officeDocument/2006/relationships/officeDocument" Target="/ppt/presentation.xml" Id="R023f07113faf4d0c" /></Relationships>
</file>

<file path=ppt/presentation.xml><?xml version="1.0" encoding="utf-8"?>
<p:presentation xmlns:p="http://schemas.openxmlformats.org/presentationml/2006/main">
  <p:sldMasterIdLst>
    <p:sldMasterId xmlns:r="http://schemas.openxmlformats.org/officeDocument/2006/relationships" id="2147483648" r:id="R345f4bf606b64f7d"/>
  </p:sldMasterIdLst>
  <p:notesMasterIdLst>
    <p:notesMasterId xmlns:r="http://schemas.openxmlformats.org/officeDocument/2006/relationships" r:id="Red79b731f7a24ef2"/>
  </p:notesMasterIdLst>
  <p:sldIdLst>
    <p:sldId xmlns:r="http://schemas.openxmlformats.org/officeDocument/2006/relationships" id="256" r:id="R8862be7bab04428f"/>
    <p:sldId xmlns:r="http://schemas.openxmlformats.org/officeDocument/2006/relationships" id="257" r:id="R1795260264c145f9"/>
    <p:sldId xmlns:r="http://schemas.openxmlformats.org/officeDocument/2006/relationships" id="258" r:id="R9781e428a5964f39"/>
    <p:sldId xmlns:r="http://schemas.openxmlformats.org/officeDocument/2006/relationships" id="259" r:id="R581afe2364ca491f"/>
    <p:sldId xmlns:r="http://schemas.openxmlformats.org/officeDocument/2006/relationships" id="260" r:id="R8e50017188344bd1"/>
    <p:sldId xmlns:r="http://schemas.openxmlformats.org/officeDocument/2006/relationships" id="261" r:id="R8989e6f7fb1c4f69"/>
    <p:sldId xmlns:r="http://schemas.openxmlformats.org/officeDocument/2006/relationships" id="262" r:id="Ra6619f9d738649c1"/>
    <p:sldId xmlns:r="http://schemas.openxmlformats.org/officeDocument/2006/relationships" id="263" r:id="R13b291417d3c483a"/>
    <p:sldId xmlns:r="http://schemas.openxmlformats.org/officeDocument/2006/relationships" id="264" r:id="R28741649254741f5"/>
    <p:sldId xmlns:r="http://schemas.openxmlformats.org/officeDocument/2006/relationships" id="265" r:id="Rf8b89bc0182c4e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4abe60b5074208" /><Relationship Type="http://schemas.openxmlformats.org/officeDocument/2006/relationships/slideMaster" Target="/ppt/slideMasters/slideMaster1.xml" Id="R345f4bf606b64f7d" /><Relationship Type="http://schemas.openxmlformats.org/officeDocument/2006/relationships/notesMaster" Target="/ppt/notesMasters/notesMaster1.xml" Id="Red79b731f7a24ef2" /><Relationship Type="http://schemas.openxmlformats.org/officeDocument/2006/relationships/presProps" Target="/ppt/presProps.xml" Id="R1e603f4fc5804dcd" /><Relationship Type="http://schemas.openxmlformats.org/officeDocument/2006/relationships/tableStyles" Target="/ppt/tableStyles.xml" Id="R35012095ed174a2b" /><Relationship Type="http://schemas.openxmlformats.org/officeDocument/2006/relationships/slide" Target="/ppt/slides/slide1.xml" Id="R8862be7bab04428f" /><Relationship Type="http://schemas.openxmlformats.org/officeDocument/2006/relationships/slide" Target="/ppt/slides/slide2.xml" Id="R1795260264c145f9" /><Relationship Type="http://schemas.openxmlformats.org/officeDocument/2006/relationships/slide" Target="/ppt/slides/slide3.xml" Id="R9781e428a5964f39" /><Relationship Type="http://schemas.openxmlformats.org/officeDocument/2006/relationships/slide" Target="/ppt/slides/slide4.xml" Id="R581afe2364ca491f" /><Relationship Type="http://schemas.openxmlformats.org/officeDocument/2006/relationships/slide" Target="/ppt/slides/slide5.xml" Id="R8e50017188344bd1" /><Relationship Type="http://schemas.openxmlformats.org/officeDocument/2006/relationships/slide" Target="/ppt/slides/slide6.xml" Id="R8989e6f7fb1c4f69" /><Relationship Type="http://schemas.openxmlformats.org/officeDocument/2006/relationships/slide" Target="/ppt/slides/slide7.xml" Id="Ra6619f9d738649c1" /><Relationship Type="http://schemas.openxmlformats.org/officeDocument/2006/relationships/slide" Target="/ppt/slides/slide8.xml" Id="R13b291417d3c483a" /><Relationship Type="http://schemas.openxmlformats.org/officeDocument/2006/relationships/slide" Target="/ppt/slides/slide9.xml" Id="R28741649254741f5" /><Relationship Type="http://schemas.openxmlformats.org/officeDocument/2006/relationships/slide" Target="/ppt/slides/slide10.xml" Id="Rf8b89bc0182c4e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8b269d57cb4c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35ac0118784478" /><Relationship Type="http://schemas.openxmlformats.org/officeDocument/2006/relationships/notesMaster" Target="/ppt/notesMasters/notesMaster1.xml" Id="Rb0edc10861c545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d27cf88f26425e" /><Relationship Type="http://schemas.openxmlformats.org/officeDocument/2006/relationships/notesMaster" Target="/ppt/notesMasters/notesMaster1.xml" Id="R59cfe2b9d2bf48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3b00bb25934f3e" /><Relationship Type="http://schemas.openxmlformats.org/officeDocument/2006/relationships/notesMaster" Target="/ppt/notesMasters/notesMaster1.xml" Id="R91ca7f6e34d041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c285c6095c4c16" /><Relationship Type="http://schemas.openxmlformats.org/officeDocument/2006/relationships/notesMaster" Target="/ppt/notesMasters/notesMaster1.xml" Id="R23e1d87dba2341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14a9f928c2413e" /><Relationship Type="http://schemas.openxmlformats.org/officeDocument/2006/relationships/notesMaster" Target="/ppt/notesMasters/notesMaster1.xml" Id="R4b77bb68a86e4f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10d3eee3894d48" /><Relationship Type="http://schemas.openxmlformats.org/officeDocument/2006/relationships/notesMaster" Target="/ppt/notesMasters/notesMaster1.xml" Id="Rdda0b9240d2640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d54feee6c8441d" /><Relationship Type="http://schemas.openxmlformats.org/officeDocument/2006/relationships/notesMaster" Target="/ppt/notesMasters/notesMaster1.xml" Id="Rc5f5f932340844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64b162c9e64823" /><Relationship Type="http://schemas.openxmlformats.org/officeDocument/2006/relationships/notesMaster" Target="/ppt/notesMasters/notesMaster1.xml" Id="Re584d96c6d694b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213dbb3b1c4a91" /><Relationship Type="http://schemas.openxmlformats.org/officeDocument/2006/relationships/notesMaster" Target="/ppt/notesMasters/notesMaster1.xml" Id="Ra7e19868e51540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98dba83c0949ea" /><Relationship Type="http://schemas.openxmlformats.org/officeDocument/2006/relationships/notesMaster" Target="/ppt/notesMasters/notesMaster1.xml" Id="R22bd4ed8f02349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25 seconds. NorthStar is our venture brand. CrowdGuardian is the name still visible in the running prototype. When thousands of people leave at once, the shortest route can become the slowest. We help operators understand pressure and available capacity so they can make a better evacuation decision. The deck presents the completed-system vision, with actual current-prototype captures on slide 6. Stadium cover: AI-generated fictional architectural concept, not an actual venue. No commercial traction or validated safety claim is asserted.</a:t>
            </a:r>
          </a:p>
          <a:p xmlns:a="http://schemas.openxmlformats.org/drawingml/2006/main">
            <a:br/>
            <a:br/>
            <a:r>
              <a:t>Background provenance: built-in image generation, fictional stadium. Prompt: premium cinematic 16:9 aerial fictional oval stadium at dusk, right-side composition, navy and ice-blue lighting, subtle teal exit paths, dark left negative space, no words or UI. Saved as tmp/pitch-build/assets/stadium-concept.png and embedded into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we built it, about 35 seconds. Crowds often concentrate at familiar exits. A closure changes capacity immediately, while operators still need time to understand the consequence. Crisis mitigation means identifying growing pressure, practicing disruptions, and adapting available routes. Dual use here means civilian and defense/security applications. Defense use is protective: evacuation, assembly, and continuity at installations or restricted campuses. The same capacity-and-routing problem appears in both domains. The 4,000 population and eight exits come from shared/stadium-config.json.</a:t>
            </a:r>
          </a:p>
          <a:p xmlns:a="http://schemas.openxmlformats.org/drawingml/2006/main">
            <a:br/>
            <a:br/>
            <a:r>
              <a:t>Context source: UNDRR, What is the Sendai Framework for Disaster Risk Reduction? Its priorities include understanding disaster risk and preparedness for effective response. https://www.undrr.org/implementing-sendai-framework/what-sendai-framework . Reviewed 17 October 2026. NorthStar's dual-use positioning is the team's proposed product strategy.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diagrams, about 40 seconds. The first scenario is ordinary dispersal after an event. All exits exist but people can cluster unevenly. The second scenario represents selected gates becoming unavailable after an earthquake. We simulate route availability, not structural damage or seismic physics. The diagram closes B and D as an illustrative two-gate case. The actual demonstration later closes B, C, and D. Capacity calculation: each shared model gate is 90 people per simulated minute; eight gates total 720 and six total 540. Loss = (720-540)/720 = 25%. This is nominal model capacity, not a measured real-world evacuation performance estimate. Sources: shared/stadium-config.json and PROJECT_CONTEXT.md.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Solution and business model, about 35 seconds. In the completed architecture, NorthStar continuously updates the venue state, detects pressure, predicts demand and compares feasible interventions. Operators retain control of gate availability and intervention policy. Routing changes have reasons and feedback. Our proposed commercial entry is a paid venue validation pilot, followed by an annual site subscription and layout/calibration onboarding. This is a proposed model, not existing revenue. Current implementation already supports physical-path movement, live Python detection and deterministic routing in the browser. Forecast-to-live integration and actual counterfactual rollouts remain planned. Sources: README.md, PROJECT_CONTEXT.md, backend/app/forecasting/baseline.py.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solution, about 50 seconds. Read the sequence from top to bottom. The stadium twin reports active/exited identities and movement; a complete target contract also includes gate state. Python validates the batch, detects persistent pressure, forecasts and evaluates alternatives. The operator reviews intervention choices or sets an authorized routing policy. The backend returns changed assignments and the frontend moves and displays people. React and TypeScript support the existing operator UI. Three.js and React Three Fiber render the 3D stadium. FastAPI and WebSockets already carry the person stream and detector responses. Deterministic route scoring does not require ML. Shared geometry prevents divergent gate definitions. Target boundary: routing is still browser-owned today, and live forecasting/rollouts are planned. Sources: frontend/package.json; backend/pyproject.toml; README.md; shared/stadium-config.json. Animation: diagram messages appear in chronological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about 60 seconds plus optional playback. These images are unaltered captures of the app running against the actual Python backend on 17 October 2026. No fake WebSocket responses were injected. Screenshot 02 is all-open at 96 simulated seconds, with 59 exited. Screenshot 03 shows Gate B closed and a backend Gate C queue of 337, density about 1.73 people/m² and mean speed about 0.10m/s at 174 simulated seconds. Screenshot 05 closes B, C and D, with queues E/F/G = 426/215/207 at 266.9 simulated seconds, and 1,854 exited. Actual capture received 27 Python replies with zero browser page errors. Movement rerouting currently runs in the frontend. Forecast curves and recommendation comparisons remain demonstration values and are not performance evidence. Raw capture provenance: tmp/pitch-build/assets/demo-provenance.json. If the embedded clip is present, click the large screenshot to play the recorded live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pathway and globalization, about 45 seconds. NSF America’s Seed Fund is the proposed early R&amp;D route: Phase I up to $305,000, subject to a successful Project Pitch invitation and competitive full proposal. U.S. small-business size, ownership, PI employment and work-location rules apply; this team’s eligibility has not been established. AFWERX SBIR/STTR is the proposed defense route: identify an installation-resilience customer and a suitable announced topic, then compete for a prototype contract. No specific open evacuation topic has been verified. NSF funds R&amp;D rather than purchasing the product. AFWERX Phase III adoption uses non-SBIR government or private funding. Internationally, reuse the engine while configuring local site maps, signage, languages, access rules, data handling and approved operating procedures. California, Shanghai and India are proposed applications, not current customers.</a:t>
            </a:r>
          </a:p>
          <a:p xmlns:a="http://schemas.openxmlformats.org/drawingml/2006/main">
            <a:br/>
            <a:br/>
            <a:r>
              <a:t>Official sources, reviewed 17 October 2026: NSF 26-510, Small Business Innovation Research / Small Business Technology Transfer: https://www.nsf.gov/funding/opportunities/small-business-innovation-research-small-business-technology . This page lists Phase I grants up to $305,000 and Phase II fixed-amount cooperative agreements up to $1,250,000. Project Pitch and eligibility: https://seedfund.nsf.gov/solicitation-eligibility/ . AFWERX Get Funded: https://afwerx.com/get-funded/ . AFWERX describes U.S. for-profit small-business eligibility, majority qualifying U.S. ownership/control, and topic-based DAF feasibility/prototype contracts. No evacuation-specific open topic or NorthStar eligibility has been established. No award or agency partnership is claimed. Global adaptation examples are proposed, not deployed.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scope, about 40 seconds. OpenCV supports calibration and image processing; trained detectors or density estimators supply crowd measurements. A deployed pipeline needs detection and tracking when individuals are visible, or density estimation under heavy occlusion. LiDAR and turnstile counts could supplement vision. Convert observations to calibrated ground-plane measurements without requiring identity recognition. Validate accuracy at each site under lighting changes, occlusion and camera overlap. The displayed 15% reduction in full clearance time and 20% reduction in peak queue are proposed pilot hypotheses, not measured or promised outcomes. Evaluate repeated runs against the same fixed nearest-open-gate baseline and report additional walking and failures. A hypothetical 20-minute baseline with 15% improvement saves 3 minutes, but no measured baseline exists yet.</a:t>
            </a:r>
          </a:p>
          <a:p xmlns:a="http://schemas.openxmlformats.org/drawingml/2006/main">
            <a:br/>
            <a:br/>
            <a:r>
              <a:t>Official technical sources, reviewed 17 October 2026: OpenCV YOLO DNN inference tutorial, https://docs.opencv.org/4.13.0/da/d9d/tutorial_dnn_yolo.html ; OpenCV camera calibration and 3D reconstruction documentation, https://docs.opencv.org/4.13.0/d9/d0c/group__calib3d.html . Density-estimation example: Li, Zhang and Chen, CSRNet, CVPR 2018, https://openaccess.thecvf.com/content_cvpr_2018/html/Li_CSRNet_Dilated_Convolutional_CVPR_2018_paper.html . The camera/LiDAR/turnstile architecture is a proposed system design. Pilot targets are author-selected hypotheses, not values claimed by these sources or achieved by NorthStar.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Dual use and future domains, about 35 seconds. For wildfire, the model would combine authoritative hazard feeds with road availability, vehicle capacities and mountain-trail constraints. It supports exposure reduction and evacuation. It does not prevent ignition or independently certify a route safe. Road and pedestrian movement need different capacity and travel models. For defense and security facilities, the same decision loop can use restricted access, protected assembly areas, damaged exits and local command policy. This is a protective, non-weapon application. Every new domain requires calibration and validation. Wildfire background is AI-generated fictional concept art, not a real fire or a screenshot of an implemented wildfire simulator.</a:t>
            </a:r>
          </a:p>
          <a:p xmlns:a="http://schemas.openxmlformats.org/drawingml/2006/main">
            <a:br/>
            <a:br/>
            <a:r>
              <a:t>Background provenance: built-in image generation, fictional mountain evacuation concept. Prompt: wide 16:9 mountain forest valley at blue hour, winding road and foot trail toward clear valley, distant wildfire glow on upper-right ridge, dark left negative space, no text, logos or UI. Saved as tmp/pitch-build/assets/wildfire-concept.png and embedded into the presentation. This image illustrates future scope, not an implemented wildfire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about 25 seconds. We are seeking one venue partner for a proposed six-week paid validation pilot. We would calibrate the venue, run controlled incident drills and compare clearance time, queue pressure and walking-distance tradeoffs. The goal is evidence an operator can inspect. Thank you from Team NorthStar: Khushi Patel, Ujjwal Puri, Mansi Surywanshi and Aditya Lanjewar. Six weeks is a proposed pilot scope, not an existing agreement or contracted commitment. Optional Q&amp;A: why deterministic routing, how to handle all gates closed, what changes for wildfire, how to validate a camera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a60eaaafac49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60b45cc0b243d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86e58368a44c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f5608330d8445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75dfcb35ca43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b12e2900464b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2095AE-636E-4BB4-A22C-BF90B02D65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B076768-51B8-49A6-8BAE-600A23316D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B09B28-434A-4279-A23C-3E24785ADF3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1A9A50-DBC4-4648-9D81-F4F88D4A63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C737909-3147-4EF8-BECC-4A58D359586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841569F-E6B0-4452-AE1C-AC62B4EAD2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12BE86-A885-4476-BCDC-D6B54431AC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7D0AF0A-6A86-4290-B4D4-F1B66A27E87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E5E209-B33B-4597-AE30-B5EFC1B482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EB5410-8E07-48BF-A2F3-BC8BE7EE4C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863e21ab914b73" /><Relationship Type="http://schemas.openxmlformats.org/officeDocument/2006/relationships/slideLayout" Target="/ppt/slideLayouts/slideLayout1.xml" Id="R3f5523cf4eab4df7" /><Relationship Type="http://schemas.openxmlformats.org/officeDocument/2006/relationships/slideLayout" Target="/ppt/slideLayouts/slideLayout2.xml" Id="Rccd56297417a4924" /><Relationship Type="http://schemas.openxmlformats.org/officeDocument/2006/relationships/slideLayout" Target="/ppt/slideLayouts/slideLayout3.xml" Id="R4a407ad78b45448a" /><Relationship Type="http://schemas.openxmlformats.org/officeDocument/2006/relationships/slideLayout" Target="/ppt/slideLayouts/slideLayout4.xml" Id="Rc81dbe0136574bf1" /><Relationship Type="http://schemas.openxmlformats.org/officeDocument/2006/relationships/slideLayout" Target="/ppt/slideLayouts/slideLayout5.xml" Id="R056c26f9f60b4024" /><Relationship Type="http://schemas.openxmlformats.org/officeDocument/2006/relationships/slideLayout" Target="/ppt/slideLayouts/slideLayout6.xml" Id="R55539aa8fba34f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5523cf4eab4df7"/>
    <p:sldLayoutId xmlns:r="http://schemas.openxmlformats.org/officeDocument/2006/relationships" id="2147483650" r:id="Rccd56297417a4924"/>
    <p:sldLayoutId xmlns:r="http://schemas.openxmlformats.org/officeDocument/2006/relationships" id="2147483651" r:id="R4a407ad78b45448a"/>
    <p:sldLayoutId xmlns:r="http://schemas.openxmlformats.org/officeDocument/2006/relationships" id="2147483652" r:id="Rc81dbe0136574bf1"/>
    <p:sldLayoutId xmlns:r="http://schemas.openxmlformats.org/officeDocument/2006/relationships" id="2147483653" r:id="R056c26f9f60b4024"/>
    <p:sldLayoutId xmlns:r="http://schemas.openxmlformats.org/officeDocument/2006/relationships" id="2147483654" r:id="R55539aa8fba34f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1e585e2e664c51" /><Relationship Type="http://schemas.openxmlformats.org/officeDocument/2006/relationships/image" Target="/ppt/media/image.png" Id="R4a9a2ec9d9124c1b" /><Relationship Type="http://schemas.openxmlformats.org/officeDocument/2006/relationships/notesSlide" Target="/ppt/notesSlides/notesSlide1.xml" Id="R43b71bd56c8148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284d6dbbbbd4890" /><Relationship Type="http://schemas.openxmlformats.org/officeDocument/2006/relationships/notesSlide" Target="/ppt/notesSlides/notesSlide2.xml" Id="Rdd701a74672c47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6f8089f9ce45b2" /><Relationship Type="http://schemas.openxmlformats.org/officeDocument/2006/relationships/notesSlide" Target="/ppt/notesSlides/notesSlide3.xml" Id="R21bb7c65891948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26703f78d94154" /><Relationship Type="http://schemas.openxmlformats.org/officeDocument/2006/relationships/notesSlide" Target="/ppt/notesSlides/notesSlide4.xml" Id="R12ec5e6e731944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ee97facc3154c82" /><Relationship Type="http://schemas.openxmlformats.org/officeDocument/2006/relationships/notesSlide" Target="/ppt/notesSlides/notesSlide5.xml" Id="R7b29f51ce7014c14" /></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44e0e7396f1d4133"/><Relationship Type="http://schemas.openxmlformats.org/officeDocument/2006/relationships/image" Target="/ppt/media/image2.png" Id="R7b3c5f8d1188416e"/><Relationship Type="http://schemas.openxmlformats.org/officeDocument/2006/relationships/image" Target="/ppt/media/image3.png" Id="Rf9e402984de44867"/><Relationship Type="http://schemas.openxmlformats.org/officeDocument/2006/relationships/image" Target="/ppt/media/image4.png" Id="Rbf0779bf068a41b1"/><Relationship Type="http://schemas.openxmlformats.org/officeDocument/2006/relationships/notesSlide" Target="/ppt/notesSlides/notesSlide6.xml" Id="R60b14411dac14f1c"/><Relationship Id="rIdNorthStarVideo" Type="http://schemas.openxmlformats.org/officeDocument/2006/relationships/video" Target="../media/northstar-demo.mp4"/><Relationship Id="rIdNorthStarMedia" Type="http://schemas.microsoft.com/office/2007/relationships/media" Target="../media/northstar-demo.mp4"/></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d85c0571c2419f" /><Relationship Type="http://schemas.openxmlformats.org/officeDocument/2006/relationships/notesSlide" Target="/ppt/notesSlides/notesSlide7.xml" Id="Rb8ae0a47c2e245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7021321a7c4930" /><Relationship Type="http://schemas.openxmlformats.org/officeDocument/2006/relationships/notesSlide" Target="/ppt/notesSlides/notesSlide8.xml" Id="Ra88f1353cd6242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82697be060046e2" /><Relationship Type="http://schemas.openxmlformats.org/officeDocument/2006/relationships/image" Target="/ppt/media/image5.png" Id="R61875b3eeee0493e" /><Relationship Type="http://schemas.openxmlformats.org/officeDocument/2006/relationships/notesSlide" Target="/ppt/notesSlides/notesSlide9.xml" Id="Rc16381c78bec4c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54671123a1941c4" /><Relationship Type="http://schemas.openxmlformats.org/officeDocument/2006/relationships/image" Target="/ppt/media/image6.png" Id="Rb77e887aabfb4927" /><Relationship Type="http://schemas.openxmlformats.org/officeDocument/2006/relationships/notesSlide" Target="/ppt/notesSlides/notesSlide10.xml" Id="Rb73271235c664343" /></Relationships>
</file>

<file path=ppt/slides/slide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7" name="page">
            <a:extLst xmlns:a="http://schemas.openxmlformats.org/drawingml/2006/main">
              <a:ext uri="{FF2B5EF4-FFF2-40B4-BE49-F238E27FC236}">
                <a16:creationId xmlns:a16="http://schemas.microsoft.com/office/drawing/2014/main" id="{730E29D2-D1A5-48F7-BECE-311B37B96BB8}"/>
              </a:ext>
            </a:extLst>
          </p:cNvPr>
          <p:cNvSpPr>
            <a:spLocks xmlns:a="http://schemas.openxmlformats.org/drawingml/2006/main" noGrp="1"/>
          </p:cNvSpPr>
          <p:nvPr/>
        </p:nvSpPr>
        <p:spPr>
          <a:xfrm xmlns:a="http://schemas.openxmlformats.org/drawingml/2006/main">
            <a:off x="11239500" y="62579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A8BACB"/>
                </a:solidFill>
                <a:latin typeface="Helvetica Neue"/>
                <a:ea typeface="Helvetica Neue"/>
                <a:cs typeface="Helvetica Neue"/>
              </a:defRPr>
            </a:defPPr>
          </a:lstStyle>
          <a:p xmlns:a="http://schemas.openxmlformats.org/drawingml/2006/main">
            <a:pPr algn="r">
              <a:defRPr sz="1200" b="0">
                <a:solidFill>
                  <a:srgbClr val="A8BACB"/>
                </a:solidFill>
                <a:latin typeface="Helvetica Neue"/>
                <a:ea typeface="Helvetica Neue"/>
                <a:cs typeface="Helvetica Neue"/>
              </a:defRPr>
            </a:pPr>
            <a:r>
              <a:rPr sz="1200" b="0">
                <a:solidFill>
                  <a:srgbClr val="A8BACB"/>
                </a:solidFill>
                <a:latin typeface="Helvetica Neue"/>
                <a:ea typeface="Helvetica Neue"/>
                <a:cs typeface="Helvetica Neue"/>
              </a:rPr>
              <a:t>01</a:t>
            </a:r>
          </a:p>
        </p:txBody>
      </p:sp>
      <p:pic>
        <p:nvPicPr>
          <p:cNvPr id="2" name="stadium background" descr="stadium background">
            <a:extLst xmlns:a="http://schemas.openxmlformats.org/drawingml/2006/main">
              <a:ext uri="{FF2B5EF4-FFF2-40B4-BE49-F238E27FC236}">
                <a16:creationId xmlns:a16="http://schemas.microsoft.com/office/drawing/2014/main" id="{36EDE30C-4538-4BC6-883E-A12654932E07}"/>
              </a:ext>
            </a:extLst>
          </p:cNvPr>
          <p:cNvPicPr>
            <a:picLocks xmlns:a="http://schemas.openxmlformats.org/drawingml/2006/main" noChangeAspect="1"/>
          </p:cNvPicPr>
          <p:nvPr/>
        </p:nvPicPr>
        <p:blipFill>
          <a:blip xmlns:r="http://schemas.openxmlformats.org/officeDocument/2006/relationships" xmlns:a="http://schemas.openxmlformats.org/drawingml/2006/main" r:embed="R4a9a2ec9d9124c1b"/>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3" name="g1_title">
            <a:extLst xmlns:a="http://schemas.openxmlformats.org/drawingml/2006/main">
              <a:ext uri="{FF2B5EF4-FFF2-40B4-BE49-F238E27FC236}">
                <a16:creationId xmlns:a16="http://schemas.microsoft.com/office/drawing/2014/main" id="{A5FA4CF7-7A7E-488F-8245-72FAB4B85DEB}"/>
              </a:ext>
            </a:extLst>
          </p:cNvPr>
          <p:cNvSpPr>
            <a:spLocks xmlns:a="http://schemas.openxmlformats.org/drawingml/2006/main" noGrp="1"/>
          </p:cNvSpPr>
          <p:nvPr/>
        </p:nvSpPr>
        <p:spPr>
          <a:xfrm xmlns:a="http://schemas.openxmlformats.org/drawingml/2006/main">
            <a:off x="590550" y="2152650"/>
            <a:ext cx="7524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950" b="1">
                <a:solidFill>
                  <a:srgbClr val="F1F5F9"/>
                </a:solidFill>
                <a:latin typeface="Helvetica Neue"/>
                <a:ea typeface="Helvetica Neue"/>
                <a:cs typeface="Helvetica Neue"/>
              </a:defRPr>
            </a:defPPr>
          </a:lstStyle>
          <a:p xmlns:a="http://schemas.openxmlformats.org/drawingml/2006/main">
            <a:pPr>
              <a:defRPr sz="7950" b="1">
                <a:solidFill>
                  <a:srgbClr val="F1F5F9"/>
                </a:solidFill>
                <a:latin typeface="Helvetica Neue"/>
                <a:ea typeface="Helvetica Neue"/>
                <a:cs typeface="Helvetica Neue"/>
              </a:defRPr>
            </a:pPr>
            <a:r>
              <a:rPr sz="7950" b="1">
                <a:solidFill>
                  <a:srgbClr val="F1F5F9"/>
                </a:solidFill>
                <a:latin typeface="Helvetica Neue"/>
                <a:ea typeface="Helvetica Neue"/>
                <a:cs typeface="Helvetica Neue"/>
              </a:rPr>
              <a:t>NorthStar</a:t>
            </a:r>
          </a:p>
        </p:txBody>
      </p:sp>
      <p:sp>
        <p:nvSpPr>
          <p:cNvPr id="4" name="g2_subtitle">
            <a:extLst xmlns:a="http://schemas.openxmlformats.org/drawingml/2006/main">
              <a:ext uri="{FF2B5EF4-FFF2-40B4-BE49-F238E27FC236}">
                <a16:creationId xmlns:a16="http://schemas.microsoft.com/office/drawing/2014/main" id="{43B582DB-BD35-4A55-8AA3-EB103ACE5134}"/>
              </a:ext>
            </a:extLst>
          </p:cNvPr>
          <p:cNvSpPr>
            <a:spLocks xmlns:a="http://schemas.openxmlformats.org/drawingml/2006/main" noGrp="1"/>
          </p:cNvSpPr>
          <p:nvPr/>
        </p:nvSpPr>
        <p:spPr>
          <a:xfrm xmlns:a="http://schemas.openxmlformats.org/drawingml/2006/main">
            <a:off x="647700" y="3476625"/>
            <a:ext cx="561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1F5F9"/>
                </a:solidFill>
                <a:latin typeface="Helvetica Neue"/>
                <a:ea typeface="Helvetica Neue"/>
                <a:cs typeface="Helvetica Neue"/>
              </a:defRPr>
            </a:defPPr>
          </a:lstStyle>
          <a:p xmlns:a="http://schemas.openxmlformats.org/drawingml/2006/main">
            <a:pPr>
              <a:defRPr sz="2325" b="0">
                <a:solidFill>
                  <a:srgbClr val="F1F5F9"/>
                </a:solidFill>
                <a:latin typeface="Helvetica Neue"/>
                <a:ea typeface="Helvetica Neue"/>
                <a:cs typeface="Helvetica Neue"/>
              </a:defRPr>
            </a:pPr>
            <a:r>
              <a:rPr sz="2325" b="0">
                <a:solidFill>
                  <a:srgbClr val="F1F5F9"/>
                </a:solidFill>
                <a:latin typeface="Helvetica Neue"/>
                <a:ea typeface="Helvetica Neue"/>
                <a:cs typeface="Helvetica Neue"/>
              </a:rPr>
              <a:t>Real-time evacuation intelligence</a:t>
            </a:r>
          </a:p>
        </p:txBody>
      </p:sp>
      <p:sp>
        <p:nvSpPr>
          <p:cNvPr id="5" name="g2_line2">
            <a:extLst xmlns:a="http://schemas.openxmlformats.org/drawingml/2006/main">
              <a:ext uri="{FF2B5EF4-FFF2-40B4-BE49-F238E27FC236}">
                <a16:creationId xmlns:a16="http://schemas.microsoft.com/office/drawing/2014/main" id="{CAFD5919-C3F0-4B33-AAE7-DD55CC181932}"/>
              </a:ext>
            </a:extLst>
          </p:cNvPr>
          <p:cNvSpPr>
            <a:spLocks xmlns:a="http://schemas.openxmlformats.org/drawingml/2006/main" noGrp="1"/>
          </p:cNvSpPr>
          <p:nvPr/>
        </p:nvSpPr>
        <p:spPr>
          <a:xfrm xmlns:a="http://schemas.openxmlformats.org/drawingml/2006/main">
            <a:off x="647700" y="3924300"/>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8BACB"/>
                </a:solidFill>
                <a:latin typeface="Helvetica Neue"/>
                <a:ea typeface="Helvetica Neue"/>
                <a:cs typeface="Helvetica Neue"/>
              </a:defRPr>
            </a:defPPr>
          </a:lstStyle>
          <a:p xmlns:a="http://schemas.openxmlformats.org/drawingml/2006/main">
            <a:pPr>
              <a:defRPr sz="2175" b="0">
                <a:solidFill>
                  <a:srgbClr val="A8BACB"/>
                </a:solidFill>
                <a:latin typeface="Helvetica Neue"/>
                <a:ea typeface="Helvetica Neue"/>
                <a:cs typeface="Helvetica Neue"/>
              </a:defRPr>
            </a:pPr>
            <a:r>
              <a:rPr sz="2175" b="0">
                <a:solidFill>
                  <a:srgbClr val="A8BACB"/>
                </a:solidFill>
                <a:latin typeface="Helvetica Neue"/>
                <a:ea typeface="Helvetica Neue"/>
                <a:cs typeface="Helvetica Neue"/>
              </a:rPr>
              <a:t>for crowds and critical facilities</a:t>
            </a:r>
          </a:p>
        </p:txBody>
      </p:sp>
      <p:sp>
        <p:nvSpPr>
          <p:cNvPr id="6" name="g3_team">
            <a:extLst xmlns:a="http://schemas.openxmlformats.org/drawingml/2006/main">
              <a:ext uri="{FF2B5EF4-FFF2-40B4-BE49-F238E27FC236}">
                <a16:creationId xmlns:a16="http://schemas.microsoft.com/office/drawing/2014/main" id="{ABC59162-645B-44AA-A59A-2E3400169334}"/>
              </a:ext>
            </a:extLst>
          </p:cNvPr>
          <p:cNvSpPr>
            <a:spLocks xmlns:a="http://schemas.openxmlformats.org/drawingml/2006/main" noGrp="1"/>
          </p:cNvSpPr>
          <p:nvPr/>
        </p:nvSpPr>
        <p:spPr>
          <a:xfrm xmlns:a="http://schemas.openxmlformats.org/drawingml/2006/main">
            <a:off x="647700" y="58293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65E2C1"/>
                </a:solidFill>
                <a:latin typeface="Helvetica Neue"/>
                <a:ea typeface="Helvetica Neue"/>
                <a:cs typeface="Helvetica Neue"/>
              </a:defRPr>
            </a:defPPr>
          </a:lstStyle>
          <a:p xmlns:a="http://schemas.openxmlformats.org/drawingml/2006/main">
            <a:pPr>
              <a:defRPr sz="1350" b="1">
                <a:solidFill>
                  <a:srgbClr val="65E2C1"/>
                </a:solidFill>
                <a:latin typeface="Helvetica Neue"/>
                <a:ea typeface="Helvetica Neue"/>
                <a:cs typeface="Helvetica Neue"/>
              </a:defRPr>
            </a:pPr>
            <a:r>
              <a:rPr sz="1350" b="1">
                <a:solidFill>
                  <a:srgbClr val="65E2C1"/>
                </a:solidFill>
                <a:latin typeface="Helvetica Neue"/>
                <a:ea typeface="Helvetica Neue"/>
                <a:cs typeface="Helvetica Neue"/>
              </a:rPr>
              <a:t>TEAM NORTHSTAR</a:t>
            </a:r>
          </a:p>
        </p:txBody>
      </p:sp>
    </p:spTree>
    <p:extLst>
      <p:ext uri="{BB962C8B-B14F-4D97-AF65-F5344CB8AC3E}">
        <p14:creationId xmlns:p14="http://schemas.microsoft.com/office/powerpoint/2010/main" val="854036603"/>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00"/>
                            </p:stCondLst>
                            <p:childTnLst>
                              <p:set>
                                <p:cBhvr>
                                  <p:cTn id="5" dur="1" fill="hold"/>
                                  <p:tgtEl>
                                    <p:spTgt spid="3"/>
                                  </p:tgtEl>
                                  <p:attrNameLst>
                                    <p:attrName>style.visibility</p:attrName>
                                  </p:attrNameLst>
                                </p:cBhvr>
                                <p:to>
                                  <p:strVal val="visible"/>
                                </p:to>
                              </p:set>
                              <p:animEffect transition="in" filter="fade">
                                <p:cBhvr>
                                  <p:cTn id="6" dur="550" fill="hold"/>
                                  <p:tgtEl>
                                    <p:spTgt spid="3"/>
                                  </p:tgtEl>
                                </p:cBhvr>
                              </p:animEffect>
                            </p:childTnLst>
                          </p:cTn>
                        </p:par>
                        <p:par>
                          <p:cTn id="7" presetID="10" presetClass="entr" presetSubtype="0" fill="hold" nodeType="withEffect">
                            <p:stCondLst>
                              <p:cond delay="700"/>
                            </p:stCondLst>
                            <p:childTnLst>
                              <p:set>
                                <p:cBhvr>
                                  <p:cTn id="8" dur="1" fill="hold"/>
                                  <p:tgtEl>
                                    <p:spTgt spid="4"/>
                                  </p:tgtEl>
                                  <p:attrNameLst>
                                    <p:attrName>style.visibility</p:attrName>
                                  </p:attrNameLst>
                                </p:cBhvr>
                                <p:to>
                                  <p:strVal val="visible"/>
                                </p:to>
                              </p:set>
                              <p:animEffect transition="in" filter="fade">
                                <p:cBhvr>
                                  <p:cTn id="9" dur="550" fill="hold"/>
                                  <p:tgtEl>
                                    <p:spTgt spid="4"/>
                                  </p:tgtEl>
                                </p:cBhvr>
                              </p:animEffect>
                            </p:childTnLst>
                          </p:cTn>
                        </p:par>
                        <p:par>
                          <p:cTn id="10" presetID="10" presetClass="entr" presetSubtype="0" fill="hold" nodeType="withEffect">
                            <p:stCondLst>
                              <p:cond delay="700"/>
                            </p:stCondLst>
                            <p:childTnLst>
                              <p:set>
                                <p:cBhvr>
                                  <p:cTn id="11" dur="1" fill="hold"/>
                                  <p:tgtEl>
                                    <p:spTgt spid="5"/>
                                  </p:tgtEl>
                                  <p:attrNameLst>
                                    <p:attrName>style.visibility</p:attrName>
                                  </p:attrNameLst>
                                </p:cBhvr>
                                <p:to>
                                  <p:strVal val="visible"/>
                                </p:to>
                              </p:set>
                              <p:animEffect transition="in" filter="fade">
                                <p:cBhvr>
                                  <p:cTn id="12" dur="550" fill="hold"/>
                                  <p:tgtEl>
                                    <p:spTgt spid="5"/>
                                  </p:tgtEl>
                                </p:cBhvr>
                              </p:animEffect>
                            </p:childTnLst>
                          </p:cTn>
                        </p:par>
                        <p:par>
                          <p:cTn id="13" presetID="10" presetClass="entr" presetSubtype="0" fill="hold" nodeType="withEffect">
                            <p:stCondLst>
                              <p:cond delay="1300"/>
                            </p:stCondLst>
                            <p:childTnLst>
                              <p:set>
                                <p:cBhvr>
                                  <p:cTn id="14" dur="1" fill="hold"/>
                                  <p:tgtEl>
                                    <p:spTgt spid="6"/>
                                  </p:tgtEl>
                                  <p:attrNameLst>
                                    <p:attrName>style.visibility</p:attrName>
                                  </p:attrNameLst>
                                </p:cBhvr>
                                <p:to>
                                  <p:strVal val="visible"/>
                                </p:to>
                              </p:set>
                              <p:animEffect transition="in" filter="fade">
                                <p:cBhvr>
                                  <p:cTn id="15"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1" name="page">
            <a:extLst xmlns:a="http://schemas.openxmlformats.org/drawingml/2006/main">
              <a:ext uri="{FF2B5EF4-FFF2-40B4-BE49-F238E27FC236}">
                <a16:creationId xmlns:a16="http://schemas.microsoft.com/office/drawing/2014/main" id="{4E77B453-AC20-4380-9861-1CC2D2038EAF}"/>
              </a:ext>
            </a:extLst>
          </p:cNvPr>
          <p:cNvSpPr>
            <a:spLocks xmlns:a="http://schemas.openxmlformats.org/drawingml/2006/main" noGrp="1"/>
          </p:cNvSpPr>
          <p:nvPr/>
        </p:nvSpPr>
        <p:spPr>
          <a:xfrm xmlns:a="http://schemas.openxmlformats.org/drawingml/2006/main">
            <a:off x="11239500" y="62579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A8BACB"/>
                </a:solidFill>
                <a:latin typeface="Helvetica Neue"/>
                <a:ea typeface="Helvetica Neue"/>
                <a:cs typeface="Helvetica Neue"/>
              </a:defRPr>
            </a:defPPr>
          </a:lstStyle>
          <a:p xmlns:a="http://schemas.openxmlformats.org/drawingml/2006/main">
            <a:pPr algn="r">
              <a:defRPr sz="1200" b="0">
                <a:solidFill>
                  <a:srgbClr val="A8BACB"/>
                </a:solidFill>
                <a:latin typeface="Helvetica Neue"/>
                <a:ea typeface="Helvetica Neue"/>
                <a:cs typeface="Helvetica Neue"/>
              </a:defRPr>
            </a:pPr>
            <a:r>
              <a:rPr sz="1200" b="0">
                <a:solidFill>
                  <a:srgbClr val="A8BACB"/>
                </a:solidFill>
                <a:latin typeface="Helvetica Neue"/>
                <a:ea typeface="Helvetica Neue"/>
                <a:cs typeface="Helvetica Neue"/>
              </a:rPr>
              <a:t>02</a:t>
            </a:r>
          </a:p>
        </p:txBody>
      </p:sp>
      <p:sp>
        <p:nvSpPr>
          <p:cNvPr id="2" name="section">
            <a:extLst xmlns:a="http://schemas.openxmlformats.org/drawingml/2006/main">
              <a:ext uri="{FF2B5EF4-FFF2-40B4-BE49-F238E27FC236}">
                <a16:creationId xmlns:a16="http://schemas.microsoft.com/office/drawing/2014/main" id="{6276F6DB-C5E6-4FFD-AB96-38C0B4BCAB61}"/>
              </a:ext>
            </a:extLst>
          </p:cNvPr>
          <p:cNvSpPr>
            <a:spLocks xmlns:a="http://schemas.openxmlformats.org/drawingml/2006/main" noGrp="1"/>
          </p:cNvSpPr>
          <p:nvPr/>
        </p:nvSpPr>
        <p:spPr>
          <a:xfrm xmlns:a="http://schemas.openxmlformats.org/drawingml/2006/main">
            <a:off x="609600" y="4000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5E2C1"/>
                </a:solidFill>
                <a:latin typeface="Helvetica Neue"/>
                <a:ea typeface="Helvetica Neue"/>
                <a:cs typeface="Helvetica Neue"/>
              </a:defRPr>
            </a:defPPr>
          </a:lstStyle>
          <a:p xmlns:a="http://schemas.openxmlformats.org/drawingml/2006/main">
            <a:pPr>
              <a:defRPr sz="1125" b="1">
                <a:solidFill>
                  <a:srgbClr val="65E2C1"/>
                </a:solidFill>
                <a:latin typeface="Helvetica Neue"/>
                <a:ea typeface="Helvetica Neue"/>
                <a:cs typeface="Helvetica Neue"/>
              </a:defRPr>
            </a:pPr>
            <a:r>
              <a:rPr sz="1125" b="1">
                <a:solidFill>
                  <a:srgbClr val="65E2C1"/>
                </a:solidFill>
                <a:latin typeface="Helvetica Neue"/>
                <a:ea typeface="Helvetica Neue"/>
                <a:cs typeface="Helvetica Neue"/>
              </a:rPr>
              <a:t>WHY NORTHSTAR</a:t>
            </a:r>
          </a:p>
        </p:txBody>
      </p:sp>
      <p:sp>
        <p:nvSpPr>
          <p:cNvPr id="3" name="title">
            <a:extLst xmlns:a="http://schemas.openxmlformats.org/drawingml/2006/main">
              <a:ext uri="{FF2B5EF4-FFF2-40B4-BE49-F238E27FC236}">
                <a16:creationId xmlns:a16="http://schemas.microsoft.com/office/drawing/2014/main" id="{10E830A1-32C9-426E-BDC8-5998ADAB7C44}"/>
              </a:ext>
            </a:extLst>
          </p:cNvPr>
          <p:cNvSpPr>
            <a:spLocks xmlns:a="http://schemas.openxmlformats.org/drawingml/2006/main" noGrp="1"/>
          </p:cNvSpPr>
          <p:nvPr/>
        </p:nvSpPr>
        <p:spPr>
          <a:xfrm xmlns:a="http://schemas.openxmlformats.org/drawingml/2006/main">
            <a:off x="609600" y="7905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1F5F9"/>
                </a:solidFill>
                <a:latin typeface="Helvetica Neue"/>
                <a:ea typeface="Helvetica Neue"/>
                <a:cs typeface="Helvetica Neue"/>
              </a:defRPr>
            </a:defPPr>
          </a:lstStyle>
          <a:p xmlns:a="http://schemas.openxmlformats.org/drawingml/2006/main">
            <a:pPr>
              <a:defRPr sz="3600" b="1">
                <a:solidFill>
                  <a:srgbClr val="F1F5F9"/>
                </a:solidFill>
                <a:latin typeface="Helvetica Neue"/>
                <a:ea typeface="Helvetica Neue"/>
                <a:cs typeface="Helvetica Neue"/>
              </a:defRPr>
            </a:pPr>
            <a:r>
              <a:rPr sz="3600" b="1">
                <a:solidFill>
                  <a:srgbClr val="F1F5F9"/>
                </a:solidFill>
                <a:latin typeface="Helvetica Neue"/>
                <a:ea typeface="Helvetica Neue"/>
                <a:cs typeface="Helvetica Neue"/>
              </a:rPr>
              <a:t>A blocked exit changes everything</a:t>
            </a:r>
          </a:p>
        </p:txBody>
      </p:sp>
      <p:sp>
        <p:nvSpPr>
          <p:cNvPr id="4" name="g1_big">
            <a:extLst xmlns:a="http://schemas.openxmlformats.org/drawingml/2006/main">
              <a:ext uri="{FF2B5EF4-FFF2-40B4-BE49-F238E27FC236}">
                <a16:creationId xmlns:a16="http://schemas.microsoft.com/office/drawing/2014/main" id="{D86F86CB-EA15-4EA7-9F36-22B2CEFEFEF5}"/>
              </a:ext>
            </a:extLst>
          </p:cNvPr>
          <p:cNvSpPr>
            <a:spLocks xmlns:a="http://schemas.openxmlformats.org/drawingml/2006/main" noGrp="1"/>
          </p:cNvSpPr>
          <p:nvPr/>
        </p:nvSpPr>
        <p:spPr>
          <a:xfrm xmlns:a="http://schemas.openxmlformats.org/drawingml/2006/main">
            <a:off x="590550" y="2162175"/>
            <a:ext cx="5334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400" b="1">
                <a:solidFill>
                  <a:srgbClr val="F1F5F9"/>
                </a:solidFill>
                <a:latin typeface="Helvetica Neue"/>
                <a:ea typeface="Helvetica Neue"/>
                <a:cs typeface="Helvetica Neue"/>
              </a:defRPr>
            </a:defPPr>
          </a:lstStyle>
          <a:p xmlns:a="http://schemas.openxmlformats.org/drawingml/2006/main">
            <a:pPr>
              <a:defRPr sz="8400" b="1">
                <a:solidFill>
                  <a:srgbClr val="F1F5F9"/>
                </a:solidFill>
                <a:latin typeface="Helvetica Neue"/>
                <a:ea typeface="Helvetica Neue"/>
                <a:cs typeface="Helvetica Neue"/>
              </a:defRPr>
            </a:pPr>
            <a:r>
              <a:rPr sz="8400" b="1">
                <a:solidFill>
                  <a:srgbClr val="F1F5F9"/>
                </a:solidFill>
                <a:latin typeface="Helvetica Neue"/>
                <a:ea typeface="Helvetica Neue"/>
                <a:cs typeface="Helvetica Neue"/>
              </a:rPr>
              <a:t>4,000</a:t>
            </a:r>
          </a:p>
        </p:txBody>
      </p:sp>
      <p:sp>
        <p:nvSpPr>
          <p:cNvPr id="5" name="g1_body">
            <a:extLst xmlns:a="http://schemas.openxmlformats.org/drawingml/2006/main">
              <a:ext uri="{FF2B5EF4-FFF2-40B4-BE49-F238E27FC236}">
                <a16:creationId xmlns:a16="http://schemas.microsoft.com/office/drawing/2014/main" id="{5B20987D-EF5A-470A-A88C-C4C9B2DF8ECC}"/>
              </a:ext>
            </a:extLst>
          </p:cNvPr>
          <p:cNvSpPr>
            <a:spLocks xmlns:a="http://schemas.openxmlformats.org/drawingml/2006/main" noGrp="1"/>
          </p:cNvSpPr>
          <p:nvPr/>
        </p:nvSpPr>
        <p:spPr>
          <a:xfrm xmlns:a="http://schemas.openxmlformats.org/drawingml/2006/main">
            <a:off x="666750" y="3619500"/>
            <a:ext cx="4619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A8BACB"/>
                </a:solidFill>
                <a:latin typeface="Helvetica Neue"/>
                <a:ea typeface="Helvetica Neue"/>
                <a:cs typeface="Helvetica Neue"/>
              </a:defRPr>
            </a:defPPr>
          </a:lstStyle>
          <a:p xmlns:a="http://schemas.openxmlformats.org/drawingml/2006/main">
            <a:pPr>
              <a:defRPr sz="2700" b="0">
                <a:solidFill>
                  <a:srgbClr val="A8BACB"/>
                </a:solidFill>
                <a:latin typeface="Helvetica Neue"/>
                <a:ea typeface="Helvetica Neue"/>
                <a:cs typeface="Helvetica Neue"/>
              </a:defRPr>
            </a:pPr>
            <a:r>
              <a:rPr sz="2700" b="0">
                <a:solidFill>
                  <a:srgbClr val="A8BACB"/>
                </a:solidFill>
                <a:latin typeface="Helvetica Neue"/>
                <a:ea typeface="Helvetica Neue"/>
                <a:cs typeface="Helvetica Neue"/>
              </a:rPr>
              <a:t>people. Eight exits.</a:t>
            </a:r>
          </a:p>
          <a:p xmlns:a="http://schemas.openxmlformats.org/drawingml/2006/main">
            <a:pPr>
              <a:defRPr sz="2700" b="0">
                <a:solidFill>
                  <a:srgbClr val="A8BACB"/>
                </a:solidFill>
                <a:latin typeface="Helvetica Neue"/>
                <a:ea typeface="Helvetica Neue"/>
                <a:cs typeface="Helvetica Neue"/>
              </a:defRPr>
            </a:pPr>
            <a:r>
              <a:rPr sz="2700" b="0">
                <a:solidFill>
                  <a:srgbClr val="A8BACB"/>
                </a:solidFill>
                <a:latin typeface="Helvetica Neue"/>
                <a:ea typeface="Helvetica Neue"/>
                <a:cs typeface="Helvetica Neue"/>
              </a:rPr>
              <a:t>Uneven information.</a:t>
            </a:r>
          </a:p>
        </p:txBody>
      </p:sp>
      <p:sp>
        <p:nvSpPr>
          <p:cNvPr id="6" name="g1_problem">
            <a:extLst xmlns:a="http://schemas.openxmlformats.org/drawingml/2006/main">
              <a:ext uri="{FF2B5EF4-FFF2-40B4-BE49-F238E27FC236}">
                <a16:creationId xmlns:a16="http://schemas.microsoft.com/office/drawing/2014/main" id="{E2D2DE4B-ECDE-4461-9F0B-1271E37331FB}"/>
              </a:ext>
            </a:extLst>
          </p:cNvPr>
          <p:cNvSpPr>
            <a:spLocks xmlns:a="http://schemas.openxmlformats.org/drawingml/2006/main" noGrp="1"/>
          </p:cNvSpPr>
          <p:nvPr/>
        </p:nvSpPr>
        <p:spPr>
          <a:xfrm xmlns:a="http://schemas.openxmlformats.org/drawingml/2006/main">
            <a:off x="666750" y="5095875"/>
            <a:ext cx="4857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1F5F9"/>
                </a:solidFill>
                <a:latin typeface="Helvetica Neue"/>
                <a:ea typeface="Helvetica Neue"/>
                <a:cs typeface="Helvetica Neue"/>
              </a:defRPr>
            </a:defPPr>
          </a:lstStyle>
          <a:p xmlns:a="http://schemas.openxmlformats.org/drawingml/2006/main">
            <a:pPr>
              <a:defRPr sz="1875" b="0">
                <a:solidFill>
                  <a:srgbClr val="F1F5F9"/>
                </a:solidFill>
                <a:latin typeface="Helvetica Neue"/>
                <a:ea typeface="Helvetica Neue"/>
                <a:cs typeface="Helvetica Neue"/>
              </a:defRPr>
            </a:pPr>
            <a:r>
              <a:rPr sz="1875" b="0">
                <a:solidFill>
                  <a:srgbClr val="F1F5F9"/>
                </a:solidFill>
                <a:latin typeface="Helvetica Neue"/>
                <a:ea typeface="Helvetica Neue"/>
                <a:cs typeface="Helvetica Neue"/>
              </a:rPr>
              <a:t>Operators need to see rising pressure</a:t>
            </a:r>
          </a:p>
          <a:p xmlns:a="http://schemas.openxmlformats.org/drawingml/2006/main">
            <a:pPr>
              <a:defRPr sz="1875" b="0">
                <a:solidFill>
                  <a:srgbClr val="F1F5F9"/>
                </a:solidFill>
                <a:latin typeface="Helvetica Neue"/>
                <a:ea typeface="Helvetica Neue"/>
                <a:cs typeface="Helvetica Neue"/>
              </a:defRPr>
            </a:pPr>
            <a:r>
              <a:rPr sz="1875" b="0">
                <a:solidFill>
                  <a:srgbClr val="F1F5F9"/>
                </a:solidFill>
                <a:latin typeface="Helvetica Neue"/>
                <a:ea typeface="Helvetica Neue"/>
                <a:cs typeface="Helvetica Neue"/>
              </a:rPr>
              <a:t>and adapt when a route fails.</a:t>
            </a:r>
          </a:p>
        </p:txBody>
      </p:sp>
      <p:sp>
        <p:nvSpPr>
          <p:cNvPr id="7" name="g2_civil_title">
            <a:extLst xmlns:a="http://schemas.openxmlformats.org/drawingml/2006/main">
              <a:ext uri="{FF2B5EF4-FFF2-40B4-BE49-F238E27FC236}">
                <a16:creationId xmlns:a16="http://schemas.microsoft.com/office/drawing/2014/main" id="{38FB3F91-A4D5-445F-A166-50285797DAE0}"/>
              </a:ext>
            </a:extLst>
          </p:cNvPr>
          <p:cNvSpPr>
            <a:spLocks xmlns:a="http://schemas.openxmlformats.org/drawingml/2006/main" noGrp="1"/>
          </p:cNvSpPr>
          <p:nvPr/>
        </p:nvSpPr>
        <p:spPr>
          <a:xfrm xmlns:a="http://schemas.openxmlformats.org/drawingml/2006/main">
            <a:off x="6524625" y="211455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65E2C1"/>
                </a:solidFill>
                <a:latin typeface="Helvetica Neue"/>
                <a:ea typeface="Helvetica Neue"/>
                <a:cs typeface="Helvetica Neue"/>
              </a:defRPr>
            </a:defPPr>
          </a:lstStyle>
          <a:p xmlns:a="http://schemas.openxmlformats.org/drawingml/2006/main">
            <a:pPr>
              <a:defRPr sz="2475" b="1">
                <a:solidFill>
                  <a:srgbClr val="65E2C1"/>
                </a:solidFill>
                <a:latin typeface="Helvetica Neue"/>
                <a:ea typeface="Helvetica Neue"/>
                <a:cs typeface="Helvetica Neue"/>
              </a:defRPr>
            </a:pPr>
            <a:r>
              <a:rPr sz="2475" b="1">
                <a:solidFill>
                  <a:srgbClr val="65E2C1"/>
                </a:solidFill>
                <a:latin typeface="Helvetica Neue"/>
                <a:ea typeface="Helvetica Neue"/>
                <a:cs typeface="Helvetica Neue"/>
              </a:rPr>
              <a:t>Civilian safety</a:t>
            </a:r>
          </a:p>
        </p:txBody>
      </p:sp>
      <p:sp>
        <p:nvSpPr>
          <p:cNvPr id="8" name="g2_civil_body">
            <a:extLst xmlns:a="http://schemas.openxmlformats.org/drawingml/2006/main">
              <a:ext uri="{FF2B5EF4-FFF2-40B4-BE49-F238E27FC236}">
                <a16:creationId xmlns:a16="http://schemas.microsoft.com/office/drawing/2014/main" id="{D46AE6ED-5C25-403B-9C81-F941388858DC}"/>
              </a:ext>
            </a:extLst>
          </p:cNvPr>
          <p:cNvSpPr>
            <a:spLocks xmlns:a="http://schemas.openxmlformats.org/drawingml/2006/main" noGrp="1"/>
          </p:cNvSpPr>
          <p:nvPr/>
        </p:nvSpPr>
        <p:spPr>
          <a:xfrm xmlns:a="http://schemas.openxmlformats.org/drawingml/2006/main">
            <a:off x="6524625" y="2686050"/>
            <a:ext cx="4667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Helvetica Neue"/>
                <a:ea typeface="Helvetica Neue"/>
                <a:cs typeface="Helvetica Neue"/>
              </a:defRPr>
            </a:defPPr>
          </a:lstStyle>
          <a:p xmlns:a="http://schemas.openxmlformats.org/drawingml/2006/main">
            <a:pPr>
              <a:defRPr sz="2025" b="0">
                <a:solidFill>
                  <a:srgbClr val="F1F5F9"/>
                </a:solidFill>
                <a:latin typeface="Helvetica Neue"/>
                <a:ea typeface="Helvetica Neue"/>
                <a:cs typeface="Helvetica Neue"/>
              </a:defRPr>
            </a:pPr>
            <a:r>
              <a:rPr sz="2025" b="0">
                <a:solidFill>
                  <a:srgbClr val="F1F5F9"/>
                </a:solidFill>
                <a:latin typeface="Helvetica Neue"/>
                <a:ea typeface="Helvetica Neue"/>
                <a:cs typeface="Helvetica Neue"/>
              </a:rPr>
              <a:t>Stadium dispersal, public events</a:t>
            </a:r>
          </a:p>
          <a:p xmlns:a="http://schemas.openxmlformats.org/drawingml/2006/main">
            <a:pPr>
              <a:defRPr sz="2025" b="0">
                <a:solidFill>
                  <a:srgbClr val="F1F5F9"/>
                </a:solidFill>
                <a:latin typeface="Helvetica Neue"/>
                <a:ea typeface="Helvetica Neue"/>
                <a:cs typeface="Helvetica Neue"/>
              </a:defRPr>
            </a:pPr>
            <a:r>
              <a:rPr sz="2025" b="0">
                <a:solidFill>
                  <a:srgbClr val="F1F5F9"/>
                </a:solidFill>
                <a:latin typeface="Helvetica Neue"/>
                <a:ea typeface="Helvetica Neue"/>
                <a:cs typeface="Helvetica Neue"/>
              </a:rPr>
              <a:t>and transport interchanges</a:t>
            </a:r>
          </a:p>
        </p:txBody>
      </p:sp>
      <p:sp>
        <p:nvSpPr>
          <p:cNvPr id="9" name="g3_defense_title">
            <a:extLst xmlns:a="http://schemas.openxmlformats.org/drawingml/2006/main">
              <a:ext uri="{FF2B5EF4-FFF2-40B4-BE49-F238E27FC236}">
                <a16:creationId xmlns:a16="http://schemas.microsoft.com/office/drawing/2014/main" id="{2FD76B28-4948-4A16-8D1D-A2D8C9029BA8}"/>
              </a:ext>
            </a:extLst>
          </p:cNvPr>
          <p:cNvSpPr>
            <a:spLocks xmlns:a="http://schemas.openxmlformats.org/drawingml/2006/main" noGrp="1"/>
          </p:cNvSpPr>
          <p:nvPr/>
        </p:nvSpPr>
        <p:spPr>
          <a:xfrm xmlns:a="http://schemas.openxmlformats.org/drawingml/2006/main">
            <a:off x="6524625" y="385762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93BAFF"/>
                </a:solidFill>
                <a:latin typeface="Helvetica Neue"/>
                <a:ea typeface="Helvetica Neue"/>
                <a:cs typeface="Helvetica Neue"/>
              </a:defRPr>
            </a:defPPr>
          </a:lstStyle>
          <a:p xmlns:a="http://schemas.openxmlformats.org/drawingml/2006/main">
            <a:pPr>
              <a:defRPr sz="2475" b="1">
                <a:solidFill>
                  <a:srgbClr val="93BAFF"/>
                </a:solidFill>
                <a:latin typeface="Helvetica Neue"/>
                <a:ea typeface="Helvetica Neue"/>
                <a:cs typeface="Helvetica Neue"/>
              </a:defRPr>
            </a:pPr>
            <a:r>
              <a:rPr sz="2475" b="1">
                <a:solidFill>
                  <a:srgbClr val="93BAFF"/>
                </a:solidFill>
                <a:latin typeface="Helvetica Neue"/>
                <a:ea typeface="Helvetica Neue"/>
                <a:cs typeface="Helvetica Neue"/>
              </a:rPr>
              <a:t>Defense &amp; security readiness</a:t>
            </a:r>
          </a:p>
        </p:txBody>
      </p:sp>
      <p:sp>
        <p:nvSpPr>
          <p:cNvPr id="10" name="g3_defense_body">
            <a:extLst xmlns:a="http://schemas.openxmlformats.org/drawingml/2006/main">
              <a:ext uri="{FF2B5EF4-FFF2-40B4-BE49-F238E27FC236}">
                <a16:creationId xmlns:a16="http://schemas.microsoft.com/office/drawing/2014/main" id="{0495A136-7BE5-45DD-B0C5-8D525C193653}"/>
              </a:ext>
            </a:extLst>
          </p:cNvPr>
          <p:cNvSpPr>
            <a:spLocks xmlns:a="http://schemas.openxmlformats.org/drawingml/2006/main" noGrp="1"/>
          </p:cNvSpPr>
          <p:nvPr/>
        </p:nvSpPr>
        <p:spPr>
          <a:xfrm xmlns:a="http://schemas.openxmlformats.org/drawingml/2006/main">
            <a:off x="6524625" y="48006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Helvetica Neue"/>
                <a:ea typeface="Helvetica Neue"/>
                <a:cs typeface="Helvetica Neue"/>
              </a:defRPr>
            </a:defPPr>
          </a:lstStyle>
          <a:p xmlns:a="http://schemas.openxmlformats.org/drawingml/2006/main">
            <a:pPr>
              <a:defRPr sz="2025" b="0">
                <a:solidFill>
                  <a:srgbClr val="F1F5F9"/>
                </a:solidFill>
                <a:latin typeface="Helvetica Neue"/>
                <a:ea typeface="Helvetica Neue"/>
                <a:cs typeface="Helvetica Neue"/>
              </a:defRPr>
            </a:pPr>
            <a:r>
              <a:rPr sz="2025" b="0">
                <a:solidFill>
                  <a:srgbClr val="F1F5F9"/>
                </a:solidFill>
                <a:latin typeface="Helvetica Neue"/>
                <a:ea typeface="Helvetica Neue"/>
                <a:cs typeface="Helvetica Neue"/>
              </a:rPr>
              <a:t>Facility evacuation, assembly points</a:t>
            </a:r>
          </a:p>
          <a:p xmlns:a="http://schemas.openxmlformats.org/drawingml/2006/main">
            <a:pPr>
              <a:defRPr sz="2025" b="0">
                <a:solidFill>
                  <a:srgbClr val="F1F5F9"/>
                </a:solidFill>
                <a:latin typeface="Helvetica Neue"/>
                <a:ea typeface="Helvetica Neue"/>
                <a:cs typeface="Helvetica Neue"/>
              </a:defRPr>
            </a:pPr>
            <a:r>
              <a:rPr sz="2025" b="0">
                <a:solidFill>
                  <a:srgbClr val="F1F5F9"/>
                </a:solidFill>
                <a:latin typeface="Helvetica Neue"/>
                <a:ea typeface="Helvetica Neue"/>
                <a:cs typeface="Helvetica Neue"/>
              </a:rPr>
              <a:t>and continuity during disruption</a:t>
            </a:r>
          </a:p>
        </p:txBody>
      </p:sp>
    </p:spTree>
    <p:extLst>
      <p:ext uri="{BB962C8B-B14F-4D97-AF65-F5344CB8AC3E}">
        <p14:creationId xmlns:p14="http://schemas.microsoft.com/office/powerpoint/2010/main" val="75909663"/>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00"/>
                            </p:stCondLst>
                            <p:childTnLst>
                              <p:set>
                                <p:cBhvr>
                                  <p:cTn id="5" dur="1" fill="hold"/>
                                  <p:tgtEl>
                                    <p:spTgt spid="4"/>
                                  </p:tgtEl>
                                  <p:attrNameLst>
                                    <p:attrName>style.visibility</p:attrName>
                                  </p:attrNameLst>
                                </p:cBhvr>
                                <p:to>
                                  <p:strVal val="visible"/>
                                </p:to>
                              </p:set>
                              <p:animEffect transition="in" filter="fade">
                                <p:cBhvr>
                                  <p:cTn id="6" dur="550" fill="hold"/>
                                  <p:tgtEl>
                                    <p:spTgt spid="4"/>
                                  </p:tgtEl>
                                </p:cBhvr>
                              </p:animEffect>
                            </p:childTnLst>
                          </p:cTn>
                        </p:par>
                        <p:par>
                          <p:cTn id="7" presetID="10" presetClass="entr" presetSubtype="0" fill="hold" nodeType="withEffect">
                            <p:stCondLst>
                              <p:cond delay="100"/>
                            </p:stCondLst>
                            <p:childTnLst>
                              <p:set>
                                <p:cBhvr>
                                  <p:cTn id="8" dur="1" fill="hold"/>
                                  <p:tgtEl>
                                    <p:spTgt spid="5"/>
                                  </p:tgtEl>
                                  <p:attrNameLst>
                                    <p:attrName>style.visibility</p:attrName>
                                  </p:attrNameLst>
                                </p:cBhvr>
                                <p:to>
                                  <p:strVal val="visible"/>
                                </p:to>
                              </p:set>
                              <p:animEffect transition="in" filter="fade">
                                <p:cBhvr>
                                  <p:cTn id="9" dur="550" fill="hold"/>
                                  <p:tgtEl>
                                    <p:spTgt spid="5"/>
                                  </p:tgtEl>
                                </p:cBhvr>
                              </p:animEffect>
                            </p:childTnLst>
                          </p:cTn>
                        </p:par>
                        <p:par>
                          <p:cTn id="10" presetID="10" presetClass="entr" presetSubtype="0" fill="hold" nodeType="withEffect">
                            <p:stCondLst>
                              <p:cond delay="100"/>
                            </p:stCondLst>
                            <p:childTnLst>
                              <p:set>
                                <p:cBhvr>
                                  <p:cTn id="11" dur="1" fill="hold"/>
                                  <p:tgtEl>
                                    <p:spTgt spid="6"/>
                                  </p:tgtEl>
                                  <p:attrNameLst>
                                    <p:attrName>style.visibility</p:attrName>
                                  </p:attrNameLst>
                                </p:cBhvr>
                                <p:to>
                                  <p:strVal val="visible"/>
                                </p:to>
                              </p:set>
                              <p:animEffect transition="in" filter="fade">
                                <p:cBhvr>
                                  <p:cTn id="12" dur="550" fill="hold"/>
                                  <p:tgtEl>
                                    <p:spTgt spid="6"/>
                                  </p:tgtEl>
                                </p:cBhvr>
                              </p:animEffect>
                            </p:childTnLst>
                          </p:cTn>
                        </p:par>
                        <p:par>
                          <p:cTn id="13" presetID="10" presetClass="entr" presetSubtype="0" fill="hold" nodeType="withEffect">
                            <p:stCondLst>
                              <p:cond delay="700"/>
                            </p:stCondLst>
                            <p:childTnLst>
                              <p:set>
                                <p:cBhvr>
                                  <p:cTn id="14" dur="1" fill="hold"/>
                                  <p:tgtEl>
                                    <p:spTgt spid="7"/>
                                  </p:tgtEl>
                                  <p:attrNameLst>
                                    <p:attrName>style.visibility</p:attrName>
                                  </p:attrNameLst>
                                </p:cBhvr>
                                <p:to>
                                  <p:strVal val="visible"/>
                                </p:to>
                              </p:set>
                              <p:animEffect transition="in" filter="fade">
                                <p:cBhvr>
                                  <p:cTn id="15" dur="550" fill="hold"/>
                                  <p:tgtEl>
                                    <p:spTgt spid="7"/>
                                  </p:tgtEl>
                                </p:cBhvr>
                              </p:animEffect>
                            </p:childTnLst>
                          </p:cTn>
                        </p:par>
                        <p:par>
                          <p:cTn id="16" presetID="10" presetClass="entr" presetSubtype="0" fill="hold" nodeType="withEffect">
                            <p:stCondLst>
                              <p:cond delay="700"/>
                            </p:stCondLst>
                            <p:childTnLst>
                              <p:set>
                                <p:cBhvr>
                                  <p:cTn id="17" dur="1" fill="hold"/>
                                  <p:tgtEl>
                                    <p:spTgt spid="8"/>
                                  </p:tgtEl>
                                  <p:attrNameLst>
                                    <p:attrName>style.visibility</p:attrName>
                                  </p:attrNameLst>
                                </p:cBhvr>
                                <p:to>
                                  <p:strVal val="visible"/>
                                </p:to>
                              </p:set>
                              <p:animEffect transition="in" filter="fade">
                                <p:cBhvr>
                                  <p:cTn id="18" dur="550" fill="hold"/>
                                  <p:tgtEl>
                                    <p:spTgt spid="8"/>
                                  </p:tgtEl>
                                </p:cBhvr>
                              </p:animEffect>
                            </p:childTnLst>
                          </p:cTn>
                        </p:par>
                        <p:par>
                          <p:cTn id="19" presetID="10" presetClass="entr" presetSubtype="0" fill="hold" nodeType="withEffect">
                            <p:stCondLst>
                              <p:cond delay="1300"/>
                            </p:stCondLst>
                            <p:childTnLst>
                              <p:set>
                                <p:cBhvr>
                                  <p:cTn id="20" dur="1" fill="hold"/>
                                  <p:tgtEl>
                                    <p:spTgt spid="9"/>
                                  </p:tgtEl>
                                  <p:attrNameLst>
                                    <p:attrName>style.visibility</p:attrName>
                                  </p:attrNameLst>
                                </p:cBhvr>
                                <p:to>
                                  <p:strVal val="visible"/>
                                </p:to>
                              </p:set>
                              <p:animEffect transition="in" filter="fade">
                                <p:cBhvr>
                                  <p:cTn id="21" dur="550" fill="hold"/>
                                  <p:tgtEl>
                                    <p:spTgt spid="9"/>
                                  </p:tgtEl>
                                </p:cBhvr>
                              </p:animEffect>
                            </p:childTnLst>
                          </p:cTn>
                        </p:par>
                        <p:par>
                          <p:cTn id="22" presetID="10" presetClass="entr" presetSubtype="0" fill="hold" nodeType="withEffect">
                            <p:stCondLst>
                              <p:cond delay="1300"/>
                            </p:stCondLst>
                            <p:childTnLst>
                              <p:set>
                                <p:cBhvr>
                                  <p:cTn id="23" dur="1" fill="hold"/>
                                  <p:tgtEl>
                                    <p:spTgt spid="10"/>
                                  </p:tgtEl>
                                  <p:attrNameLst>
                                    <p:attrName>style.visibility</p:attrName>
                                  </p:attrNameLst>
                                </p:cBhvr>
                                <p:to>
                                  <p:strVal val="visible"/>
                                </p:to>
                              </p:set>
                              <p:animEffect transition="in" filter="fade">
                                <p:cBhvr>
                                  <p:cTn id="24" dur="550" fill="hold"/>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56" name="page">
            <a:extLst xmlns:a="http://schemas.openxmlformats.org/drawingml/2006/main">
              <a:ext uri="{FF2B5EF4-FFF2-40B4-BE49-F238E27FC236}">
                <a16:creationId xmlns:a16="http://schemas.microsoft.com/office/drawing/2014/main" id="{FBC2B313-F491-498E-B893-196F4EA7D580}"/>
              </a:ext>
            </a:extLst>
          </p:cNvPr>
          <p:cNvSpPr>
            <a:spLocks xmlns:a="http://schemas.openxmlformats.org/drawingml/2006/main" noGrp="1"/>
          </p:cNvSpPr>
          <p:nvPr/>
        </p:nvSpPr>
        <p:spPr>
          <a:xfrm xmlns:a="http://schemas.openxmlformats.org/drawingml/2006/main">
            <a:off x="11239500" y="62579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A8BACB"/>
                </a:solidFill>
                <a:latin typeface="Helvetica Neue"/>
                <a:ea typeface="Helvetica Neue"/>
                <a:cs typeface="Helvetica Neue"/>
              </a:defRPr>
            </a:defPPr>
          </a:lstStyle>
          <a:p xmlns:a="http://schemas.openxmlformats.org/drawingml/2006/main">
            <a:pPr algn="r">
              <a:defRPr sz="1200" b="0">
                <a:solidFill>
                  <a:srgbClr val="A8BACB"/>
                </a:solidFill>
                <a:latin typeface="Helvetica Neue"/>
                <a:ea typeface="Helvetica Neue"/>
                <a:cs typeface="Helvetica Neue"/>
              </a:defRPr>
            </a:pPr>
            <a:r>
              <a:rPr sz="1200" b="0">
                <a:solidFill>
                  <a:srgbClr val="A8BACB"/>
                </a:solidFill>
                <a:latin typeface="Helvetica Neue"/>
                <a:ea typeface="Helvetica Neue"/>
                <a:cs typeface="Helvetica Neue"/>
              </a:rPr>
              <a:t>03</a:t>
            </a:r>
          </a:p>
        </p:txBody>
      </p:sp>
      <p:sp>
        <p:nvSpPr>
          <p:cNvPr id="2" name="section">
            <a:extLst xmlns:a="http://schemas.openxmlformats.org/drawingml/2006/main">
              <a:ext uri="{FF2B5EF4-FFF2-40B4-BE49-F238E27FC236}">
                <a16:creationId xmlns:a16="http://schemas.microsoft.com/office/drawing/2014/main" id="{29BF1B4D-D599-4F01-AF7C-8A6B1C18C8DB}"/>
              </a:ext>
            </a:extLst>
          </p:cNvPr>
          <p:cNvSpPr>
            <a:spLocks xmlns:a="http://schemas.openxmlformats.org/drawingml/2006/main" noGrp="1"/>
          </p:cNvSpPr>
          <p:nvPr/>
        </p:nvSpPr>
        <p:spPr>
          <a:xfrm xmlns:a="http://schemas.openxmlformats.org/drawingml/2006/main">
            <a:off x="609600" y="4000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5E2C1"/>
                </a:solidFill>
                <a:latin typeface="Helvetica Neue"/>
                <a:ea typeface="Helvetica Neue"/>
                <a:cs typeface="Helvetica Neue"/>
              </a:defRPr>
            </a:defPPr>
          </a:lstStyle>
          <a:p xmlns:a="http://schemas.openxmlformats.org/drawingml/2006/main">
            <a:pPr>
              <a:defRPr sz="1125" b="1">
                <a:solidFill>
                  <a:srgbClr val="65E2C1"/>
                </a:solidFill>
                <a:latin typeface="Helvetica Neue"/>
                <a:ea typeface="Helvetica Neue"/>
                <a:cs typeface="Helvetica Neue"/>
              </a:defRPr>
            </a:pPr>
            <a:r>
              <a:rPr sz="1125" b="1">
                <a:solidFill>
                  <a:srgbClr val="65E2C1"/>
                </a:solidFill>
                <a:latin typeface="Helvetica Neue"/>
                <a:ea typeface="Helvetica Neue"/>
                <a:cs typeface="Helvetica Neue"/>
              </a:rPr>
              <a:t>SCENARIOS AND FAILURE POINTS</a:t>
            </a:r>
          </a:p>
        </p:txBody>
      </p:sp>
      <p:sp>
        <p:nvSpPr>
          <p:cNvPr id="3" name="title">
            <a:extLst xmlns:a="http://schemas.openxmlformats.org/drawingml/2006/main">
              <a:ext uri="{FF2B5EF4-FFF2-40B4-BE49-F238E27FC236}">
                <a16:creationId xmlns:a16="http://schemas.microsoft.com/office/drawing/2014/main" id="{45881CA0-61AF-4B29-BF0D-B43C4B958384}"/>
              </a:ext>
            </a:extLst>
          </p:cNvPr>
          <p:cNvSpPr>
            <a:spLocks xmlns:a="http://schemas.openxmlformats.org/drawingml/2006/main" noGrp="1"/>
          </p:cNvSpPr>
          <p:nvPr/>
        </p:nvSpPr>
        <p:spPr>
          <a:xfrm xmlns:a="http://schemas.openxmlformats.org/drawingml/2006/main">
            <a:off x="609600" y="7905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1F5F9"/>
                </a:solidFill>
                <a:latin typeface="Helvetica Neue"/>
                <a:ea typeface="Helvetica Neue"/>
                <a:cs typeface="Helvetica Neue"/>
              </a:defRPr>
            </a:defPPr>
          </a:lstStyle>
          <a:p xmlns:a="http://schemas.openxmlformats.org/drawingml/2006/main">
            <a:pPr>
              <a:defRPr sz="3600" b="1">
                <a:solidFill>
                  <a:srgbClr val="F1F5F9"/>
                </a:solidFill>
                <a:latin typeface="Helvetica Neue"/>
                <a:ea typeface="Helvetica Neue"/>
                <a:cs typeface="Helvetica Neue"/>
              </a:defRPr>
            </a:pPr>
            <a:r>
              <a:rPr sz="3600" b="1">
                <a:solidFill>
                  <a:srgbClr val="F1F5F9"/>
                </a:solidFill>
                <a:latin typeface="Helvetica Neue"/>
                <a:ea typeface="Helvetica Neue"/>
                <a:cs typeface="Helvetica Neue"/>
              </a:rPr>
              <a:t>One stadium. Two operating conditions</a:t>
            </a:r>
          </a:p>
        </p:txBody>
      </p:sp>
      <p:sp>
        <p:nvSpPr>
          <p:cNvPr id="4" name="g1_label">
            <a:extLst xmlns:a="http://schemas.openxmlformats.org/drawingml/2006/main">
              <a:ext uri="{FF2B5EF4-FFF2-40B4-BE49-F238E27FC236}">
                <a16:creationId xmlns:a16="http://schemas.microsoft.com/office/drawing/2014/main" id="{8C3BBAE8-1271-496F-9707-147EA5C8ED62}"/>
              </a:ext>
            </a:extLst>
          </p:cNvPr>
          <p:cNvSpPr>
            <a:spLocks xmlns:a="http://schemas.openxmlformats.org/drawingml/2006/main" noGrp="1"/>
          </p:cNvSpPr>
          <p:nvPr/>
        </p:nvSpPr>
        <p:spPr>
          <a:xfrm xmlns:a="http://schemas.openxmlformats.org/drawingml/2006/main">
            <a:off x="723900" y="178117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65E2C1"/>
                </a:solidFill>
                <a:latin typeface="Helvetica Neue"/>
                <a:ea typeface="Helvetica Neue"/>
                <a:cs typeface="Helvetica Neue"/>
              </a:defRPr>
            </a:defPPr>
          </a:lstStyle>
          <a:p xmlns:a="http://schemas.openxmlformats.org/drawingml/2006/main">
            <a:pPr>
              <a:defRPr sz="2100" b="1">
                <a:solidFill>
                  <a:srgbClr val="65E2C1"/>
                </a:solidFill>
                <a:latin typeface="Helvetica Neue"/>
                <a:ea typeface="Helvetica Neue"/>
                <a:cs typeface="Helvetica Neue"/>
              </a:defRPr>
            </a:pPr>
            <a:r>
              <a:rPr sz="2100" b="1">
                <a:solidFill>
                  <a:srgbClr val="65E2C1"/>
                </a:solidFill>
                <a:latin typeface="Helvetica Neue"/>
                <a:ea typeface="Helvetica Neue"/>
                <a:cs typeface="Helvetica Neue"/>
              </a:rPr>
              <a:t>01  Post-event departure</a:t>
            </a:r>
          </a:p>
        </p:txBody>
      </p:sp>
      <p:sp>
        <p:nvSpPr>
          <p:cNvPr id="5" name="g1_stadium_outer">
            <a:extLst xmlns:a="http://schemas.openxmlformats.org/drawingml/2006/main">
              <a:ext uri="{FF2B5EF4-FFF2-40B4-BE49-F238E27FC236}">
                <a16:creationId xmlns:a16="http://schemas.microsoft.com/office/drawing/2014/main" id="{29BFFD5F-1040-41E5-A0FD-9DF82D7F0F25}"/>
              </a:ext>
            </a:extLst>
          </p:cNvPr>
          <p:cNvSpPr>
            <a:spLocks xmlns:a="http://schemas.openxmlformats.org/drawingml/2006/main" noGrp="1"/>
          </p:cNvSpPr>
          <p:nvPr/>
        </p:nvSpPr>
        <p:spPr>
          <a:xfrm xmlns:a="http://schemas.openxmlformats.org/drawingml/2006/main">
            <a:off x="1400175" y="2495550"/>
            <a:ext cx="3524250" cy="2209800"/>
          </a:xfrm>
          <a:prstGeom xmlns:a="http://schemas.openxmlformats.org/drawingml/2006/main" prst="ellipse">
            <a:avLst/>
          </a:prstGeom>
          <a:solidFill xmlns:a="http://schemas.openxmlformats.org/drawingml/2006/main">
            <a:srgbClr val="0C2030"/>
          </a:solidFill>
          <a:ln xmlns:a="http://schemas.openxmlformats.org/drawingml/2006/main" w="28575">
            <a:solidFill>
              <a:srgbClr val="2C4255"/>
            </a:solidFill>
            <a:prstDash val="solid"/>
          </a:ln>
        </p:spPr>
      </p:sp>
      <p:sp>
        <p:nvSpPr>
          <p:cNvPr id="6" name="g1_stadium_inner">
            <a:extLst xmlns:a="http://schemas.openxmlformats.org/drawingml/2006/main">
              <a:ext uri="{FF2B5EF4-FFF2-40B4-BE49-F238E27FC236}">
                <a16:creationId xmlns:a16="http://schemas.microsoft.com/office/drawing/2014/main" id="{D34DDEB3-E97D-4914-A6A4-DEDD0A944AD8}"/>
              </a:ext>
            </a:extLst>
          </p:cNvPr>
          <p:cNvSpPr>
            <a:spLocks xmlns:a="http://schemas.openxmlformats.org/drawingml/2006/main" noGrp="1"/>
          </p:cNvSpPr>
          <p:nvPr/>
        </p:nvSpPr>
        <p:spPr>
          <a:xfrm xmlns:a="http://schemas.openxmlformats.org/drawingml/2006/main">
            <a:off x="1857375" y="2886075"/>
            <a:ext cx="2609850" cy="1428750"/>
          </a:xfrm>
          <a:prstGeom xmlns:a="http://schemas.openxmlformats.org/drawingml/2006/main" prst="ellipse">
            <a:avLst/>
          </a:prstGeom>
          <a:solidFill xmlns:a="http://schemas.openxmlformats.org/drawingml/2006/main">
            <a:srgbClr val="07111F"/>
          </a:solidFill>
          <a:ln xmlns:a="http://schemas.openxmlformats.org/drawingml/2006/main" w="19050">
            <a:solidFill>
              <a:srgbClr val="3C5868"/>
            </a:solidFill>
            <a:prstDash val="solid"/>
          </a:ln>
        </p:spPr>
      </p:sp>
      <p:sp>
        <p:nvSpPr>
          <p:cNvPr id="7" name="g1_stadium_population">
            <a:extLst xmlns:a="http://schemas.openxmlformats.org/drawingml/2006/main">
              <a:ext uri="{FF2B5EF4-FFF2-40B4-BE49-F238E27FC236}">
                <a16:creationId xmlns:a16="http://schemas.microsoft.com/office/drawing/2014/main" id="{18A2E29E-AF81-4D9A-AD2D-7A952731E8F2}"/>
              </a:ext>
            </a:extLst>
          </p:cNvPr>
          <p:cNvSpPr>
            <a:spLocks xmlns:a="http://schemas.openxmlformats.org/drawingml/2006/main" noGrp="1"/>
          </p:cNvSpPr>
          <p:nvPr/>
        </p:nvSpPr>
        <p:spPr>
          <a:xfrm xmlns:a="http://schemas.openxmlformats.org/drawingml/2006/main">
            <a:off x="2162175" y="31623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F1F5F9"/>
                </a:solidFill>
                <a:latin typeface="Helvetica Neue"/>
                <a:ea typeface="Helvetica Neue"/>
                <a:cs typeface="Helvetica Neue"/>
              </a:defRPr>
            </a:defPPr>
          </a:lstStyle>
          <a:p xmlns:a="http://schemas.openxmlformats.org/drawingml/2006/main">
            <a:pPr algn="ctr">
              <a:defRPr sz="3600" b="1">
                <a:solidFill>
                  <a:srgbClr val="F1F5F9"/>
                </a:solidFill>
                <a:latin typeface="Helvetica Neue"/>
                <a:ea typeface="Helvetica Neue"/>
                <a:cs typeface="Helvetica Neue"/>
              </a:defRPr>
            </a:pPr>
            <a:r>
              <a:rPr sz="3600" b="1">
                <a:solidFill>
                  <a:srgbClr val="F1F5F9"/>
                </a:solidFill>
                <a:latin typeface="Helvetica Neue"/>
                <a:ea typeface="Helvetica Neue"/>
                <a:cs typeface="Helvetica Neue"/>
              </a:rPr>
              <a:t>4,000</a:t>
            </a:r>
          </a:p>
        </p:txBody>
      </p:sp>
      <p:sp>
        <p:nvSpPr>
          <p:cNvPr id="8" name="g1_stadium_population_label">
            <a:extLst xmlns:a="http://schemas.openxmlformats.org/drawingml/2006/main">
              <a:ext uri="{FF2B5EF4-FFF2-40B4-BE49-F238E27FC236}">
                <a16:creationId xmlns:a16="http://schemas.microsoft.com/office/drawing/2014/main" id="{B1910055-441F-46D0-B44F-EB7AFCDED03B}"/>
              </a:ext>
            </a:extLst>
          </p:cNvPr>
          <p:cNvSpPr>
            <a:spLocks xmlns:a="http://schemas.openxmlformats.org/drawingml/2006/main" noGrp="1"/>
          </p:cNvSpPr>
          <p:nvPr/>
        </p:nvSpPr>
        <p:spPr>
          <a:xfrm xmlns:a="http://schemas.openxmlformats.org/drawingml/2006/main">
            <a:off x="2447925" y="3724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1">
                <a:solidFill>
                  <a:srgbClr val="A8BACB"/>
                </a:solidFill>
                <a:latin typeface="Helvetica Neue"/>
                <a:ea typeface="Helvetica Neue"/>
                <a:cs typeface="Helvetica Neue"/>
              </a:defRPr>
            </a:defPPr>
          </a:lstStyle>
          <a:p xmlns:a="http://schemas.openxmlformats.org/drawingml/2006/main">
            <a:pPr algn="ctr">
              <a:defRPr sz="1200" b="1">
                <a:solidFill>
                  <a:srgbClr val="A8BACB"/>
                </a:solidFill>
                <a:latin typeface="Helvetica Neue"/>
                <a:ea typeface="Helvetica Neue"/>
                <a:cs typeface="Helvetica Neue"/>
              </a:defRPr>
            </a:pPr>
            <a:r>
              <a:rPr sz="1200" b="1">
                <a:solidFill>
                  <a:srgbClr val="A8BACB"/>
                </a:solidFill>
                <a:latin typeface="Helvetica Neue"/>
                <a:ea typeface="Helvetica Neue"/>
                <a:cs typeface="Helvetica Neue"/>
              </a:rPr>
              <a:t>PEOPLE</a:t>
            </a:r>
          </a:p>
        </p:txBody>
      </p:sp>
      <p:sp>
        <p:nvSpPr>
          <p:cNvPr id="9" name="g1_stadium_gate_0">
            <a:extLst xmlns:a="http://schemas.openxmlformats.org/drawingml/2006/main">
              <a:ext uri="{FF2B5EF4-FFF2-40B4-BE49-F238E27FC236}">
                <a16:creationId xmlns:a16="http://schemas.microsoft.com/office/drawing/2014/main" id="{E8412A74-E890-488A-994B-6D05BB4C99B5}"/>
              </a:ext>
            </a:extLst>
          </p:cNvPr>
          <p:cNvSpPr>
            <a:spLocks xmlns:a="http://schemas.openxmlformats.org/drawingml/2006/main" noGrp="1"/>
          </p:cNvSpPr>
          <p:nvPr/>
        </p:nvSpPr>
        <p:spPr>
          <a:xfrm xmlns:a="http://schemas.openxmlformats.org/drawingml/2006/main">
            <a:off x="4628529" y="3210042"/>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10" name="g1_stadium_label_0">
            <a:extLst xmlns:a="http://schemas.openxmlformats.org/drawingml/2006/main">
              <a:ext uri="{FF2B5EF4-FFF2-40B4-BE49-F238E27FC236}">
                <a16:creationId xmlns:a16="http://schemas.microsoft.com/office/drawing/2014/main" id="{C2E0464C-F784-4596-9748-DD42E166D2BB}"/>
              </a:ext>
            </a:extLst>
          </p:cNvPr>
          <p:cNvSpPr>
            <a:spLocks xmlns:a="http://schemas.openxmlformats.org/drawingml/2006/main" noGrp="1"/>
          </p:cNvSpPr>
          <p:nvPr/>
        </p:nvSpPr>
        <p:spPr>
          <a:xfrm xmlns:a="http://schemas.openxmlformats.org/drawingml/2006/main">
            <a:off x="5025122" y="3099778"/>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A</a:t>
            </a:r>
          </a:p>
        </p:txBody>
      </p:sp>
      <p:sp>
        <p:nvSpPr>
          <p:cNvPr id="11" name="g1_stadium_gate_1">
            <a:extLst xmlns:a="http://schemas.openxmlformats.org/drawingml/2006/main">
              <a:ext uri="{FF2B5EF4-FFF2-40B4-BE49-F238E27FC236}">
                <a16:creationId xmlns:a16="http://schemas.microsoft.com/office/drawing/2014/main" id="{A0CB7DD1-84BF-40DF-A8DE-8583F54454D6}"/>
              </a:ext>
            </a:extLst>
          </p:cNvPr>
          <p:cNvSpPr>
            <a:spLocks xmlns:a="http://schemas.openxmlformats.org/drawingml/2006/main" noGrp="1"/>
          </p:cNvSpPr>
          <p:nvPr/>
        </p:nvSpPr>
        <p:spPr>
          <a:xfrm xmlns:a="http://schemas.openxmlformats.org/drawingml/2006/main">
            <a:off x="4459153" y="4019550"/>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12" name="g1_stadium_label_1">
            <a:extLst xmlns:a="http://schemas.openxmlformats.org/drawingml/2006/main">
              <a:ext uri="{FF2B5EF4-FFF2-40B4-BE49-F238E27FC236}">
                <a16:creationId xmlns:a16="http://schemas.microsoft.com/office/drawing/2014/main" id="{950070CB-E939-48E1-9E67-14DCECD14962}"/>
              </a:ext>
            </a:extLst>
          </p:cNvPr>
          <p:cNvSpPr>
            <a:spLocks xmlns:a="http://schemas.openxmlformats.org/drawingml/2006/main" noGrp="1"/>
          </p:cNvSpPr>
          <p:nvPr/>
        </p:nvSpPr>
        <p:spPr>
          <a:xfrm xmlns:a="http://schemas.openxmlformats.org/drawingml/2006/main">
            <a:off x="4817683" y="4176713"/>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B</a:t>
            </a:r>
          </a:p>
        </p:txBody>
      </p:sp>
      <p:sp>
        <p:nvSpPr>
          <p:cNvPr id="13" name="g1_stadium_gate_2">
            <a:extLst xmlns:a="http://schemas.openxmlformats.org/drawingml/2006/main">
              <a:ext uri="{FF2B5EF4-FFF2-40B4-BE49-F238E27FC236}">
                <a16:creationId xmlns:a16="http://schemas.microsoft.com/office/drawing/2014/main" id="{7721837F-EB99-47E4-B9FF-54728F5E2F15}"/>
              </a:ext>
            </a:extLst>
          </p:cNvPr>
          <p:cNvSpPr>
            <a:spLocks xmlns:a="http://schemas.openxmlformats.org/drawingml/2006/main" noGrp="1"/>
          </p:cNvSpPr>
          <p:nvPr/>
        </p:nvSpPr>
        <p:spPr>
          <a:xfrm xmlns:a="http://schemas.openxmlformats.org/drawingml/2006/main">
            <a:off x="3429665" y="4516600"/>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14" name="g1_stadium_label_2">
            <a:extLst xmlns:a="http://schemas.openxmlformats.org/drawingml/2006/main">
              <a:ext uri="{FF2B5EF4-FFF2-40B4-BE49-F238E27FC236}">
                <a16:creationId xmlns:a16="http://schemas.microsoft.com/office/drawing/2014/main" id="{F808E84A-84F3-46E8-8EB1-7250426121A2}"/>
              </a:ext>
            </a:extLst>
          </p:cNvPr>
          <p:cNvSpPr>
            <a:spLocks xmlns:a="http://schemas.openxmlformats.org/drawingml/2006/main" noGrp="1"/>
          </p:cNvSpPr>
          <p:nvPr/>
        </p:nvSpPr>
        <p:spPr>
          <a:xfrm xmlns:a="http://schemas.openxmlformats.org/drawingml/2006/main">
            <a:off x="3556850" y="4837966"/>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C</a:t>
            </a:r>
          </a:p>
        </p:txBody>
      </p:sp>
      <p:sp>
        <p:nvSpPr>
          <p:cNvPr id="15" name="g1_stadium_gate_3">
            <a:extLst xmlns:a="http://schemas.openxmlformats.org/drawingml/2006/main">
              <a:ext uri="{FF2B5EF4-FFF2-40B4-BE49-F238E27FC236}">
                <a16:creationId xmlns:a16="http://schemas.microsoft.com/office/drawing/2014/main" id="{039A0BF7-29C5-40A8-B96A-3DB687A48C99}"/>
              </a:ext>
            </a:extLst>
          </p:cNvPr>
          <p:cNvSpPr>
            <a:spLocks xmlns:a="http://schemas.openxmlformats.org/drawingml/2006/main" noGrp="1"/>
          </p:cNvSpPr>
          <p:nvPr/>
        </p:nvSpPr>
        <p:spPr>
          <a:xfrm xmlns:a="http://schemas.openxmlformats.org/drawingml/2006/main">
            <a:off x="2143125" y="4410026"/>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16" name="g1_stadium_label_3">
            <a:extLst xmlns:a="http://schemas.openxmlformats.org/drawingml/2006/main">
              <a:ext uri="{FF2B5EF4-FFF2-40B4-BE49-F238E27FC236}">
                <a16:creationId xmlns:a16="http://schemas.microsoft.com/office/drawing/2014/main" id="{6EA43353-8224-4D45-8886-96485F6A0529}"/>
              </a:ext>
            </a:extLst>
          </p:cNvPr>
          <p:cNvSpPr>
            <a:spLocks xmlns:a="http://schemas.openxmlformats.org/drawingml/2006/main" noGrp="1"/>
          </p:cNvSpPr>
          <p:nvPr/>
        </p:nvSpPr>
        <p:spPr>
          <a:xfrm xmlns:a="http://schemas.openxmlformats.org/drawingml/2006/main">
            <a:off x="1981200" y="469618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D</a:t>
            </a:r>
          </a:p>
        </p:txBody>
      </p:sp>
      <p:sp>
        <p:nvSpPr>
          <p:cNvPr id="17" name="g1_stadium_gate_4">
            <a:extLst xmlns:a="http://schemas.openxmlformats.org/drawingml/2006/main">
              <a:ext uri="{FF2B5EF4-FFF2-40B4-BE49-F238E27FC236}">
                <a16:creationId xmlns:a16="http://schemas.microsoft.com/office/drawing/2014/main" id="{5E0FAB7B-0E8A-410E-A022-3F4859C3DD91}"/>
              </a:ext>
            </a:extLst>
          </p:cNvPr>
          <p:cNvSpPr>
            <a:spLocks xmlns:a="http://schemas.openxmlformats.org/drawingml/2006/main" noGrp="1"/>
          </p:cNvSpPr>
          <p:nvPr/>
        </p:nvSpPr>
        <p:spPr>
          <a:xfrm xmlns:a="http://schemas.openxmlformats.org/drawingml/2006/main">
            <a:off x="1353171" y="3762258"/>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18" name="g1_stadium_label_4">
            <a:extLst xmlns:a="http://schemas.openxmlformats.org/drawingml/2006/main">
              <a:ext uri="{FF2B5EF4-FFF2-40B4-BE49-F238E27FC236}">
                <a16:creationId xmlns:a16="http://schemas.microsoft.com/office/drawing/2014/main" id="{EE18C0AC-8456-4845-9E4B-672C6FA5CB49}"/>
              </a:ext>
            </a:extLst>
          </p:cNvPr>
          <p:cNvSpPr>
            <a:spLocks xmlns:a="http://schemas.openxmlformats.org/drawingml/2006/main" noGrp="1"/>
          </p:cNvSpPr>
          <p:nvPr/>
        </p:nvSpPr>
        <p:spPr>
          <a:xfrm xmlns:a="http://schemas.openxmlformats.org/drawingml/2006/main">
            <a:off x="1013728" y="3834422"/>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E</a:t>
            </a:r>
          </a:p>
        </p:txBody>
      </p:sp>
      <p:sp>
        <p:nvSpPr>
          <p:cNvPr id="19" name="g1_stadium_gate_5">
            <a:extLst xmlns:a="http://schemas.openxmlformats.org/drawingml/2006/main">
              <a:ext uri="{FF2B5EF4-FFF2-40B4-BE49-F238E27FC236}">
                <a16:creationId xmlns:a16="http://schemas.microsoft.com/office/drawing/2014/main" id="{565E33B3-B3CC-4B56-BDEB-E0CAE13A225D}"/>
              </a:ext>
            </a:extLst>
          </p:cNvPr>
          <p:cNvSpPr>
            <a:spLocks xmlns:a="http://schemas.openxmlformats.org/drawingml/2006/main" noGrp="1"/>
          </p:cNvSpPr>
          <p:nvPr/>
        </p:nvSpPr>
        <p:spPr>
          <a:xfrm xmlns:a="http://schemas.openxmlformats.org/drawingml/2006/main">
            <a:off x="1522547" y="2952750"/>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20" name="g1_stadium_label_5">
            <a:extLst xmlns:a="http://schemas.openxmlformats.org/drawingml/2006/main">
              <a:ext uri="{FF2B5EF4-FFF2-40B4-BE49-F238E27FC236}">
                <a16:creationId xmlns:a16="http://schemas.microsoft.com/office/drawing/2014/main" id="{4FFC01A4-24D3-496E-B40D-F71E39C11337}"/>
              </a:ext>
            </a:extLst>
          </p:cNvPr>
          <p:cNvSpPr>
            <a:spLocks xmlns:a="http://schemas.openxmlformats.org/drawingml/2006/main" noGrp="1"/>
          </p:cNvSpPr>
          <p:nvPr/>
        </p:nvSpPr>
        <p:spPr>
          <a:xfrm xmlns:a="http://schemas.openxmlformats.org/drawingml/2006/main">
            <a:off x="1221167" y="2757488"/>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F</a:t>
            </a:r>
          </a:p>
        </p:txBody>
      </p:sp>
      <p:sp>
        <p:nvSpPr>
          <p:cNvPr id="21" name="g1_stadium_gate_6">
            <a:extLst xmlns:a="http://schemas.openxmlformats.org/drawingml/2006/main">
              <a:ext uri="{FF2B5EF4-FFF2-40B4-BE49-F238E27FC236}">
                <a16:creationId xmlns:a16="http://schemas.microsoft.com/office/drawing/2014/main" id="{6FED62C9-800B-4462-82B9-95235817C629}"/>
              </a:ext>
            </a:extLst>
          </p:cNvPr>
          <p:cNvSpPr>
            <a:spLocks xmlns:a="http://schemas.openxmlformats.org/drawingml/2006/main" noGrp="1"/>
          </p:cNvSpPr>
          <p:nvPr/>
        </p:nvSpPr>
        <p:spPr>
          <a:xfrm xmlns:a="http://schemas.openxmlformats.org/drawingml/2006/main">
            <a:off x="2552035" y="2455700"/>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22" name="g1_stadium_label_6">
            <a:extLst xmlns:a="http://schemas.openxmlformats.org/drawingml/2006/main">
              <a:ext uri="{FF2B5EF4-FFF2-40B4-BE49-F238E27FC236}">
                <a16:creationId xmlns:a16="http://schemas.microsoft.com/office/drawing/2014/main" id="{44937BDF-8106-472F-83EE-F2C52D2FFA46}"/>
              </a:ext>
            </a:extLst>
          </p:cNvPr>
          <p:cNvSpPr>
            <a:spLocks xmlns:a="http://schemas.openxmlformats.org/drawingml/2006/main" noGrp="1"/>
          </p:cNvSpPr>
          <p:nvPr/>
        </p:nvSpPr>
        <p:spPr>
          <a:xfrm xmlns:a="http://schemas.openxmlformats.org/drawingml/2006/main">
            <a:off x="2482000" y="2096234"/>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G</a:t>
            </a:r>
          </a:p>
        </p:txBody>
      </p:sp>
      <p:sp>
        <p:nvSpPr>
          <p:cNvPr id="23" name="g1_stadium_gate_7">
            <a:extLst xmlns:a="http://schemas.openxmlformats.org/drawingml/2006/main">
              <a:ext uri="{FF2B5EF4-FFF2-40B4-BE49-F238E27FC236}">
                <a16:creationId xmlns:a16="http://schemas.microsoft.com/office/drawing/2014/main" id="{2E42F643-865B-4289-9C32-C0110ECA17CD}"/>
              </a:ext>
            </a:extLst>
          </p:cNvPr>
          <p:cNvSpPr>
            <a:spLocks xmlns:a="http://schemas.openxmlformats.org/drawingml/2006/main" noGrp="1"/>
          </p:cNvSpPr>
          <p:nvPr/>
        </p:nvSpPr>
        <p:spPr>
          <a:xfrm xmlns:a="http://schemas.openxmlformats.org/drawingml/2006/main">
            <a:off x="3838575" y="2562274"/>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24" name="g1_stadium_label_7">
            <a:extLst xmlns:a="http://schemas.openxmlformats.org/drawingml/2006/main">
              <a:ext uri="{FF2B5EF4-FFF2-40B4-BE49-F238E27FC236}">
                <a16:creationId xmlns:a16="http://schemas.microsoft.com/office/drawing/2014/main" id="{C1603146-D791-473E-B71C-29487E037A6B}"/>
              </a:ext>
            </a:extLst>
          </p:cNvPr>
          <p:cNvSpPr>
            <a:spLocks xmlns:a="http://schemas.openxmlformats.org/drawingml/2006/main" noGrp="1"/>
          </p:cNvSpPr>
          <p:nvPr/>
        </p:nvSpPr>
        <p:spPr>
          <a:xfrm xmlns:a="http://schemas.openxmlformats.org/drawingml/2006/main">
            <a:off x="4057650" y="223801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H</a:t>
            </a:r>
          </a:p>
        </p:txBody>
      </p:sp>
      <p:sp>
        <p:nvSpPr>
          <p:cNvPr id="25" name="g1_cause">
            <a:extLst xmlns:a="http://schemas.openxmlformats.org/drawingml/2006/main">
              <a:ext uri="{FF2B5EF4-FFF2-40B4-BE49-F238E27FC236}">
                <a16:creationId xmlns:a16="http://schemas.microsoft.com/office/drawing/2014/main" id="{9594AC99-F79F-4386-AE9B-9F95311071FC}"/>
              </a:ext>
            </a:extLst>
          </p:cNvPr>
          <p:cNvSpPr>
            <a:spLocks xmlns:a="http://schemas.openxmlformats.org/drawingml/2006/main" noGrp="1"/>
          </p:cNvSpPr>
          <p:nvPr/>
        </p:nvSpPr>
        <p:spPr>
          <a:xfrm xmlns:a="http://schemas.openxmlformats.org/drawingml/2006/main">
            <a:off x="733425" y="5248275"/>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F1F5F9"/>
                </a:solidFill>
                <a:latin typeface="Helvetica Neue"/>
                <a:ea typeface="Helvetica Neue"/>
                <a:cs typeface="Helvetica Neue"/>
              </a:defRPr>
            </a:defPPr>
          </a:lstStyle>
          <a:p xmlns:a="http://schemas.openxmlformats.org/drawingml/2006/main">
            <a:pPr>
              <a:defRPr sz="1800" b="0">
                <a:solidFill>
                  <a:srgbClr val="F1F5F9"/>
                </a:solidFill>
                <a:latin typeface="Helvetica Neue"/>
                <a:ea typeface="Helvetica Neue"/>
                <a:cs typeface="Helvetica Neue"/>
              </a:defRPr>
            </a:pPr>
            <a:r>
              <a:rPr sz="1800" b="0">
                <a:solidFill>
                  <a:srgbClr val="F1F5F9"/>
                </a:solidFill>
                <a:latin typeface="Helvetica Neue"/>
                <a:ea typeface="Helvetica Neue"/>
                <a:cs typeface="Helvetica Neue"/>
              </a:rPr>
              <a:t>Demand clusters at familiar gates</a:t>
            </a:r>
          </a:p>
        </p:txBody>
      </p:sp>
      <p:sp>
        <p:nvSpPr>
          <p:cNvPr id="26" name="g2_label">
            <a:extLst xmlns:a="http://schemas.openxmlformats.org/drawingml/2006/main">
              <a:ext uri="{FF2B5EF4-FFF2-40B4-BE49-F238E27FC236}">
                <a16:creationId xmlns:a16="http://schemas.microsoft.com/office/drawing/2014/main" id="{707EB286-C9C5-4E1F-90C7-3BFF16A72FBF}"/>
              </a:ext>
            </a:extLst>
          </p:cNvPr>
          <p:cNvSpPr>
            <a:spLocks xmlns:a="http://schemas.openxmlformats.org/drawingml/2006/main" noGrp="1"/>
          </p:cNvSpPr>
          <p:nvPr/>
        </p:nvSpPr>
        <p:spPr>
          <a:xfrm xmlns:a="http://schemas.openxmlformats.org/drawingml/2006/main">
            <a:off x="6600825" y="178117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F806B"/>
                </a:solidFill>
                <a:latin typeface="Helvetica Neue"/>
                <a:ea typeface="Helvetica Neue"/>
                <a:cs typeface="Helvetica Neue"/>
              </a:defRPr>
            </a:defPPr>
          </a:lstStyle>
          <a:p xmlns:a="http://schemas.openxmlformats.org/drawingml/2006/main">
            <a:pPr>
              <a:defRPr sz="2100" b="1">
                <a:solidFill>
                  <a:srgbClr val="FF806B"/>
                </a:solidFill>
                <a:latin typeface="Helvetica Neue"/>
                <a:ea typeface="Helvetica Neue"/>
                <a:cs typeface="Helvetica Neue"/>
              </a:defRPr>
            </a:pPr>
            <a:r>
              <a:rPr sz="2100" b="1">
                <a:solidFill>
                  <a:srgbClr val="FF806B"/>
                </a:solidFill>
                <a:latin typeface="Helvetica Neue"/>
                <a:ea typeface="Helvetica Neue"/>
                <a:cs typeface="Helvetica Neue"/>
              </a:rPr>
              <a:t>02  Earthquake response drill</a:t>
            </a:r>
          </a:p>
        </p:txBody>
      </p:sp>
      <p:sp>
        <p:nvSpPr>
          <p:cNvPr id="27" name="g2_stadium_outer">
            <a:extLst xmlns:a="http://schemas.openxmlformats.org/drawingml/2006/main">
              <a:ext uri="{FF2B5EF4-FFF2-40B4-BE49-F238E27FC236}">
                <a16:creationId xmlns:a16="http://schemas.microsoft.com/office/drawing/2014/main" id="{450C8815-CAA4-4C37-BF9F-3D188F1AC31C}"/>
              </a:ext>
            </a:extLst>
          </p:cNvPr>
          <p:cNvSpPr>
            <a:spLocks xmlns:a="http://schemas.openxmlformats.org/drawingml/2006/main" noGrp="1"/>
          </p:cNvSpPr>
          <p:nvPr/>
        </p:nvSpPr>
        <p:spPr>
          <a:xfrm xmlns:a="http://schemas.openxmlformats.org/drawingml/2006/main">
            <a:off x="7229475" y="2495550"/>
            <a:ext cx="3524250" cy="2209800"/>
          </a:xfrm>
          <a:prstGeom xmlns:a="http://schemas.openxmlformats.org/drawingml/2006/main" prst="ellipse">
            <a:avLst/>
          </a:prstGeom>
          <a:solidFill xmlns:a="http://schemas.openxmlformats.org/drawingml/2006/main">
            <a:srgbClr val="0C2030"/>
          </a:solidFill>
          <a:ln xmlns:a="http://schemas.openxmlformats.org/drawingml/2006/main" w="28575">
            <a:solidFill>
              <a:srgbClr val="2C4255"/>
            </a:solidFill>
            <a:prstDash val="solid"/>
          </a:ln>
        </p:spPr>
      </p:sp>
      <p:sp>
        <p:nvSpPr>
          <p:cNvPr id="28" name="g2_stadium_inner">
            <a:extLst xmlns:a="http://schemas.openxmlformats.org/drawingml/2006/main">
              <a:ext uri="{FF2B5EF4-FFF2-40B4-BE49-F238E27FC236}">
                <a16:creationId xmlns:a16="http://schemas.microsoft.com/office/drawing/2014/main" id="{C1443BAF-1811-40BA-9102-346B4014FD37}"/>
              </a:ext>
            </a:extLst>
          </p:cNvPr>
          <p:cNvSpPr>
            <a:spLocks xmlns:a="http://schemas.openxmlformats.org/drawingml/2006/main" noGrp="1"/>
          </p:cNvSpPr>
          <p:nvPr/>
        </p:nvSpPr>
        <p:spPr>
          <a:xfrm xmlns:a="http://schemas.openxmlformats.org/drawingml/2006/main">
            <a:off x="7686675" y="2886075"/>
            <a:ext cx="2609850" cy="1428750"/>
          </a:xfrm>
          <a:prstGeom xmlns:a="http://schemas.openxmlformats.org/drawingml/2006/main" prst="ellipse">
            <a:avLst/>
          </a:prstGeom>
          <a:solidFill xmlns:a="http://schemas.openxmlformats.org/drawingml/2006/main">
            <a:srgbClr val="07111F"/>
          </a:solidFill>
          <a:ln xmlns:a="http://schemas.openxmlformats.org/drawingml/2006/main" w="19050">
            <a:solidFill>
              <a:srgbClr val="3C5868"/>
            </a:solidFill>
            <a:prstDash val="solid"/>
          </a:ln>
        </p:spPr>
      </p:sp>
      <p:sp>
        <p:nvSpPr>
          <p:cNvPr id="29" name="g2_stadium_population">
            <a:extLst xmlns:a="http://schemas.openxmlformats.org/drawingml/2006/main">
              <a:ext uri="{FF2B5EF4-FFF2-40B4-BE49-F238E27FC236}">
                <a16:creationId xmlns:a16="http://schemas.microsoft.com/office/drawing/2014/main" id="{E465FC33-ECBB-4BA3-BE87-E6831E191AA7}"/>
              </a:ext>
            </a:extLst>
          </p:cNvPr>
          <p:cNvSpPr>
            <a:spLocks xmlns:a="http://schemas.openxmlformats.org/drawingml/2006/main" noGrp="1"/>
          </p:cNvSpPr>
          <p:nvPr/>
        </p:nvSpPr>
        <p:spPr>
          <a:xfrm xmlns:a="http://schemas.openxmlformats.org/drawingml/2006/main">
            <a:off x="7991475" y="31623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F1F5F9"/>
                </a:solidFill>
                <a:latin typeface="Helvetica Neue"/>
                <a:ea typeface="Helvetica Neue"/>
                <a:cs typeface="Helvetica Neue"/>
              </a:defRPr>
            </a:defPPr>
          </a:lstStyle>
          <a:p xmlns:a="http://schemas.openxmlformats.org/drawingml/2006/main">
            <a:pPr algn="ctr">
              <a:defRPr sz="3600" b="1">
                <a:solidFill>
                  <a:srgbClr val="F1F5F9"/>
                </a:solidFill>
                <a:latin typeface="Helvetica Neue"/>
                <a:ea typeface="Helvetica Neue"/>
                <a:cs typeface="Helvetica Neue"/>
              </a:defRPr>
            </a:pPr>
            <a:r>
              <a:rPr sz="3600" b="1">
                <a:solidFill>
                  <a:srgbClr val="F1F5F9"/>
                </a:solidFill>
                <a:latin typeface="Helvetica Neue"/>
                <a:ea typeface="Helvetica Neue"/>
                <a:cs typeface="Helvetica Neue"/>
              </a:rPr>
              <a:t>4,000</a:t>
            </a:r>
          </a:p>
        </p:txBody>
      </p:sp>
      <p:sp>
        <p:nvSpPr>
          <p:cNvPr id="30" name="g2_stadium_population_label">
            <a:extLst xmlns:a="http://schemas.openxmlformats.org/drawingml/2006/main">
              <a:ext uri="{FF2B5EF4-FFF2-40B4-BE49-F238E27FC236}">
                <a16:creationId xmlns:a16="http://schemas.microsoft.com/office/drawing/2014/main" id="{D6E3B17C-C99B-45B4-A31F-97BC76C81D98}"/>
              </a:ext>
            </a:extLst>
          </p:cNvPr>
          <p:cNvSpPr>
            <a:spLocks xmlns:a="http://schemas.openxmlformats.org/drawingml/2006/main" noGrp="1"/>
          </p:cNvSpPr>
          <p:nvPr/>
        </p:nvSpPr>
        <p:spPr>
          <a:xfrm xmlns:a="http://schemas.openxmlformats.org/drawingml/2006/main">
            <a:off x="8277225" y="3724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1">
                <a:solidFill>
                  <a:srgbClr val="A8BACB"/>
                </a:solidFill>
                <a:latin typeface="Helvetica Neue"/>
                <a:ea typeface="Helvetica Neue"/>
                <a:cs typeface="Helvetica Neue"/>
              </a:defRPr>
            </a:defPPr>
          </a:lstStyle>
          <a:p xmlns:a="http://schemas.openxmlformats.org/drawingml/2006/main">
            <a:pPr algn="ctr">
              <a:defRPr sz="1200" b="1">
                <a:solidFill>
                  <a:srgbClr val="A8BACB"/>
                </a:solidFill>
                <a:latin typeface="Helvetica Neue"/>
                <a:ea typeface="Helvetica Neue"/>
                <a:cs typeface="Helvetica Neue"/>
              </a:defRPr>
            </a:pPr>
            <a:r>
              <a:rPr sz="1200" b="1">
                <a:solidFill>
                  <a:srgbClr val="A8BACB"/>
                </a:solidFill>
                <a:latin typeface="Helvetica Neue"/>
                <a:ea typeface="Helvetica Neue"/>
                <a:cs typeface="Helvetica Neue"/>
              </a:rPr>
              <a:t>PEOPLE</a:t>
            </a:r>
          </a:p>
        </p:txBody>
      </p:sp>
      <p:sp>
        <p:nvSpPr>
          <p:cNvPr id="31" name="g2_stadium_gate_0">
            <a:extLst xmlns:a="http://schemas.openxmlformats.org/drawingml/2006/main">
              <a:ext uri="{FF2B5EF4-FFF2-40B4-BE49-F238E27FC236}">
                <a16:creationId xmlns:a16="http://schemas.microsoft.com/office/drawing/2014/main" id="{E675A14E-E304-4790-B848-4EB3D20E9071}"/>
              </a:ext>
            </a:extLst>
          </p:cNvPr>
          <p:cNvSpPr>
            <a:spLocks xmlns:a="http://schemas.openxmlformats.org/drawingml/2006/main" noGrp="1"/>
          </p:cNvSpPr>
          <p:nvPr/>
        </p:nvSpPr>
        <p:spPr>
          <a:xfrm xmlns:a="http://schemas.openxmlformats.org/drawingml/2006/main">
            <a:off x="10457829" y="3210042"/>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32" name="g2_stadium_label_0">
            <a:extLst xmlns:a="http://schemas.openxmlformats.org/drawingml/2006/main">
              <a:ext uri="{FF2B5EF4-FFF2-40B4-BE49-F238E27FC236}">
                <a16:creationId xmlns:a16="http://schemas.microsoft.com/office/drawing/2014/main" id="{903A4F74-0024-44B7-BD00-10CCDD12FC82}"/>
              </a:ext>
            </a:extLst>
          </p:cNvPr>
          <p:cNvSpPr>
            <a:spLocks xmlns:a="http://schemas.openxmlformats.org/drawingml/2006/main" noGrp="1"/>
          </p:cNvSpPr>
          <p:nvPr/>
        </p:nvSpPr>
        <p:spPr>
          <a:xfrm xmlns:a="http://schemas.openxmlformats.org/drawingml/2006/main">
            <a:off x="10854422" y="3099778"/>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A</a:t>
            </a:r>
          </a:p>
        </p:txBody>
      </p:sp>
      <p:sp>
        <p:nvSpPr>
          <p:cNvPr id="33" name="g2_stadium_gate_1">
            <a:extLst xmlns:a="http://schemas.openxmlformats.org/drawingml/2006/main">
              <a:ext uri="{FF2B5EF4-FFF2-40B4-BE49-F238E27FC236}">
                <a16:creationId xmlns:a16="http://schemas.microsoft.com/office/drawing/2014/main" id="{DF4FF666-089A-408C-982B-DEDC38F5F91D}"/>
              </a:ext>
            </a:extLst>
          </p:cNvPr>
          <p:cNvSpPr>
            <a:spLocks xmlns:a="http://schemas.openxmlformats.org/drawingml/2006/main" noGrp="1"/>
          </p:cNvSpPr>
          <p:nvPr/>
        </p:nvSpPr>
        <p:spPr>
          <a:xfrm xmlns:a="http://schemas.openxmlformats.org/drawingml/2006/main">
            <a:off x="10288453" y="4019550"/>
            <a:ext cx="342900" cy="228600"/>
          </a:xfrm>
          <a:prstGeom xmlns:a="http://schemas.openxmlformats.org/drawingml/2006/main" prst="rect">
            <a:avLst/>
          </a:prstGeom>
          <a:solidFill xmlns:a="http://schemas.openxmlformats.org/drawingml/2006/main">
            <a:srgbClr val="FF806B"/>
          </a:solidFill>
          <a:ln xmlns:a="http://schemas.openxmlformats.org/drawingml/2006/main" w="0">
            <a:noFill/>
            <a:prstDash val="solid"/>
          </a:ln>
        </p:spPr>
      </p:sp>
      <p:sp>
        <p:nvSpPr>
          <p:cNvPr id="34" name="g2_stadium_label_1">
            <a:extLst xmlns:a="http://schemas.openxmlformats.org/drawingml/2006/main">
              <a:ext uri="{FF2B5EF4-FFF2-40B4-BE49-F238E27FC236}">
                <a16:creationId xmlns:a16="http://schemas.microsoft.com/office/drawing/2014/main" id="{501B6F4E-6AFE-4E09-9CA4-9534C83F7019}"/>
              </a:ext>
            </a:extLst>
          </p:cNvPr>
          <p:cNvSpPr>
            <a:spLocks xmlns:a="http://schemas.openxmlformats.org/drawingml/2006/main" noGrp="1"/>
          </p:cNvSpPr>
          <p:nvPr/>
        </p:nvSpPr>
        <p:spPr>
          <a:xfrm xmlns:a="http://schemas.openxmlformats.org/drawingml/2006/main">
            <a:off x="10646983" y="4176713"/>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FF806B"/>
                </a:solidFill>
                <a:latin typeface="Helvetica Neue"/>
                <a:ea typeface="Helvetica Neue"/>
                <a:cs typeface="Helvetica Neue"/>
              </a:defRPr>
            </a:defPPr>
          </a:lstStyle>
          <a:p xmlns:a="http://schemas.openxmlformats.org/drawingml/2006/main">
            <a:pPr algn="ctr">
              <a:defRPr sz="1650" b="1">
                <a:solidFill>
                  <a:srgbClr val="FF806B"/>
                </a:solidFill>
                <a:latin typeface="Helvetica Neue"/>
                <a:ea typeface="Helvetica Neue"/>
                <a:cs typeface="Helvetica Neue"/>
              </a:defRPr>
            </a:pPr>
            <a:r>
              <a:rPr sz="1650" b="1">
                <a:solidFill>
                  <a:srgbClr val="FF806B"/>
                </a:solidFill>
                <a:latin typeface="Helvetica Neue"/>
                <a:ea typeface="Helvetica Neue"/>
                <a:cs typeface="Helvetica Neue"/>
              </a:rPr>
              <a:t>B</a:t>
            </a:r>
          </a:p>
        </p:txBody>
      </p:sp>
      <p:sp>
        <p:nvSpPr>
          <p:cNvPr id="35" name="g2_stadium_cross_a_1">
            <a:extLst xmlns:a="http://schemas.openxmlformats.org/drawingml/2006/main">
              <a:ext uri="{FF2B5EF4-FFF2-40B4-BE49-F238E27FC236}">
                <a16:creationId xmlns:a16="http://schemas.microsoft.com/office/drawing/2014/main" id="{6A050789-491C-482D-A2E0-A1354CA0A5E5}"/>
              </a:ext>
            </a:extLst>
          </p:cNvPr>
          <p:cNvSpPr>
            <a:spLocks xmlns:a="http://schemas.openxmlformats.org/drawingml/2006/main" noGrp="1"/>
          </p:cNvSpPr>
          <p:nvPr/>
        </p:nvSpPr>
        <p:spPr>
          <a:xfrm xmlns:a="http://schemas.openxmlformats.org/drawingml/2006/main" flipH="0" flipV="0">
            <a:off x="10364653" y="4067175"/>
            <a:ext cx="190500" cy="133350"/>
          </a:xfrm>
          <a:prstGeom xmlns:a="http://schemas.openxmlformats.org/drawingml/2006/main" prst="line">
            <a:avLst/>
          </a:prstGeom>
          <a:noFill xmlns:a="http://schemas.openxmlformats.org/drawingml/2006/main"/>
          <a:ln xmlns:a="http://schemas.openxmlformats.org/drawingml/2006/main" w="28575">
            <a:solidFill>
              <a:srgbClr val="07111F"/>
            </a:solidFill>
            <a:prstDash val="solid"/>
          </a:ln>
        </p:spPr>
      </p:sp>
      <p:sp>
        <p:nvSpPr>
          <p:cNvPr id="36" name="g2_stadium_cross_b_1">
            <a:extLst xmlns:a="http://schemas.openxmlformats.org/drawingml/2006/main">
              <a:ext uri="{FF2B5EF4-FFF2-40B4-BE49-F238E27FC236}">
                <a16:creationId xmlns:a16="http://schemas.microsoft.com/office/drawing/2014/main" id="{D871091E-B8B6-459E-B527-E9D2E084D511}"/>
              </a:ext>
            </a:extLst>
          </p:cNvPr>
          <p:cNvSpPr>
            <a:spLocks xmlns:a="http://schemas.openxmlformats.org/drawingml/2006/main" noGrp="1"/>
          </p:cNvSpPr>
          <p:nvPr/>
        </p:nvSpPr>
        <p:spPr>
          <a:xfrm xmlns:a="http://schemas.openxmlformats.org/drawingml/2006/main" flipH="0" flipV="1">
            <a:off x="10364653" y="4067175"/>
            <a:ext cx="190500" cy="133350"/>
          </a:xfrm>
          <a:prstGeom xmlns:a="http://schemas.openxmlformats.org/drawingml/2006/main" prst="line">
            <a:avLst/>
          </a:prstGeom>
          <a:noFill xmlns:a="http://schemas.openxmlformats.org/drawingml/2006/main"/>
          <a:ln xmlns:a="http://schemas.openxmlformats.org/drawingml/2006/main" w="28575">
            <a:solidFill>
              <a:srgbClr val="07111F"/>
            </a:solidFill>
            <a:prstDash val="solid"/>
          </a:ln>
        </p:spPr>
      </p:sp>
      <p:sp>
        <p:nvSpPr>
          <p:cNvPr id="37" name="g2_stadium_gate_2">
            <a:extLst xmlns:a="http://schemas.openxmlformats.org/drawingml/2006/main">
              <a:ext uri="{FF2B5EF4-FFF2-40B4-BE49-F238E27FC236}">
                <a16:creationId xmlns:a16="http://schemas.microsoft.com/office/drawing/2014/main" id="{E622973C-96C4-4457-AC61-B1681FD7D510}"/>
              </a:ext>
            </a:extLst>
          </p:cNvPr>
          <p:cNvSpPr>
            <a:spLocks xmlns:a="http://schemas.openxmlformats.org/drawingml/2006/main" noGrp="1"/>
          </p:cNvSpPr>
          <p:nvPr/>
        </p:nvSpPr>
        <p:spPr>
          <a:xfrm xmlns:a="http://schemas.openxmlformats.org/drawingml/2006/main">
            <a:off x="9258965" y="4516600"/>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38" name="g2_stadium_label_2">
            <a:extLst xmlns:a="http://schemas.openxmlformats.org/drawingml/2006/main">
              <a:ext uri="{FF2B5EF4-FFF2-40B4-BE49-F238E27FC236}">
                <a16:creationId xmlns:a16="http://schemas.microsoft.com/office/drawing/2014/main" id="{3AE7EB0F-EFDB-4247-B3D2-C342A566F01A}"/>
              </a:ext>
            </a:extLst>
          </p:cNvPr>
          <p:cNvSpPr>
            <a:spLocks xmlns:a="http://schemas.openxmlformats.org/drawingml/2006/main" noGrp="1"/>
          </p:cNvSpPr>
          <p:nvPr/>
        </p:nvSpPr>
        <p:spPr>
          <a:xfrm xmlns:a="http://schemas.openxmlformats.org/drawingml/2006/main">
            <a:off x="9386150" y="4837966"/>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C</a:t>
            </a:r>
          </a:p>
        </p:txBody>
      </p:sp>
      <p:sp>
        <p:nvSpPr>
          <p:cNvPr id="39" name="g2_stadium_gate_3">
            <a:extLst xmlns:a="http://schemas.openxmlformats.org/drawingml/2006/main">
              <a:ext uri="{FF2B5EF4-FFF2-40B4-BE49-F238E27FC236}">
                <a16:creationId xmlns:a16="http://schemas.microsoft.com/office/drawing/2014/main" id="{55468A7C-CA6F-4199-BC9B-348CEFC3F53B}"/>
              </a:ext>
            </a:extLst>
          </p:cNvPr>
          <p:cNvSpPr>
            <a:spLocks xmlns:a="http://schemas.openxmlformats.org/drawingml/2006/main" noGrp="1"/>
          </p:cNvSpPr>
          <p:nvPr/>
        </p:nvSpPr>
        <p:spPr>
          <a:xfrm xmlns:a="http://schemas.openxmlformats.org/drawingml/2006/main">
            <a:off x="7972425" y="4410026"/>
            <a:ext cx="342900" cy="228600"/>
          </a:xfrm>
          <a:prstGeom xmlns:a="http://schemas.openxmlformats.org/drawingml/2006/main" prst="rect">
            <a:avLst/>
          </a:prstGeom>
          <a:solidFill xmlns:a="http://schemas.openxmlformats.org/drawingml/2006/main">
            <a:srgbClr val="FF806B"/>
          </a:solidFill>
          <a:ln xmlns:a="http://schemas.openxmlformats.org/drawingml/2006/main" w="0">
            <a:noFill/>
            <a:prstDash val="solid"/>
          </a:ln>
        </p:spPr>
      </p:sp>
      <p:sp>
        <p:nvSpPr>
          <p:cNvPr id="40" name="g2_stadium_label_3">
            <a:extLst xmlns:a="http://schemas.openxmlformats.org/drawingml/2006/main">
              <a:ext uri="{FF2B5EF4-FFF2-40B4-BE49-F238E27FC236}">
                <a16:creationId xmlns:a16="http://schemas.microsoft.com/office/drawing/2014/main" id="{6C5C623A-924D-4725-A0E2-80D86846D189}"/>
              </a:ext>
            </a:extLst>
          </p:cNvPr>
          <p:cNvSpPr>
            <a:spLocks xmlns:a="http://schemas.openxmlformats.org/drawingml/2006/main" noGrp="1"/>
          </p:cNvSpPr>
          <p:nvPr/>
        </p:nvSpPr>
        <p:spPr>
          <a:xfrm xmlns:a="http://schemas.openxmlformats.org/drawingml/2006/main">
            <a:off x="7810500" y="469618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FF806B"/>
                </a:solidFill>
                <a:latin typeface="Helvetica Neue"/>
                <a:ea typeface="Helvetica Neue"/>
                <a:cs typeface="Helvetica Neue"/>
              </a:defRPr>
            </a:defPPr>
          </a:lstStyle>
          <a:p xmlns:a="http://schemas.openxmlformats.org/drawingml/2006/main">
            <a:pPr algn="ctr">
              <a:defRPr sz="1650" b="1">
                <a:solidFill>
                  <a:srgbClr val="FF806B"/>
                </a:solidFill>
                <a:latin typeface="Helvetica Neue"/>
                <a:ea typeface="Helvetica Neue"/>
                <a:cs typeface="Helvetica Neue"/>
              </a:defRPr>
            </a:pPr>
            <a:r>
              <a:rPr sz="1650" b="1">
                <a:solidFill>
                  <a:srgbClr val="FF806B"/>
                </a:solidFill>
                <a:latin typeface="Helvetica Neue"/>
                <a:ea typeface="Helvetica Neue"/>
                <a:cs typeface="Helvetica Neue"/>
              </a:rPr>
              <a:t>D</a:t>
            </a:r>
          </a:p>
        </p:txBody>
      </p:sp>
      <p:sp>
        <p:nvSpPr>
          <p:cNvPr id="41" name="g2_stadium_cross_a_3">
            <a:extLst xmlns:a="http://schemas.openxmlformats.org/drawingml/2006/main">
              <a:ext uri="{FF2B5EF4-FFF2-40B4-BE49-F238E27FC236}">
                <a16:creationId xmlns:a16="http://schemas.microsoft.com/office/drawing/2014/main" id="{F6BB41D0-0924-4781-A079-0A7DD40A71D0}"/>
              </a:ext>
            </a:extLst>
          </p:cNvPr>
          <p:cNvSpPr>
            <a:spLocks xmlns:a="http://schemas.openxmlformats.org/drawingml/2006/main" noGrp="1"/>
          </p:cNvSpPr>
          <p:nvPr/>
        </p:nvSpPr>
        <p:spPr>
          <a:xfrm xmlns:a="http://schemas.openxmlformats.org/drawingml/2006/main" flipH="0" flipV="0">
            <a:off x="8048625" y="4457651"/>
            <a:ext cx="190500" cy="133350"/>
          </a:xfrm>
          <a:prstGeom xmlns:a="http://schemas.openxmlformats.org/drawingml/2006/main" prst="line">
            <a:avLst/>
          </a:prstGeom>
          <a:noFill xmlns:a="http://schemas.openxmlformats.org/drawingml/2006/main"/>
          <a:ln xmlns:a="http://schemas.openxmlformats.org/drawingml/2006/main" w="28575">
            <a:solidFill>
              <a:srgbClr val="07111F"/>
            </a:solidFill>
            <a:prstDash val="solid"/>
          </a:ln>
        </p:spPr>
      </p:sp>
      <p:sp>
        <p:nvSpPr>
          <p:cNvPr id="42" name="g2_stadium_cross_b_3">
            <a:extLst xmlns:a="http://schemas.openxmlformats.org/drawingml/2006/main">
              <a:ext uri="{FF2B5EF4-FFF2-40B4-BE49-F238E27FC236}">
                <a16:creationId xmlns:a16="http://schemas.microsoft.com/office/drawing/2014/main" id="{3C5EA8D5-0320-4A0A-89AB-5927D799EF15}"/>
              </a:ext>
            </a:extLst>
          </p:cNvPr>
          <p:cNvSpPr>
            <a:spLocks xmlns:a="http://schemas.openxmlformats.org/drawingml/2006/main" noGrp="1"/>
          </p:cNvSpPr>
          <p:nvPr/>
        </p:nvSpPr>
        <p:spPr>
          <a:xfrm xmlns:a="http://schemas.openxmlformats.org/drawingml/2006/main" flipH="0" flipV="1">
            <a:off x="8048625" y="4457651"/>
            <a:ext cx="190500" cy="133350"/>
          </a:xfrm>
          <a:prstGeom xmlns:a="http://schemas.openxmlformats.org/drawingml/2006/main" prst="line">
            <a:avLst/>
          </a:prstGeom>
          <a:noFill xmlns:a="http://schemas.openxmlformats.org/drawingml/2006/main"/>
          <a:ln xmlns:a="http://schemas.openxmlformats.org/drawingml/2006/main" w="28575">
            <a:solidFill>
              <a:srgbClr val="07111F"/>
            </a:solidFill>
            <a:prstDash val="solid"/>
          </a:ln>
        </p:spPr>
      </p:sp>
      <p:sp>
        <p:nvSpPr>
          <p:cNvPr id="43" name="g2_stadium_gate_4">
            <a:extLst xmlns:a="http://schemas.openxmlformats.org/drawingml/2006/main">
              <a:ext uri="{FF2B5EF4-FFF2-40B4-BE49-F238E27FC236}">
                <a16:creationId xmlns:a16="http://schemas.microsoft.com/office/drawing/2014/main" id="{805C5902-7653-4694-B5F7-F80773B88F22}"/>
              </a:ext>
            </a:extLst>
          </p:cNvPr>
          <p:cNvSpPr>
            <a:spLocks xmlns:a="http://schemas.openxmlformats.org/drawingml/2006/main" noGrp="1"/>
          </p:cNvSpPr>
          <p:nvPr/>
        </p:nvSpPr>
        <p:spPr>
          <a:xfrm xmlns:a="http://schemas.openxmlformats.org/drawingml/2006/main">
            <a:off x="7182471" y="3762258"/>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44" name="g2_stadium_label_4">
            <a:extLst xmlns:a="http://schemas.openxmlformats.org/drawingml/2006/main">
              <a:ext uri="{FF2B5EF4-FFF2-40B4-BE49-F238E27FC236}">
                <a16:creationId xmlns:a16="http://schemas.microsoft.com/office/drawing/2014/main" id="{D3563BE4-77E6-4D01-8CA9-469C3DA253D2}"/>
              </a:ext>
            </a:extLst>
          </p:cNvPr>
          <p:cNvSpPr>
            <a:spLocks xmlns:a="http://schemas.openxmlformats.org/drawingml/2006/main" noGrp="1"/>
          </p:cNvSpPr>
          <p:nvPr/>
        </p:nvSpPr>
        <p:spPr>
          <a:xfrm xmlns:a="http://schemas.openxmlformats.org/drawingml/2006/main">
            <a:off x="6843028" y="3834422"/>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E</a:t>
            </a:r>
          </a:p>
        </p:txBody>
      </p:sp>
      <p:sp>
        <p:nvSpPr>
          <p:cNvPr id="45" name="g2_stadium_gate_5">
            <a:extLst xmlns:a="http://schemas.openxmlformats.org/drawingml/2006/main">
              <a:ext uri="{FF2B5EF4-FFF2-40B4-BE49-F238E27FC236}">
                <a16:creationId xmlns:a16="http://schemas.microsoft.com/office/drawing/2014/main" id="{E7367C18-717B-4287-837E-292BF7BBEC69}"/>
              </a:ext>
            </a:extLst>
          </p:cNvPr>
          <p:cNvSpPr>
            <a:spLocks xmlns:a="http://schemas.openxmlformats.org/drawingml/2006/main" noGrp="1"/>
          </p:cNvSpPr>
          <p:nvPr/>
        </p:nvSpPr>
        <p:spPr>
          <a:xfrm xmlns:a="http://schemas.openxmlformats.org/drawingml/2006/main">
            <a:off x="7351847" y="2952750"/>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46" name="g2_stadium_label_5">
            <a:extLst xmlns:a="http://schemas.openxmlformats.org/drawingml/2006/main">
              <a:ext uri="{FF2B5EF4-FFF2-40B4-BE49-F238E27FC236}">
                <a16:creationId xmlns:a16="http://schemas.microsoft.com/office/drawing/2014/main" id="{402D04BB-EB81-407A-B299-009C73A0719E}"/>
              </a:ext>
            </a:extLst>
          </p:cNvPr>
          <p:cNvSpPr>
            <a:spLocks xmlns:a="http://schemas.openxmlformats.org/drawingml/2006/main" noGrp="1"/>
          </p:cNvSpPr>
          <p:nvPr/>
        </p:nvSpPr>
        <p:spPr>
          <a:xfrm xmlns:a="http://schemas.openxmlformats.org/drawingml/2006/main">
            <a:off x="7050467" y="2757488"/>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F</a:t>
            </a:r>
          </a:p>
        </p:txBody>
      </p:sp>
      <p:sp>
        <p:nvSpPr>
          <p:cNvPr id="47" name="g2_stadium_gate_6">
            <a:extLst xmlns:a="http://schemas.openxmlformats.org/drawingml/2006/main">
              <a:ext uri="{FF2B5EF4-FFF2-40B4-BE49-F238E27FC236}">
                <a16:creationId xmlns:a16="http://schemas.microsoft.com/office/drawing/2014/main" id="{31AEEE22-85B0-4B32-9187-44141A33F0FB}"/>
              </a:ext>
            </a:extLst>
          </p:cNvPr>
          <p:cNvSpPr>
            <a:spLocks xmlns:a="http://schemas.openxmlformats.org/drawingml/2006/main" noGrp="1"/>
          </p:cNvSpPr>
          <p:nvPr/>
        </p:nvSpPr>
        <p:spPr>
          <a:xfrm xmlns:a="http://schemas.openxmlformats.org/drawingml/2006/main">
            <a:off x="8381335" y="2455700"/>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48" name="g2_stadium_label_6">
            <a:extLst xmlns:a="http://schemas.openxmlformats.org/drawingml/2006/main">
              <a:ext uri="{FF2B5EF4-FFF2-40B4-BE49-F238E27FC236}">
                <a16:creationId xmlns:a16="http://schemas.microsoft.com/office/drawing/2014/main" id="{FF81EB72-B8EE-4EDA-9FD9-77A0C1F7E9E8}"/>
              </a:ext>
            </a:extLst>
          </p:cNvPr>
          <p:cNvSpPr>
            <a:spLocks xmlns:a="http://schemas.openxmlformats.org/drawingml/2006/main" noGrp="1"/>
          </p:cNvSpPr>
          <p:nvPr/>
        </p:nvSpPr>
        <p:spPr>
          <a:xfrm xmlns:a="http://schemas.openxmlformats.org/drawingml/2006/main">
            <a:off x="8311300" y="2096234"/>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G</a:t>
            </a:r>
          </a:p>
        </p:txBody>
      </p:sp>
      <p:sp>
        <p:nvSpPr>
          <p:cNvPr id="49" name="g2_stadium_gate_7">
            <a:extLst xmlns:a="http://schemas.openxmlformats.org/drawingml/2006/main">
              <a:ext uri="{FF2B5EF4-FFF2-40B4-BE49-F238E27FC236}">
                <a16:creationId xmlns:a16="http://schemas.microsoft.com/office/drawing/2014/main" id="{D9025D5D-B6F0-4A09-A0D9-FC85397A5079}"/>
              </a:ext>
            </a:extLst>
          </p:cNvPr>
          <p:cNvSpPr>
            <a:spLocks xmlns:a="http://schemas.openxmlformats.org/drawingml/2006/main" noGrp="1"/>
          </p:cNvSpPr>
          <p:nvPr/>
        </p:nvSpPr>
        <p:spPr>
          <a:xfrm xmlns:a="http://schemas.openxmlformats.org/drawingml/2006/main">
            <a:off x="9667875" y="2562274"/>
            <a:ext cx="342900" cy="228600"/>
          </a:xfrm>
          <a:prstGeom xmlns:a="http://schemas.openxmlformats.org/drawingml/2006/main" prst="rect">
            <a:avLst/>
          </a:prstGeom>
          <a:solidFill xmlns:a="http://schemas.openxmlformats.org/drawingml/2006/main">
            <a:srgbClr val="65E2C1"/>
          </a:solidFill>
          <a:ln xmlns:a="http://schemas.openxmlformats.org/drawingml/2006/main" w="0">
            <a:noFill/>
            <a:prstDash val="solid"/>
          </a:ln>
        </p:spPr>
      </p:sp>
      <p:sp>
        <p:nvSpPr>
          <p:cNvPr id="50" name="g2_stadium_label_7">
            <a:extLst xmlns:a="http://schemas.openxmlformats.org/drawingml/2006/main">
              <a:ext uri="{FF2B5EF4-FFF2-40B4-BE49-F238E27FC236}">
                <a16:creationId xmlns:a16="http://schemas.microsoft.com/office/drawing/2014/main" id="{8913985C-BEA1-44F4-8E48-BBD87E883BF7}"/>
              </a:ext>
            </a:extLst>
          </p:cNvPr>
          <p:cNvSpPr>
            <a:spLocks xmlns:a="http://schemas.openxmlformats.org/drawingml/2006/main" noGrp="1"/>
          </p:cNvSpPr>
          <p:nvPr/>
        </p:nvSpPr>
        <p:spPr>
          <a:xfrm xmlns:a="http://schemas.openxmlformats.org/drawingml/2006/main">
            <a:off x="9886950" y="223801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65E2C1"/>
                </a:solidFill>
                <a:latin typeface="Helvetica Neue"/>
                <a:ea typeface="Helvetica Neue"/>
                <a:cs typeface="Helvetica Neue"/>
              </a:defRPr>
            </a:defPPr>
          </a:lstStyle>
          <a:p xmlns:a="http://schemas.openxmlformats.org/drawingml/2006/main">
            <a:pPr algn="ctr">
              <a:defRPr sz="1650" b="1">
                <a:solidFill>
                  <a:srgbClr val="65E2C1"/>
                </a:solidFill>
                <a:latin typeface="Helvetica Neue"/>
                <a:ea typeface="Helvetica Neue"/>
                <a:cs typeface="Helvetica Neue"/>
              </a:defRPr>
            </a:pPr>
            <a:r>
              <a:rPr sz="1650" b="1">
                <a:solidFill>
                  <a:srgbClr val="65E2C1"/>
                </a:solidFill>
                <a:latin typeface="Helvetica Neue"/>
                <a:ea typeface="Helvetica Neue"/>
                <a:cs typeface="Helvetica Neue"/>
              </a:rPr>
              <a:t>H</a:t>
            </a:r>
          </a:p>
        </p:txBody>
      </p:sp>
      <p:cxnSp>
        <p:nvCxnSpPr>
          <p:cNvPr id="51" name="g2_displaced_B">
            <a:extLst xmlns:a="http://schemas.openxmlformats.org/drawingml/2006/main">
              <a:ext uri="{FF2B5EF4-FFF2-40B4-BE49-F238E27FC236}">
                <a16:creationId xmlns:a16="http://schemas.microsoft.com/office/drawing/2014/main" id="{581D5A42-9916-4768-9E7A-D72D31AD5172}"/>
              </a:ext>
            </a:extLst>
          </p:cNvPr>
          <p:cNvCxnSpPr/>
          <p:nvPr/>
        </p:nvCxnSpPr>
        <p:spPr>
          <a:xfrm xmlns:a="http://schemas.openxmlformats.org/drawingml/2006/main" flipH="1" flipV="0">
            <a:off x="9686925" y="4267200"/>
            <a:ext cx="657225" cy="219075"/>
          </a:xfrm>
          <a:prstGeom xmlns:a="http://schemas.openxmlformats.org/drawingml/2006/main" prst="straightConnector1">
            <a:avLst/>
          </a:prstGeom>
          <a:ln xmlns:a="http://schemas.openxmlformats.org/drawingml/2006/main" w="28575">
            <a:solidFill>
              <a:srgbClr val="FF806B"/>
            </a:solidFill>
            <a:prstDash val="solid"/>
            <a:tailEnd type="triangle" w="med" len="med"/>
          </a:ln>
        </p:spPr>
      </p:cxnSp>
      <p:cxnSp>
        <p:nvCxnSpPr>
          <p:cNvPr id="52" name="g2_displaced_D">
            <a:extLst xmlns:a="http://schemas.openxmlformats.org/drawingml/2006/main">
              <a:ext uri="{FF2B5EF4-FFF2-40B4-BE49-F238E27FC236}">
                <a16:creationId xmlns:a16="http://schemas.microsoft.com/office/drawing/2014/main" id="{8B1B2BE4-A320-47F5-8847-85C345219A32}"/>
              </a:ext>
            </a:extLst>
          </p:cNvPr>
          <p:cNvCxnSpPr/>
          <p:nvPr/>
        </p:nvCxnSpPr>
        <p:spPr>
          <a:xfrm xmlns:a="http://schemas.openxmlformats.org/drawingml/2006/main" flipH="1" flipV="1">
            <a:off x="7524750" y="3971925"/>
            <a:ext cx="571500" cy="323850"/>
          </a:xfrm>
          <a:prstGeom xmlns:a="http://schemas.openxmlformats.org/drawingml/2006/main" prst="straightConnector1">
            <a:avLst/>
          </a:prstGeom>
          <a:ln xmlns:a="http://schemas.openxmlformats.org/drawingml/2006/main" w="28575">
            <a:solidFill>
              <a:srgbClr val="FF806B"/>
            </a:solidFill>
            <a:prstDash val="solid"/>
            <a:tailEnd type="triangle" w="med" len="med"/>
          </a:ln>
        </p:spPr>
      </p:cxnSp>
      <p:sp>
        <p:nvSpPr>
          <p:cNvPr id="53" name="g2_cause">
            <a:extLst xmlns:a="http://schemas.openxmlformats.org/drawingml/2006/main">
              <a:ext uri="{FF2B5EF4-FFF2-40B4-BE49-F238E27FC236}">
                <a16:creationId xmlns:a16="http://schemas.microsoft.com/office/drawing/2014/main" id="{B350CD1C-D794-4754-B1AD-F72ED5709E6E}"/>
              </a:ext>
            </a:extLst>
          </p:cNvPr>
          <p:cNvSpPr>
            <a:spLocks xmlns:a="http://schemas.openxmlformats.org/drawingml/2006/main" noGrp="1"/>
          </p:cNvSpPr>
          <p:nvPr/>
        </p:nvSpPr>
        <p:spPr>
          <a:xfrm xmlns:a="http://schemas.openxmlformats.org/drawingml/2006/main">
            <a:off x="6610350" y="5248275"/>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F1F5F9"/>
                </a:solidFill>
                <a:latin typeface="Helvetica Neue"/>
                <a:ea typeface="Helvetica Neue"/>
                <a:cs typeface="Helvetica Neue"/>
              </a:defRPr>
            </a:defPPr>
          </a:lstStyle>
          <a:p xmlns:a="http://schemas.openxmlformats.org/drawingml/2006/main">
            <a:pPr>
              <a:defRPr sz="1800" b="0">
                <a:solidFill>
                  <a:srgbClr val="F1F5F9"/>
                </a:solidFill>
                <a:latin typeface="Helvetica Neue"/>
                <a:ea typeface="Helvetica Neue"/>
                <a:cs typeface="Helvetica Neue"/>
              </a:defRPr>
            </a:pPr>
            <a:r>
              <a:rPr sz="1800" b="0">
                <a:solidFill>
                  <a:srgbClr val="F1F5F9"/>
                </a:solidFill>
                <a:latin typeface="Helvetica Neue"/>
                <a:ea typeface="Helvetica Neue"/>
                <a:cs typeface="Helvetica Neue"/>
              </a:rPr>
              <a:t>Blocked exits shift queues elsewhere</a:t>
            </a:r>
          </a:p>
        </p:txBody>
      </p:sp>
      <p:sp>
        <p:nvSpPr>
          <p:cNvPr id="54" name="g3_metric">
            <a:extLst xmlns:a="http://schemas.openxmlformats.org/drawingml/2006/main">
              <a:ext uri="{FF2B5EF4-FFF2-40B4-BE49-F238E27FC236}">
                <a16:creationId xmlns:a16="http://schemas.microsoft.com/office/drawing/2014/main" id="{5A6285E3-ABA0-46BA-8384-86D29629FC2A}"/>
              </a:ext>
            </a:extLst>
          </p:cNvPr>
          <p:cNvSpPr>
            <a:spLocks xmlns:a="http://schemas.openxmlformats.org/drawingml/2006/main" noGrp="1"/>
          </p:cNvSpPr>
          <p:nvPr/>
        </p:nvSpPr>
        <p:spPr>
          <a:xfrm xmlns:a="http://schemas.openxmlformats.org/drawingml/2006/main">
            <a:off x="685800" y="5781675"/>
            <a:ext cx="1381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F806B"/>
                </a:solidFill>
                <a:latin typeface="Helvetica Neue"/>
                <a:ea typeface="Helvetica Neue"/>
                <a:cs typeface="Helvetica Neue"/>
              </a:defRPr>
            </a:defPPr>
          </a:lstStyle>
          <a:p xmlns:a="http://schemas.openxmlformats.org/drawingml/2006/main">
            <a:pPr>
              <a:defRPr sz="3825" b="1">
                <a:solidFill>
                  <a:srgbClr val="FF806B"/>
                </a:solidFill>
                <a:latin typeface="Helvetica Neue"/>
                <a:ea typeface="Helvetica Neue"/>
                <a:cs typeface="Helvetica Neue"/>
              </a:defRPr>
            </a:pPr>
            <a:r>
              <a:rPr sz="3825" b="1">
                <a:solidFill>
                  <a:srgbClr val="FF806B"/>
                </a:solidFill>
                <a:latin typeface="Helvetica Neue"/>
                <a:ea typeface="Helvetica Neue"/>
                <a:cs typeface="Helvetica Neue"/>
              </a:rPr>
              <a:t>25%</a:t>
            </a:r>
          </a:p>
        </p:txBody>
      </p:sp>
      <p:sp>
        <p:nvSpPr>
          <p:cNvPr id="55" name="g3_metric_text">
            <a:extLst xmlns:a="http://schemas.openxmlformats.org/drawingml/2006/main">
              <a:ext uri="{FF2B5EF4-FFF2-40B4-BE49-F238E27FC236}">
                <a16:creationId xmlns:a16="http://schemas.microsoft.com/office/drawing/2014/main" id="{CE637671-EB12-4D84-999A-0E9175CEC3B0}"/>
              </a:ext>
            </a:extLst>
          </p:cNvPr>
          <p:cNvSpPr>
            <a:spLocks xmlns:a="http://schemas.openxmlformats.org/drawingml/2006/main" noGrp="1"/>
          </p:cNvSpPr>
          <p:nvPr/>
        </p:nvSpPr>
        <p:spPr>
          <a:xfrm xmlns:a="http://schemas.openxmlformats.org/drawingml/2006/main">
            <a:off x="2238375" y="5829300"/>
            <a:ext cx="885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8BACB"/>
                </a:solidFill>
                <a:latin typeface="Helvetica Neue"/>
                <a:ea typeface="Helvetica Neue"/>
                <a:cs typeface="Helvetica Neue"/>
              </a:defRPr>
            </a:defPPr>
          </a:lstStyle>
          <a:p xmlns:a="http://schemas.openxmlformats.org/drawingml/2006/main">
            <a:pPr>
              <a:defRPr sz="1875" b="0">
                <a:solidFill>
                  <a:srgbClr val="A8BACB"/>
                </a:solidFill>
                <a:latin typeface="Helvetica Neue"/>
                <a:ea typeface="Helvetica Neue"/>
                <a:cs typeface="Helvetica Neue"/>
              </a:defRPr>
            </a:pPr>
            <a:r>
              <a:rPr sz="1875" b="0">
                <a:solidFill>
                  <a:srgbClr val="A8BACB"/>
                </a:solidFill>
                <a:latin typeface="Helvetica Neue"/>
                <a:ea typeface="Helvetica Neue"/>
                <a:cs typeface="Helvetica Neue"/>
              </a:rPr>
              <a:t>less nominal exit capacity when 2 of 8 equal-capacity gates close</a:t>
            </a:r>
          </a:p>
        </p:txBody>
      </p:sp>
    </p:spTree>
    <p:extLst>
      <p:ext uri="{BB962C8B-B14F-4D97-AF65-F5344CB8AC3E}">
        <p14:creationId xmlns:p14="http://schemas.microsoft.com/office/powerpoint/2010/main" val="1913201031"/>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00"/>
                            </p:stCondLst>
                            <p:childTnLst>
                              <p:set>
                                <p:cBhvr>
                                  <p:cTn id="5" dur="1" fill="hold"/>
                                  <p:tgtEl>
                                    <p:spTgt spid="4"/>
                                  </p:tgtEl>
                                  <p:attrNameLst>
                                    <p:attrName>style.visibility</p:attrName>
                                  </p:attrNameLst>
                                </p:cBhvr>
                                <p:to>
                                  <p:strVal val="visible"/>
                                </p:to>
                              </p:set>
                              <p:animEffect transition="in" filter="fade">
                                <p:cBhvr>
                                  <p:cTn id="6" dur="550" fill="hold"/>
                                  <p:tgtEl>
                                    <p:spTgt spid="4"/>
                                  </p:tgtEl>
                                </p:cBhvr>
                              </p:animEffect>
                            </p:childTnLst>
                          </p:cTn>
                        </p:par>
                        <p:par>
                          <p:cTn id="7" presetID="10" presetClass="entr" presetSubtype="0" fill="hold" nodeType="withEffect">
                            <p:stCondLst>
                              <p:cond delay="100"/>
                            </p:stCondLst>
                            <p:childTnLst>
                              <p:set>
                                <p:cBhvr>
                                  <p:cTn id="8" dur="1" fill="hold"/>
                                  <p:tgtEl>
                                    <p:spTgt spid="5"/>
                                  </p:tgtEl>
                                  <p:attrNameLst>
                                    <p:attrName>style.visibility</p:attrName>
                                  </p:attrNameLst>
                                </p:cBhvr>
                                <p:to>
                                  <p:strVal val="visible"/>
                                </p:to>
                              </p:set>
                              <p:animEffect transition="in" filter="fade">
                                <p:cBhvr>
                                  <p:cTn id="9" dur="550" fill="hold"/>
                                  <p:tgtEl>
                                    <p:spTgt spid="5"/>
                                  </p:tgtEl>
                                </p:cBhvr>
                              </p:animEffect>
                            </p:childTnLst>
                          </p:cTn>
                        </p:par>
                        <p:par>
                          <p:cTn id="10" presetID="10" presetClass="entr" presetSubtype="0" fill="hold" nodeType="withEffect">
                            <p:stCondLst>
                              <p:cond delay="100"/>
                            </p:stCondLst>
                            <p:childTnLst>
                              <p:set>
                                <p:cBhvr>
                                  <p:cTn id="11" dur="1" fill="hold"/>
                                  <p:tgtEl>
                                    <p:spTgt spid="6"/>
                                  </p:tgtEl>
                                  <p:attrNameLst>
                                    <p:attrName>style.visibility</p:attrName>
                                  </p:attrNameLst>
                                </p:cBhvr>
                                <p:to>
                                  <p:strVal val="visible"/>
                                </p:to>
                              </p:set>
                              <p:animEffect transition="in" filter="fade">
                                <p:cBhvr>
                                  <p:cTn id="12" dur="550" fill="hold"/>
                                  <p:tgtEl>
                                    <p:spTgt spid="6"/>
                                  </p:tgtEl>
                                </p:cBhvr>
                              </p:animEffect>
                            </p:childTnLst>
                          </p:cTn>
                        </p:par>
                        <p:par>
                          <p:cTn id="13" presetID="10" presetClass="entr" presetSubtype="0" fill="hold" nodeType="withEffect">
                            <p:stCondLst>
                              <p:cond delay="100"/>
                            </p:stCondLst>
                            <p:childTnLst>
                              <p:set>
                                <p:cBhvr>
                                  <p:cTn id="14" dur="1" fill="hold"/>
                                  <p:tgtEl>
                                    <p:spTgt spid="7"/>
                                  </p:tgtEl>
                                  <p:attrNameLst>
                                    <p:attrName>style.visibility</p:attrName>
                                  </p:attrNameLst>
                                </p:cBhvr>
                                <p:to>
                                  <p:strVal val="visible"/>
                                </p:to>
                              </p:set>
                              <p:animEffect transition="in" filter="fade">
                                <p:cBhvr>
                                  <p:cTn id="15" dur="550" fill="hold"/>
                                  <p:tgtEl>
                                    <p:spTgt spid="7"/>
                                  </p:tgtEl>
                                </p:cBhvr>
                              </p:animEffect>
                            </p:childTnLst>
                          </p:cTn>
                        </p:par>
                        <p:par>
                          <p:cTn id="16" presetID="10" presetClass="entr" presetSubtype="0" fill="hold" nodeType="withEffect">
                            <p:stCondLst>
                              <p:cond delay="100"/>
                            </p:stCondLst>
                            <p:childTnLst>
                              <p:set>
                                <p:cBhvr>
                                  <p:cTn id="17" dur="1" fill="hold"/>
                                  <p:tgtEl>
                                    <p:spTgt spid="8"/>
                                  </p:tgtEl>
                                  <p:attrNameLst>
                                    <p:attrName>style.visibility</p:attrName>
                                  </p:attrNameLst>
                                </p:cBhvr>
                                <p:to>
                                  <p:strVal val="visible"/>
                                </p:to>
                              </p:set>
                              <p:animEffect transition="in" filter="fade">
                                <p:cBhvr>
                                  <p:cTn id="18" dur="550" fill="hold"/>
                                  <p:tgtEl>
                                    <p:spTgt spid="8"/>
                                  </p:tgtEl>
                                </p:cBhvr>
                              </p:animEffect>
                            </p:childTnLst>
                          </p:cTn>
                        </p:par>
                        <p:par>
                          <p:cTn id="19" presetID="10" presetClass="entr" presetSubtype="0" fill="hold" nodeType="withEffect">
                            <p:stCondLst>
                              <p:cond delay="100"/>
                            </p:stCondLst>
                            <p:childTnLst>
                              <p:set>
                                <p:cBhvr>
                                  <p:cTn id="20" dur="1" fill="hold"/>
                                  <p:tgtEl>
                                    <p:spTgt spid="9"/>
                                  </p:tgtEl>
                                  <p:attrNameLst>
                                    <p:attrName>style.visibility</p:attrName>
                                  </p:attrNameLst>
                                </p:cBhvr>
                                <p:to>
                                  <p:strVal val="visible"/>
                                </p:to>
                              </p:set>
                              <p:animEffect transition="in" filter="fade">
                                <p:cBhvr>
                                  <p:cTn id="21" dur="550" fill="hold"/>
                                  <p:tgtEl>
                                    <p:spTgt spid="9"/>
                                  </p:tgtEl>
                                </p:cBhvr>
                              </p:animEffect>
                            </p:childTnLst>
                          </p:cTn>
                        </p:par>
                        <p:par>
                          <p:cTn id="22" presetID="10" presetClass="entr" presetSubtype="0" fill="hold" nodeType="withEffect">
                            <p:stCondLst>
                              <p:cond delay="100"/>
                            </p:stCondLst>
                            <p:childTnLst>
                              <p:set>
                                <p:cBhvr>
                                  <p:cTn id="23" dur="1" fill="hold"/>
                                  <p:tgtEl>
                                    <p:spTgt spid="10"/>
                                  </p:tgtEl>
                                  <p:attrNameLst>
                                    <p:attrName>style.visibility</p:attrName>
                                  </p:attrNameLst>
                                </p:cBhvr>
                                <p:to>
                                  <p:strVal val="visible"/>
                                </p:to>
                              </p:set>
                              <p:animEffect transition="in" filter="fade">
                                <p:cBhvr>
                                  <p:cTn id="24" dur="550" fill="hold"/>
                                  <p:tgtEl>
                                    <p:spTgt spid="10"/>
                                  </p:tgtEl>
                                </p:cBhvr>
                              </p:animEffect>
                            </p:childTnLst>
                          </p:cTn>
                        </p:par>
                        <p:par>
                          <p:cTn id="25" presetID="10" presetClass="entr" presetSubtype="0" fill="hold" nodeType="withEffect">
                            <p:stCondLst>
                              <p:cond delay="100"/>
                            </p:stCondLst>
                            <p:childTnLst>
                              <p:set>
                                <p:cBhvr>
                                  <p:cTn id="26" dur="1" fill="hold"/>
                                  <p:tgtEl>
                                    <p:spTgt spid="11"/>
                                  </p:tgtEl>
                                  <p:attrNameLst>
                                    <p:attrName>style.visibility</p:attrName>
                                  </p:attrNameLst>
                                </p:cBhvr>
                                <p:to>
                                  <p:strVal val="visible"/>
                                </p:to>
                              </p:set>
                              <p:animEffect transition="in" filter="fade">
                                <p:cBhvr>
                                  <p:cTn id="27" dur="550" fill="hold"/>
                                  <p:tgtEl>
                                    <p:spTgt spid="11"/>
                                  </p:tgtEl>
                                </p:cBhvr>
                              </p:animEffect>
                            </p:childTnLst>
                          </p:cTn>
                        </p:par>
                        <p:par>
                          <p:cTn id="28" presetID="10" presetClass="entr" presetSubtype="0" fill="hold" nodeType="withEffect">
                            <p:stCondLst>
                              <p:cond delay="100"/>
                            </p:stCondLst>
                            <p:childTnLst>
                              <p:set>
                                <p:cBhvr>
                                  <p:cTn id="29" dur="1" fill="hold"/>
                                  <p:tgtEl>
                                    <p:spTgt spid="12"/>
                                  </p:tgtEl>
                                  <p:attrNameLst>
                                    <p:attrName>style.visibility</p:attrName>
                                  </p:attrNameLst>
                                </p:cBhvr>
                                <p:to>
                                  <p:strVal val="visible"/>
                                </p:to>
                              </p:set>
                              <p:animEffect transition="in" filter="fade">
                                <p:cBhvr>
                                  <p:cTn id="30" dur="550" fill="hold"/>
                                  <p:tgtEl>
                                    <p:spTgt spid="12"/>
                                  </p:tgtEl>
                                </p:cBhvr>
                              </p:animEffect>
                            </p:childTnLst>
                          </p:cTn>
                        </p:par>
                        <p:par>
                          <p:cTn id="31" presetID="10" presetClass="entr" presetSubtype="0" fill="hold" nodeType="withEffect">
                            <p:stCondLst>
                              <p:cond delay="100"/>
                            </p:stCondLst>
                            <p:childTnLst>
                              <p:set>
                                <p:cBhvr>
                                  <p:cTn id="32" dur="1" fill="hold"/>
                                  <p:tgtEl>
                                    <p:spTgt spid="13"/>
                                  </p:tgtEl>
                                  <p:attrNameLst>
                                    <p:attrName>style.visibility</p:attrName>
                                  </p:attrNameLst>
                                </p:cBhvr>
                                <p:to>
                                  <p:strVal val="visible"/>
                                </p:to>
                              </p:set>
                              <p:animEffect transition="in" filter="fade">
                                <p:cBhvr>
                                  <p:cTn id="33" dur="550" fill="hold"/>
                                  <p:tgtEl>
                                    <p:spTgt spid="13"/>
                                  </p:tgtEl>
                                </p:cBhvr>
                              </p:animEffect>
                            </p:childTnLst>
                          </p:cTn>
                        </p:par>
                        <p:par>
                          <p:cTn id="34" presetID="10" presetClass="entr" presetSubtype="0" fill="hold" nodeType="withEffect">
                            <p:stCondLst>
                              <p:cond delay="100"/>
                            </p:stCondLst>
                            <p:childTnLst>
                              <p:set>
                                <p:cBhvr>
                                  <p:cTn id="35" dur="1" fill="hold"/>
                                  <p:tgtEl>
                                    <p:spTgt spid="14"/>
                                  </p:tgtEl>
                                  <p:attrNameLst>
                                    <p:attrName>style.visibility</p:attrName>
                                  </p:attrNameLst>
                                </p:cBhvr>
                                <p:to>
                                  <p:strVal val="visible"/>
                                </p:to>
                              </p:set>
                              <p:animEffect transition="in" filter="fade">
                                <p:cBhvr>
                                  <p:cTn id="36" dur="550" fill="hold"/>
                                  <p:tgtEl>
                                    <p:spTgt spid="14"/>
                                  </p:tgtEl>
                                </p:cBhvr>
                              </p:animEffect>
                            </p:childTnLst>
                          </p:cTn>
                        </p:par>
                        <p:par>
                          <p:cTn id="37" presetID="10" presetClass="entr" presetSubtype="0" fill="hold" nodeType="withEffect">
                            <p:stCondLst>
                              <p:cond delay="100"/>
                            </p:stCondLst>
                            <p:childTnLst>
                              <p:set>
                                <p:cBhvr>
                                  <p:cTn id="38" dur="1" fill="hold"/>
                                  <p:tgtEl>
                                    <p:spTgt spid="15"/>
                                  </p:tgtEl>
                                  <p:attrNameLst>
                                    <p:attrName>style.visibility</p:attrName>
                                  </p:attrNameLst>
                                </p:cBhvr>
                                <p:to>
                                  <p:strVal val="visible"/>
                                </p:to>
                              </p:set>
                              <p:animEffect transition="in" filter="fade">
                                <p:cBhvr>
                                  <p:cTn id="39" dur="550" fill="hold"/>
                                  <p:tgtEl>
                                    <p:spTgt spid="15"/>
                                  </p:tgtEl>
                                </p:cBhvr>
                              </p:animEffect>
                            </p:childTnLst>
                          </p:cTn>
                        </p:par>
                        <p:par>
                          <p:cTn id="40" presetID="10" presetClass="entr" presetSubtype="0" fill="hold" nodeType="withEffect">
                            <p:stCondLst>
                              <p:cond delay="100"/>
                            </p:stCondLst>
                            <p:childTnLst>
                              <p:set>
                                <p:cBhvr>
                                  <p:cTn id="41" dur="1" fill="hold"/>
                                  <p:tgtEl>
                                    <p:spTgt spid="16"/>
                                  </p:tgtEl>
                                  <p:attrNameLst>
                                    <p:attrName>style.visibility</p:attrName>
                                  </p:attrNameLst>
                                </p:cBhvr>
                                <p:to>
                                  <p:strVal val="visible"/>
                                </p:to>
                              </p:set>
                              <p:animEffect transition="in" filter="fade">
                                <p:cBhvr>
                                  <p:cTn id="42" dur="550" fill="hold"/>
                                  <p:tgtEl>
                                    <p:spTgt spid="16"/>
                                  </p:tgtEl>
                                </p:cBhvr>
                              </p:animEffect>
                            </p:childTnLst>
                          </p:cTn>
                        </p:par>
                        <p:par>
                          <p:cTn id="43" presetID="10" presetClass="entr" presetSubtype="0" fill="hold" nodeType="withEffect">
                            <p:stCondLst>
                              <p:cond delay="100"/>
                            </p:stCondLst>
                            <p:childTnLst>
                              <p:set>
                                <p:cBhvr>
                                  <p:cTn id="44" dur="1" fill="hold"/>
                                  <p:tgtEl>
                                    <p:spTgt spid="17"/>
                                  </p:tgtEl>
                                  <p:attrNameLst>
                                    <p:attrName>style.visibility</p:attrName>
                                  </p:attrNameLst>
                                </p:cBhvr>
                                <p:to>
                                  <p:strVal val="visible"/>
                                </p:to>
                              </p:set>
                              <p:animEffect transition="in" filter="fade">
                                <p:cBhvr>
                                  <p:cTn id="45" dur="550" fill="hold"/>
                                  <p:tgtEl>
                                    <p:spTgt spid="17"/>
                                  </p:tgtEl>
                                </p:cBhvr>
                              </p:animEffect>
                            </p:childTnLst>
                          </p:cTn>
                        </p:par>
                        <p:par>
                          <p:cTn id="46" presetID="10" presetClass="entr" presetSubtype="0" fill="hold" nodeType="withEffect">
                            <p:stCondLst>
                              <p:cond delay="100"/>
                            </p:stCondLst>
                            <p:childTnLst>
                              <p:set>
                                <p:cBhvr>
                                  <p:cTn id="47" dur="1" fill="hold"/>
                                  <p:tgtEl>
                                    <p:spTgt spid="18"/>
                                  </p:tgtEl>
                                  <p:attrNameLst>
                                    <p:attrName>style.visibility</p:attrName>
                                  </p:attrNameLst>
                                </p:cBhvr>
                                <p:to>
                                  <p:strVal val="visible"/>
                                </p:to>
                              </p:set>
                              <p:animEffect transition="in" filter="fade">
                                <p:cBhvr>
                                  <p:cTn id="48" dur="550" fill="hold"/>
                                  <p:tgtEl>
                                    <p:spTgt spid="18"/>
                                  </p:tgtEl>
                                </p:cBhvr>
                              </p:animEffect>
                            </p:childTnLst>
                          </p:cTn>
                        </p:par>
                        <p:par>
                          <p:cTn id="49" presetID="10" presetClass="entr" presetSubtype="0" fill="hold" nodeType="withEffect">
                            <p:stCondLst>
                              <p:cond delay="100"/>
                            </p:stCondLst>
                            <p:childTnLst>
                              <p:set>
                                <p:cBhvr>
                                  <p:cTn id="50" dur="1" fill="hold"/>
                                  <p:tgtEl>
                                    <p:spTgt spid="19"/>
                                  </p:tgtEl>
                                  <p:attrNameLst>
                                    <p:attrName>style.visibility</p:attrName>
                                  </p:attrNameLst>
                                </p:cBhvr>
                                <p:to>
                                  <p:strVal val="visible"/>
                                </p:to>
                              </p:set>
                              <p:animEffect transition="in" filter="fade">
                                <p:cBhvr>
                                  <p:cTn id="51" dur="550" fill="hold"/>
                                  <p:tgtEl>
                                    <p:spTgt spid="19"/>
                                  </p:tgtEl>
                                </p:cBhvr>
                              </p:animEffect>
                            </p:childTnLst>
                          </p:cTn>
                        </p:par>
                        <p:par>
                          <p:cTn id="52" presetID="10" presetClass="entr" presetSubtype="0" fill="hold" nodeType="withEffect">
                            <p:stCondLst>
                              <p:cond delay="100"/>
                            </p:stCondLst>
                            <p:childTnLst>
                              <p:set>
                                <p:cBhvr>
                                  <p:cTn id="53" dur="1" fill="hold"/>
                                  <p:tgtEl>
                                    <p:spTgt spid="20"/>
                                  </p:tgtEl>
                                  <p:attrNameLst>
                                    <p:attrName>style.visibility</p:attrName>
                                  </p:attrNameLst>
                                </p:cBhvr>
                                <p:to>
                                  <p:strVal val="visible"/>
                                </p:to>
                              </p:set>
                              <p:animEffect transition="in" filter="fade">
                                <p:cBhvr>
                                  <p:cTn id="54" dur="550" fill="hold"/>
                                  <p:tgtEl>
                                    <p:spTgt spid="20"/>
                                  </p:tgtEl>
                                </p:cBhvr>
                              </p:animEffect>
                            </p:childTnLst>
                          </p:cTn>
                        </p:par>
                        <p:par>
                          <p:cTn id="55" presetID="10" presetClass="entr" presetSubtype="0" fill="hold" nodeType="withEffect">
                            <p:stCondLst>
                              <p:cond delay="100"/>
                            </p:stCondLst>
                            <p:childTnLst>
                              <p:set>
                                <p:cBhvr>
                                  <p:cTn id="56" dur="1" fill="hold"/>
                                  <p:tgtEl>
                                    <p:spTgt spid="21"/>
                                  </p:tgtEl>
                                  <p:attrNameLst>
                                    <p:attrName>style.visibility</p:attrName>
                                  </p:attrNameLst>
                                </p:cBhvr>
                                <p:to>
                                  <p:strVal val="visible"/>
                                </p:to>
                              </p:set>
                              <p:animEffect transition="in" filter="fade">
                                <p:cBhvr>
                                  <p:cTn id="57" dur="550" fill="hold"/>
                                  <p:tgtEl>
                                    <p:spTgt spid="21"/>
                                  </p:tgtEl>
                                </p:cBhvr>
                              </p:animEffect>
                            </p:childTnLst>
                          </p:cTn>
                        </p:par>
                        <p:par>
                          <p:cTn id="58" presetID="10" presetClass="entr" presetSubtype="0" fill="hold" nodeType="withEffect">
                            <p:stCondLst>
                              <p:cond delay="100"/>
                            </p:stCondLst>
                            <p:childTnLst>
                              <p:set>
                                <p:cBhvr>
                                  <p:cTn id="59" dur="1" fill="hold"/>
                                  <p:tgtEl>
                                    <p:spTgt spid="22"/>
                                  </p:tgtEl>
                                  <p:attrNameLst>
                                    <p:attrName>style.visibility</p:attrName>
                                  </p:attrNameLst>
                                </p:cBhvr>
                                <p:to>
                                  <p:strVal val="visible"/>
                                </p:to>
                              </p:set>
                              <p:animEffect transition="in" filter="fade">
                                <p:cBhvr>
                                  <p:cTn id="60" dur="550" fill="hold"/>
                                  <p:tgtEl>
                                    <p:spTgt spid="22"/>
                                  </p:tgtEl>
                                </p:cBhvr>
                              </p:animEffect>
                            </p:childTnLst>
                          </p:cTn>
                        </p:par>
                        <p:par>
                          <p:cTn id="61" presetID="10" presetClass="entr" presetSubtype="0" fill="hold" nodeType="withEffect">
                            <p:stCondLst>
                              <p:cond delay="100"/>
                            </p:stCondLst>
                            <p:childTnLst>
                              <p:set>
                                <p:cBhvr>
                                  <p:cTn id="62" dur="1" fill="hold"/>
                                  <p:tgtEl>
                                    <p:spTgt spid="23"/>
                                  </p:tgtEl>
                                  <p:attrNameLst>
                                    <p:attrName>style.visibility</p:attrName>
                                  </p:attrNameLst>
                                </p:cBhvr>
                                <p:to>
                                  <p:strVal val="visible"/>
                                </p:to>
                              </p:set>
                              <p:animEffect transition="in" filter="fade">
                                <p:cBhvr>
                                  <p:cTn id="63" dur="550" fill="hold"/>
                                  <p:tgtEl>
                                    <p:spTgt spid="23"/>
                                  </p:tgtEl>
                                </p:cBhvr>
                              </p:animEffect>
                            </p:childTnLst>
                          </p:cTn>
                        </p:par>
                        <p:par>
                          <p:cTn id="64" presetID="10" presetClass="entr" presetSubtype="0" fill="hold" nodeType="withEffect">
                            <p:stCondLst>
                              <p:cond delay="100"/>
                            </p:stCondLst>
                            <p:childTnLst>
                              <p:set>
                                <p:cBhvr>
                                  <p:cTn id="65" dur="1" fill="hold"/>
                                  <p:tgtEl>
                                    <p:spTgt spid="24"/>
                                  </p:tgtEl>
                                  <p:attrNameLst>
                                    <p:attrName>style.visibility</p:attrName>
                                  </p:attrNameLst>
                                </p:cBhvr>
                                <p:to>
                                  <p:strVal val="visible"/>
                                </p:to>
                              </p:set>
                              <p:animEffect transition="in" filter="fade">
                                <p:cBhvr>
                                  <p:cTn id="66" dur="550" fill="hold"/>
                                  <p:tgtEl>
                                    <p:spTgt spid="24"/>
                                  </p:tgtEl>
                                </p:cBhvr>
                              </p:animEffect>
                            </p:childTnLst>
                          </p:cTn>
                        </p:par>
                        <p:par>
                          <p:cTn id="67" presetID="10" presetClass="entr" presetSubtype="0" fill="hold" nodeType="withEffect">
                            <p:stCondLst>
                              <p:cond delay="100"/>
                            </p:stCondLst>
                            <p:childTnLst>
                              <p:set>
                                <p:cBhvr>
                                  <p:cTn id="68" dur="1" fill="hold"/>
                                  <p:tgtEl>
                                    <p:spTgt spid="25"/>
                                  </p:tgtEl>
                                  <p:attrNameLst>
                                    <p:attrName>style.visibility</p:attrName>
                                  </p:attrNameLst>
                                </p:cBhvr>
                                <p:to>
                                  <p:strVal val="visible"/>
                                </p:to>
                              </p:set>
                              <p:animEffect transition="in" filter="fade">
                                <p:cBhvr>
                                  <p:cTn id="69" dur="550" fill="hold"/>
                                  <p:tgtEl>
                                    <p:spTgt spid="25"/>
                                  </p:tgtEl>
                                </p:cBhvr>
                              </p:animEffect>
                            </p:childTnLst>
                          </p:cTn>
                        </p:par>
                        <p:par>
                          <p:cTn id="70" presetID="10" presetClass="entr" presetSubtype="0" fill="hold" nodeType="withEffect">
                            <p:stCondLst>
                              <p:cond delay="700"/>
                            </p:stCondLst>
                            <p:childTnLst>
                              <p:set>
                                <p:cBhvr>
                                  <p:cTn id="71" dur="1" fill="hold"/>
                                  <p:tgtEl>
                                    <p:spTgt spid="26"/>
                                  </p:tgtEl>
                                  <p:attrNameLst>
                                    <p:attrName>style.visibility</p:attrName>
                                  </p:attrNameLst>
                                </p:cBhvr>
                                <p:to>
                                  <p:strVal val="visible"/>
                                </p:to>
                              </p:set>
                              <p:animEffect transition="in" filter="fade">
                                <p:cBhvr>
                                  <p:cTn id="72" dur="550" fill="hold"/>
                                  <p:tgtEl>
                                    <p:spTgt spid="26"/>
                                  </p:tgtEl>
                                </p:cBhvr>
                              </p:animEffect>
                            </p:childTnLst>
                          </p:cTn>
                        </p:par>
                        <p:par>
                          <p:cTn id="73" presetID="10" presetClass="entr" presetSubtype="0" fill="hold" nodeType="withEffect">
                            <p:stCondLst>
                              <p:cond delay="700"/>
                            </p:stCondLst>
                            <p:childTnLst>
                              <p:set>
                                <p:cBhvr>
                                  <p:cTn id="74" dur="1" fill="hold"/>
                                  <p:tgtEl>
                                    <p:spTgt spid="27"/>
                                  </p:tgtEl>
                                  <p:attrNameLst>
                                    <p:attrName>style.visibility</p:attrName>
                                  </p:attrNameLst>
                                </p:cBhvr>
                                <p:to>
                                  <p:strVal val="visible"/>
                                </p:to>
                              </p:set>
                              <p:animEffect transition="in" filter="fade">
                                <p:cBhvr>
                                  <p:cTn id="75" dur="550" fill="hold"/>
                                  <p:tgtEl>
                                    <p:spTgt spid="27"/>
                                  </p:tgtEl>
                                </p:cBhvr>
                              </p:animEffect>
                            </p:childTnLst>
                          </p:cTn>
                        </p:par>
                        <p:par>
                          <p:cTn id="76" presetID="10" presetClass="entr" presetSubtype="0" fill="hold" nodeType="withEffect">
                            <p:stCondLst>
                              <p:cond delay="700"/>
                            </p:stCondLst>
                            <p:childTnLst>
                              <p:set>
                                <p:cBhvr>
                                  <p:cTn id="77" dur="1" fill="hold"/>
                                  <p:tgtEl>
                                    <p:spTgt spid="28"/>
                                  </p:tgtEl>
                                  <p:attrNameLst>
                                    <p:attrName>style.visibility</p:attrName>
                                  </p:attrNameLst>
                                </p:cBhvr>
                                <p:to>
                                  <p:strVal val="visible"/>
                                </p:to>
                              </p:set>
                              <p:animEffect transition="in" filter="fade">
                                <p:cBhvr>
                                  <p:cTn id="78" dur="550" fill="hold"/>
                                  <p:tgtEl>
                                    <p:spTgt spid="28"/>
                                  </p:tgtEl>
                                </p:cBhvr>
                              </p:animEffect>
                            </p:childTnLst>
                          </p:cTn>
                        </p:par>
                        <p:par>
                          <p:cTn id="79" presetID="10" presetClass="entr" presetSubtype="0" fill="hold" nodeType="withEffect">
                            <p:stCondLst>
                              <p:cond delay="700"/>
                            </p:stCondLst>
                            <p:childTnLst>
                              <p:set>
                                <p:cBhvr>
                                  <p:cTn id="80" dur="1" fill="hold"/>
                                  <p:tgtEl>
                                    <p:spTgt spid="29"/>
                                  </p:tgtEl>
                                  <p:attrNameLst>
                                    <p:attrName>style.visibility</p:attrName>
                                  </p:attrNameLst>
                                </p:cBhvr>
                                <p:to>
                                  <p:strVal val="visible"/>
                                </p:to>
                              </p:set>
                              <p:animEffect transition="in" filter="fade">
                                <p:cBhvr>
                                  <p:cTn id="81" dur="550" fill="hold"/>
                                  <p:tgtEl>
                                    <p:spTgt spid="29"/>
                                  </p:tgtEl>
                                </p:cBhvr>
                              </p:animEffect>
                            </p:childTnLst>
                          </p:cTn>
                        </p:par>
                        <p:par>
                          <p:cTn id="82" presetID="10" presetClass="entr" presetSubtype="0" fill="hold" nodeType="withEffect">
                            <p:stCondLst>
                              <p:cond delay="700"/>
                            </p:stCondLst>
                            <p:childTnLst>
                              <p:set>
                                <p:cBhvr>
                                  <p:cTn id="83" dur="1" fill="hold"/>
                                  <p:tgtEl>
                                    <p:spTgt spid="30"/>
                                  </p:tgtEl>
                                  <p:attrNameLst>
                                    <p:attrName>style.visibility</p:attrName>
                                  </p:attrNameLst>
                                </p:cBhvr>
                                <p:to>
                                  <p:strVal val="visible"/>
                                </p:to>
                              </p:set>
                              <p:animEffect transition="in" filter="fade">
                                <p:cBhvr>
                                  <p:cTn id="84" dur="550" fill="hold"/>
                                  <p:tgtEl>
                                    <p:spTgt spid="30"/>
                                  </p:tgtEl>
                                </p:cBhvr>
                              </p:animEffect>
                            </p:childTnLst>
                          </p:cTn>
                        </p:par>
                        <p:par>
                          <p:cTn id="85" presetID="10" presetClass="entr" presetSubtype="0" fill="hold" nodeType="withEffect">
                            <p:stCondLst>
                              <p:cond delay="700"/>
                            </p:stCondLst>
                            <p:childTnLst>
                              <p:set>
                                <p:cBhvr>
                                  <p:cTn id="86" dur="1" fill="hold"/>
                                  <p:tgtEl>
                                    <p:spTgt spid="31"/>
                                  </p:tgtEl>
                                  <p:attrNameLst>
                                    <p:attrName>style.visibility</p:attrName>
                                  </p:attrNameLst>
                                </p:cBhvr>
                                <p:to>
                                  <p:strVal val="visible"/>
                                </p:to>
                              </p:set>
                              <p:animEffect transition="in" filter="fade">
                                <p:cBhvr>
                                  <p:cTn id="87" dur="550" fill="hold"/>
                                  <p:tgtEl>
                                    <p:spTgt spid="31"/>
                                  </p:tgtEl>
                                </p:cBhvr>
                              </p:animEffect>
                            </p:childTnLst>
                          </p:cTn>
                        </p:par>
                        <p:par>
                          <p:cTn id="88" presetID="10" presetClass="entr" presetSubtype="0" fill="hold" nodeType="withEffect">
                            <p:stCondLst>
                              <p:cond delay="700"/>
                            </p:stCondLst>
                            <p:childTnLst>
                              <p:set>
                                <p:cBhvr>
                                  <p:cTn id="89" dur="1" fill="hold"/>
                                  <p:tgtEl>
                                    <p:spTgt spid="32"/>
                                  </p:tgtEl>
                                  <p:attrNameLst>
                                    <p:attrName>style.visibility</p:attrName>
                                  </p:attrNameLst>
                                </p:cBhvr>
                                <p:to>
                                  <p:strVal val="visible"/>
                                </p:to>
                              </p:set>
                              <p:animEffect transition="in" filter="fade">
                                <p:cBhvr>
                                  <p:cTn id="90" dur="550" fill="hold"/>
                                  <p:tgtEl>
                                    <p:spTgt spid="32"/>
                                  </p:tgtEl>
                                </p:cBhvr>
                              </p:animEffect>
                            </p:childTnLst>
                          </p:cTn>
                        </p:par>
                        <p:par>
                          <p:cTn id="91" presetID="10" presetClass="entr" presetSubtype="0" fill="hold" nodeType="withEffect">
                            <p:stCondLst>
                              <p:cond delay="700"/>
                            </p:stCondLst>
                            <p:childTnLst>
                              <p:set>
                                <p:cBhvr>
                                  <p:cTn id="92" dur="1" fill="hold"/>
                                  <p:tgtEl>
                                    <p:spTgt spid="33"/>
                                  </p:tgtEl>
                                  <p:attrNameLst>
                                    <p:attrName>style.visibility</p:attrName>
                                  </p:attrNameLst>
                                </p:cBhvr>
                                <p:to>
                                  <p:strVal val="visible"/>
                                </p:to>
                              </p:set>
                              <p:animEffect transition="in" filter="fade">
                                <p:cBhvr>
                                  <p:cTn id="93" dur="550" fill="hold"/>
                                  <p:tgtEl>
                                    <p:spTgt spid="33"/>
                                  </p:tgtEl>
                                </p:cBhvr>
                              </p:animEffect>
                            </p:childTnLst>
                          </p:cTn>
                        </p:par>
                        <p:par>
                          <p:cTn id="94" presetID="10" presetClass="entr" presetSubtype="0" fill="hold" nodeType="withEffect">
                            <p:stCondLst>
                              <p:cond delay="700"/>
                            </p:stCondLst>
                            <p:childTnLst>
                              <p:set>
                                <p:cBhvr>
                                  <p:cTn id="95" dur="1" fill="hold"/>
                                  <p:tgtEl>
                                    <p:spTgt spid="34"/>
                                  </p:tgtEl>
                                  <p:attrNameLst>
                                    <p:attrName>style.visibility</p:attrName>
                                  </p:attrNameLst>
                                </p:cBhvr>
                                <p:to>
                                  <p:strVal val="visible"/>
                                </p:to>
                              </p:set>
                              <p:animEffect transition="in" filter="fade">
                                <p:cBhvr>
                                  <p:cTn id="96" dur="550" fill="hold"/>
                                  <p:tgtEl>
                                    <p:spTgt spid="34"/>
                                  </p:tgtEl>
                                </p:cBhvr>
                              </p:animEffect>
                            </p:childTnLst>
                          </p:cTn>
                        </p:par>
                        <p:par>
                          <p:cTn id="97" presetID="10" presetClass="entr" presetSubtype="0" fill="hold" nodeType="withEffect">
                            <p:stCondLst>
                              <p:cond delay="700"/>
                            </p:stCondLst>
                            <p:childTnLst>
                              <p:set>
                                <p:cBhvr>
                                  <p:cTn id="98" dur="1" fill="hold"/>
                                  <p:tgtEl>
                                    <p:spTgt spid="35"/>
                                  </p:tgtEl>
                                  <p:attrNameLst>
                                    <p:attrName>style.visibility</p:attrName>
                                  </p:attrNameLst>
                                </p:cBhvr>
                                <p:to>
                                  <p:strVal val="visible"/>
                                </p:to>
                              </p:set>
                              <p:animEffect transition="in" filter="fade">
                                <p:cBhvr>
                                  <p:cTn id="99" dur="550" fill="hold"/>
                                  <p:tgtEl>
                                    <p:spTgt spid="35"/>
                                  </p:tgtEl>
                                </p:cBhvr>
                              </p:animEffect>
                            </p:childTnLst>
                          </p:cTn>
                        </p:par>
                        <p:par>
                          <p:cTn id="100" presetID="10" presetClass="entr" presetSubtype="0" fill="hold" nodeType="withEffect">
                            <p:stCondLst>
                              <p:cond delay="700"/>
                            </p:stCondLst>
                            <p:childTnLst>
                              <p:set>
                                <p:cBhvr>
                                  <p:cTn id="101" dur="1" fill="hold"/>
                                  <p:tgtEl>
                                    <p:spTgt spid="36"/>
                                  </p:tgtEl>
                                  <p:attrNameLst>
                                    <p:attrName>style.visibility</p:attrName>
                                  </p:attrNameLst>
                                </p:cBhvr>
                                <p:to>
                                  <p:strVal val="visible"/>
                                </p:to>
                              </p:set>
                              <p:animEffect transition="in" filter="fade">
                                <p:cBhvr>
                                  <p:cTn id="102" dur="550" fill="hold"/>
                                  <p:tgtEl>
                                    <p:spTgt spid="36"/>
                                  </p:tgtEl>
                                </p:cBhvr>
                              </p:animEffect>
                            </p:childTnLst>
                          </p:cTn>
                        </p:par>
                        <p:par>
                          <p:cTn id="103" presetID="10" presetClass="entr" presetSubtype="0" fill="hold" nodeType="withEffect">
                            <p:stCondLst>
                              <p:cond delay="700"/>
                            </p:stCondLst>
                            <p:childTnLst>
                              <p:set>
                                <p:cBhvr>
                                  <p:cTn id="104" dur="1" fill="hold"/>
                                  <p:tgtEl>
                                    <p:spTgt spid="37"/>
                                  </p:tgtEl>
                                  <p:attrNameLst>
                                    <p:attrName>style.visibility</p:attrName>
                                  </p:attrNameLst>
                                </p:cBhvr>
                                <p:to>
                                  <p:strVal val="visible"/>
                                </p:to>
                              </p:set>
                              <p:animEffect transition="in" filter="fade">
                                <p:cBhvr>
                                  <p:cTn id="105" dur="550" fill="hold"/>
                                  <p:tgtEl>
                                    <p:spTgt spid="37"/>
                                  </p:tgtEl>
                                </p:cBhvr>
                              </p:animEffect>
                            </p:childTnLst>
                          </p:cTn>
                        </p:par>
                        <p:par>
                          <p:cTn id="106" presetID="10" presetClass="entr" presetSubtype="0" fill="hold" nodeType="withEffect">
                            <p:stCondLst>
                              <p:cond delay="700"/>
                            </p:stCondLst>
                            <p:childTnLst>
                              <p:set>
                                <p:cBhvr>
                                  <p:cTn id="107" dur="1" fill="hold"/>
                                  <p:tgtEl>
                                    <p:spTgt spid="38"/>
                                  </p:tgtEl>
                                  <p:attrNameLst>
                                    <p:attrName>style.visibility</p:attrName>
                                  </p:attrNameLst>
                                </p:cBhvr>
                                <p:to>
                                  <p:strVal val="visible"/>
                                </p:to>
                              </p:set>
                              <p:animEffect transition="in" filter="fade">
                                <p:cBhvr>
                                  <p:cTn id="108" dur="550" fill="hold"/>
                                  <p:tgtEl>
                                    <p:spTgt spid="38"/>
                                  </p:tgtEl>
                                </p:cBhvr>
                              </p:animEffect>
                            </p:childTnLst>
                          </p:cTn>
                        </p:par>
                        <p:par>
                          <p:cTn id="109" presetID="10" presetClass="entr" presetSubtype="0" fill="hold" nodeType="withEffect">
                            <p:stCondLst>
                              <p:cond delay="700"/>
                            </p:stCondLst>
                            <p:childTnLst>
                              <p:set>
                                <p:cBhvr>
                                  <p:cTn id="110" dur="1" fill="hold"/>
                                  <p:tgtEl>
                                    <p:spTgt spid="39"/>
                                  </p:tgtEl>
                                  <p:attrNameLst>
                                    <p:attrName>style.visibility</p:attrName>
                                  </p:attrNameLst>
                                </p:cBhvr>
                                <p:to>
                                  <p:strVal val="visible"/>
                                </p:to>
                              </p:set>
                              <p:animEffect transition="in" filter="fade">
                                <p:cBhvr>
                                  <p:cTn id="111" dur="550" fill="hold"/>
                                  <p:tgtEl>
                                    <p:spTgt spid="39"/>
                                  </p:tgtEl>
                                </p:cBhvr>
                              </p:animEffect>
                            </p:childTnLst>
                          </p:cTn>
                        </p:par>
                        <p:par>
                          <p:cTn id="112" presetID="10" presetClass="entr" presetSubtype="0" fill="hold" nodeType="withEffect">
                            <p:stCondLst>
                              <p:cond delay="700"/>
                            </p:stCondLst>
                            <p:childTnLst>
                              <p:set>
                                <p:cBhvr>
                                  <p:cTn id="113" dur="1" fill="hold"/>
                                  <p:tgtEl>
                                    <p:spTgt spid="40"/>
                                  </p:tgtEl>
                                  <p:attrNameLst>
                                    <p:attrName>style.visibility</p:attrName>
                                  </p:attrNameLst>
                                </p:cBhvr>
                                <p:to>
                                  <p:strVal val="visible"/>
                                </p:to>
                              </p:set>
                              <p:animEffect transition="in" filter="fade">
                                <p:cBhvr>
                                  <p:cTn id="114" dur="550" fill="hold"/>
                                  <p:tgtEl>
                                    <p:spTgt spid="40"/>
                                  </p:tgtEl>
                                </p:cBhvr>
                              </p:animEffect>
                            </p:childTnLst>
                          </p:cTn>
                        </p:par>
                        <p:par>
                          <p:cTn id="115" presetID="10" presetClass="entr" presetSubtype="0" fill="hold" nodeType="withEffect">
                            <p:stCondLst>
                              <p:cond delay="700"/>
                            </p:stCondLst>
                            <p:childTnLst>
                              <p:set>
                                <p:cBhvr>
                                  <p:cTn id="116" dur="1" fill="hold"/>
                                  <p:tgtEl>
                                    <p:spTgt spid="41"/>
                                  </p:tgtEl>
                                  <p:attrNameLst>
                                    <p:attrName>style.visibility</p:attrName>
                                  </p:attrNameLst>
                                </p:cBhvr>
                                <p:to>
                                  <p:strVal val="visible"/>
                                </p:to>
                              </p:set>
                              <p:animEffect transition="in" filter="fade">
                                <p:cBhvr>
                                  <p:cTn id="117" dur="550" fill="hold"/>
                                  <p:tgtEl>
                                    <p:spTgt spid="41"/>
                                  </p:tgtEl>
                                </p:cBhvr>
                              </p:animEffect>
                            </p:childTnLst>
                          </p:cTn>
                        </p:par>
                        <p:par>
                          <p:cTn id="118" presetID="10" presetClass="entr" presetSubtype="0" fill="hold" nodeType="withEffect">
                            <p:stCondLst>
                              <p:cond delay="700"/>
                            </p:stCondLst>
                            <p:childTnLst>
                              <p:set>
                                <p:cBhvr>
                                  <p:cTn id="119" dur="1" fill="hold"/>
                                  <p:tgtEl>
                                    <p:spTgt spid="42"/>
                                  </p:tgtEl>
                                  <p:attrNameLst>
                                    <p:attrName>style.visibility</p:attrName>
                                  </p:attrNameLst>
                                </p:cBhvr>
                                <p:to>
                                  <p:strVal val="visible"/>
                                </p:to>
                              </p:set>
                              <p:animEffect transition="in" filter="fade">
                                <p:cBhvr>
                                  <p:cTn id="120" dur="550" fill="hold"/>
                                  <p:tgtEl>
                                    <p:spTgt spid="42"/>
                                  </p:tgtEl>
                                </p:cBhvr>
                              </p:animEffect>
                            </p:childTnLst>
                          </p:cTn>
                        </p:par>
                        <p:par>
                          <p:cTn id="121" presetID="10" presetClass="entr" presetSubtype="0" fill="hold" nodeType="withEffect">
                            <p:stCondLst>
                              <p:cond delay="700"/>
                            </p:stCondLst>
                            <p:childTnLst>
                              <p:set>
                                <p:cBhvr>
                                  <p:cTn id="122" dur="1" fill="hold"/>
                                  <p:tgtEl>
                                    <p:spTgt spid="43"/>
                                  </p:tgtEl>
                                  <p:attrNameLst>
                                    <p:attrName>style.visibility</p:attrName>
                                  </p:attrNameLst>
                                </p:cBhvr>
                                <p:to>
                                  <p:strVal val="visible"/>
                                </p:to>
                              </p:set>
                              <p:animEffect transition="in" filter="fade">
                                <p:cBhvr>
                                  <p:cTn id="123" dur="550" fill="hold"/>
                                  <p:tgtEl>
                                    <p:spTgt spid="43"/>
                                  </p:tgtEl>
                                </p:cBhvr>
                              </p:animEffect>
                            </p:childTnLst>
                          </p:cTn>
                        </p:par>
                        <p:par>
                          <p:cTn id="124" presetID="10" presetClass="entr" presetSubtype="0" fill="hold" nodeType="withEffect">
                            <p:stCondLst>
                              <p:cond delay="700"/>
                            </p:stCondLst>
                            <p:childTnLst>
                              <p:set>
                                <p:cBhvr>
                                  <p:cTn id="125" dur="1" fill="hold"/>
                                  <p:tgtEl>
                                    <p:spTgt spid="44"/>
                                  </p:tgtEl>
                                  <p:attrNameLst>
                                    <p:attrName>style.visibility</p:attrName>
                                  </p:attrNameLst>
                                </p:cBhvr>
                                <p:to>
                                  <p:strVal val="visible"/>
                                </p:to>
                              </p:set>
                              <p:animEffect transition="in" filter="fade">
                                <p:cBhvr>
                                  <p:cTn id="126" dur="550" fill="hold"/>
                                  <p:tgtEl>
                                    <p:spTgt spid="44"/>
                                  </p:tgtEl>
                                </p:cBhvr>
                              </p:animEffect>
                            </p:childTnLst>
                          </p:cTn>
                        </p:par>
                        <p:par>
                          <p:cTn id="127" presetID="10" presetClass="entr" presetSubtype="0" fill="hold" nodeType="withEffect">
                            <p:stCondLst>
                              <p:cond delay="700"/>
                            </p:stCondLst>
                            <p:childTnLst>
                              <p:set>
                                <p:cBhvr>
                                  <p:cTn id="128" dur="1" fill="hold"/>
                                  <p:tgtEl>
                                    <p:spTgt spid="45"/>
                                  </p:tgtEl>
                                  <p:attrNameLst>
                                    <p:attrName>style.visibility</p:attrName>
                                  </p:attrNameLst>
                                </p:cBhvr>
                                <p:to>
                                  <p:strVal val="visible"/>
                                </p:to>
                              </p:set>
                              <p:animEffect transition="in" filter="fade">
                                <p:cBhvr>
                                  <p:cTn id="129" dur="550" fill="hold"/>
                                  <p:tgtEl>
                                    <p:spTgt spid="45"/>
                                  </p:tgtEl>
                                </p:cBhvr>
                              </p:animEffect>
                            </p:childTnLst>
                          </p:cTn>
                        </p:par>
                        <p:par>
                          <p:cTn id="130" presetID="10" presetClass="entr" presetSubtype="0" fill="hold" nodeType="withEffect">
                            <p:stCondLst>
                              <p:cond delay="700"/>
                            </p:stCondLst>
                            <p:childTnLst>
                              <p:set>
                                <p:cBhvr>
                                  <p:cTn id="131" dur="1" fill="hold"/>
                                  <p:tgtEl>
                                    <p:spTgt spid="46"/>
                                  </p:tgtEl>
                                  <p:attrNameLst>
                                    <p:attrName>style.visibility</p:attrName>
                                  </p:attrNameLst>
                                </p:cBhvr>
                                <p:to>
                                  <p:strVal val="visible"/>
                                </p:to>
                              </p:set>
                              <p:animEffect transition="in" filter="fade">
                                <p:cBhvr>
                                  <p:cTn id="132" dur="550" fill="hold"/>
                                  <p:tgtEl>
                                    <p:spTgt spid="46"/>
                                  </p:tgtEl>
                                </p:cBhvr>
                              </p:animEffect>
                            </p:childTnLst>
                          </p:cTn>
                        </p:par>
                        <p:par>
                          <p:cTn id="133" presetID="10" presetClass="entr" presetSubtype="0" fill="hold" nodeType="withEffect">
                            <p:stCondLst>
                              <p:cond delay="700"/>
                            </p:stCondLst>
                            <p:childTnLst>
                              <p:set>
                                <p:cBhvr>
                                  <p:cTn id="134" dur="1" fill="hold"/>
                                  <p:tgtEl>
                                    <p:spTgt spid="47"/>
                                  </p:tgtEl>
                                  <p:attrNameLst>
                                    <p:attrName>style.visibility</p:attrName>
                                  </p:attrNameLst>
                                </p:cBhvr>
                                <p:to>
                                  <p:strVal val="visible"/>
                                </p:to>
                              </p:set>
                              <p:animEffect transition="in" filter="fade">
                                <p:cBhvr>
                                  <p:cTn id="135" dur="550" fill="hold"/>
                                  <p:tgtEl>
                                    <p:spTgt spid="47"/>
                                  </p:tgtEl>
                                </p:cBhvr>
                              </p:animEffect>
                            </p:childTnLst>
                          </p:cTn>
                        </p:par>
                        <p:par>
                          <p:cTn id="136" presetID="10" presetClass="entr" presetSubtype="0" fill="hold" nodeType="withEffect">
                            <p:stCondLst>
                              <p:cond delay="700"/>
                            </p:stCondLst>
                            <p:childTnLst>
                              <p:set>
                                <p:cBhvr>
                                  <p:cTn id="137" dur="1" fill="hold"/>
                                  <p:tgtEl>
                                    <p:spTgt spid="48"/>
                                  </p:tgtEl>
                                  <p:attrNameLst>
                                    <p:attrName>style.visibility</p:attrName>
                                  </p:attrNameLst>
                                </p:cBhvr>
                                <p:to>
                                  <p:strVal val="visible"/>
                                </p:to>
                              </p:set>
                              <p:animEffect transition="in" filter="fade">
                                <p:cBhvr>
                                  <p:cTn id="138" dur="550" fill="hold"/>
                                  <p:tgtEl>
                                    <p:spTgt spid="48"/>
                                  </p:tgtEl>
                                </p:cBhvr>
                              </p:animEffect>
                            </p:childTnLst>
                          </p:cTn>
                        </p:par>
                        <p:par>
                          <p:cTn id="139" presetID="10" presetClass="entr" presetSubtype="0" fill="hold" nodeType="withEffect">
                            <p:stCondLst>
                              <p:cond delay="700"/>
                            </p:stCondLst>
                            <p:childTnLst>
                              <p:set>
                                <p:cBhvr>
                                  <p:cTn id="140" dur="1" fill="hold"/>
                                  <p:tgtEl>
                                    <p:spTgt spid="49"/>
                                  </p:tgtEl>
                                  <p:attrNameLst>
                                    <p:attrName>style.visibility</p:attrName>
                                  </p:attrNameLst>
                                </p:cBhvr>
                                <p:to>
                                  <p:strVal val="visible"/>
                                </p:to>
                              </p:set>
                              <p:animEffect transition="in" filter="fade">
                                <p:cBhvr>
                                  <p:cTn id="141" dur="550" fill="hold"/>
                                  <p:tgtEl>
                                    <p:spTgt spid="49"/>
                                  </p:tgtEl>
                                </p:cBhvr>
                              </p:animEffect>
                            </p:childTnLst>
                          </p:cTn>
                        </p:par>
                        <p:par>
                          <p:cTn id="142" presetID="10" presetClass="entr" presetSubtype="0" fill="hold" nodeType="withEffect">
                            <p:stCondLst>
                              <p:cond delay="700"/>
                            </p:stCondLst>
                            <p:childTnLst>
                              <p:set>
                                <p:cBhvr>
                                  <p:cTn id="143" dur="1" fill="hold"/>
                                  <p:tgtEl>
                                    <p:spTgt spid="50"/>
                                  </p:tgtEl>
                                  <p:attrNameLst>
                                    <p:attrName>style.visibility</p:attrName>
                                  </p:attrNameLst>
                                </p:cBhvr>
                                <p:to>
                                  <p:strVal val="visible"/>
                                </p:to>
                              </p:set>
                              <p:animEffect transition="in" filter="fade">
                                <p:cBhvr>
                                  <p:cTn id="144" dur="550" fill="hold"/>
                                  <p:tgtEl>
                                    <p:spTgt spid="50"/>
                                  </p:tgtEl>
                                </p:cBhvr>
                              </p:animEffect>
                            </p:childTnLst>
                          </p:cTn>
                        </p:par>
                        <p:par>
                          <p:cTn id="145" presetID="10" presetClass="entr" presetSubtype="0" fill="hold" nodeType="withEffect">
                            <p:stCondLst>
                              <p:cond delay="700"/>
                            </p:stCondLst>
                            <p:childTnLst>
                              <p:set>
                                <p:cBhvr>
                                  <p:cTn id="146" dur="1" fill="hold"/>
                                  <p:tgtEl>
                                    <p:spTgt spid="51"/>
                                  </p:tgtEl>
                                  <p:attrNameLst>
                                    <p:attrName>style.visibility</p:attrName>
                                  </p:attrNameLst>
                                </p:cBhvr>
                                <p:to>
                                  <p:strVal val="visible"/>
                                </p:to>
                              </p:set>
                              <p:animEffect transition="in" filter="fade">
                                <p:cBhvr>
                                  <p:cTn id="147" dur="550" fill="hold"/>
                                  <p:tgtEl>
                                    <p:spTgt spid="51"/>
                                  </p:tgtEl>
                                </p:cBhvr>
                              </p:animEffect>
                            </p:childTnLst>
                          </p:cTn>
                        </p:par>
                        <p:par>
                          <p:cTn id="148" presetID="10" presetClass="entr" presetSubtype="0" fill="hold" nodeType="withEffect">
                            <p:stCondLst>
                              <p:cond delay="700"/>
                            </p:stCondLst>
                            <p:childTnLst>
                              <p:set>
                                <p:cBhvr>
                                  <p:cTn id="149" dur="1" fill="hold"/>
                                  <p:tgtEl>
                                    <p:spTgt spid="52"/>
                                  </p:tgtEl>
                                  <p:attrNameLst>
                                    <p:attrName>style.visibility</p:attrName>
                                  </p:attrNameLst>
                                </p:cBhvr>
                                <p:to>
                                  <p:strVal val="visible"/>
                                </p:to>
                              </p:set>
                              <p:animEffect transition="in" filter="fade">
                                <p:cBhvr>
                                  <p:cTn id="150" dur="550" fill="hold"/>
                                  <p:tgtEl>
                                    <p:spTgt spid="52"/>
                                  </p:tgtEl>
                                </p:cBhvr>
                              </p:animEffect>
                            </p:childTnLst>
                          </p:cTn>
                        </p:par>
                        <p:par>
                          <p:cTn id="151" presetID="10" presetClass="entr" presetSubtype="0" fill="hold" nodeType="withEffect">
                            <p:stCondLst>
                              <p:cond delay="700"/>
                            </p:stCondLst>
                            <p:childTnLst>
                              <p:set>
                                <p:cBhvr>
                                  <p:cTn id="152" dur="1" fill="hold"/>
                                  <p:tgtEl>
                                    <p:spTgt spid="53"/>
                                  </p:tgtEl>
                                  <p:attrNameLst>
                                    <p:attrName>style.visibility</p:attrName>
                                  </p:attrNameLst>
                                </p:cBhvr>
                                <p:to>
                                  <p:strVal val="visible"/>
                                </p:to>
                              </p:set>
                              <p:animEffect transition="in" filter="fade">
                                <p:cBhvr>
                                  <p:cTn id="153" dur="550" fill="hold"/>
                                  <p:tgtEl>
                                    <p:spTgt spid="53"/>
                                  </p:tgtEl>
                                </p:cBhvr>
                              </p:animEffect>
                            </p:childTnLst>
                          </p:cTn>
                        </p:par>
                        <p:par>
                          <p:cTn id="154" presetID="10" presetClass="entr" presetSubtype="0" fill="hold" nodeType="withEffect">
                            <p:stCondLst>
                              <p:cond delay="1300"/>
                            </p:stCondLst>
                            <p:childTnLst>
                              <p:set>
                                <p:cBhvr>
                                  <p:cTn id="155" dur="1" fill="hold"/>
                                  <p:tgtEl>
                                    <p:spTgt spid="54"/>
                                  </p:tgtEl>
                                  <p:attrNameLst>
                                    <p:attrName>style.visibility</p:attrName>
                                  </p:attrNameLst>
                                </p:cBhvr>
                                <p:to>
                                  <p:strVal val="visible"/>
                                </p:to>
                              </p:set>
                              <p:animEffect transition="in" filter="fade">
                                <p:cBhvr>
                                  <p:cTn id="156" dur="550" fill="hold"/>
                                  <p:tgtEl>
                                    <p:spTgt spid="54"/>
                                  </p:tgtEl>
                                </p:cBhvr>
                              </p:animEffect>
                            </p:childTnLst>
                          </p:cTn>
                        </p:par>
                        <p:par>
                          <p:cTn id="157" presetID="10" presetClass="entr" presetSubtype="0" fill="hold" nodeType="withEffect">
                            <p:stCondLst>
                              <p:cond delay="1300"/>
                            </p:stCondLst>
                            <p:childTnLst>
                              <p:set>
                                <p:cBhvr>
                                  <p:cTn id="158" dur="1" fill="hold"/>
                                  <p:tgtEl>
                                    <p:spTgt spid="55"/>
                                  </p:tgtEl>
                                  <p:attrNameLst>
                                    <p:attrName>style.visibility</p:attrName>
                                  </p:attrNameLst>
                                </p:cBhvr>
                                <p:to>
                                  <p:strVal val="visible"/>
                                </p:to>
                              </p:set>
                              <p:animEffect transition="in" filter="fade">
                                <p:cBhvr>
                                  <p:cTn id="159" dur="550" fill="hold"/>
                                  <p:tgtEl>
                                    <p:spTgt spid="5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F2F3EB"/>
        </a:solidFill>
      </p:bgPr>
    </p:bg>
    <p:spTree>
      <p:nvGrpSpPr>
        <p:cNvPr id="1" name=""/>
        <p:cNvGrpSpPr/>
        <p:nvPr/>
      </p:nvGrpSpPr>
      <p:grpSpPr>
        <a:xfrm xmlns:a="http://schemas.openxmlformats.org/drawingml/2006/main"/>
      </p:grpSpPr>
      <p:sp>
        <p:nvSpPr>
          <p:cNvPr id="31" name="page">
            <a:extLst xmlns:a="http://schemas.openxmlformats.org/drawingml/2006/main">
              <a:ext uri="{FF2B5EF4-FFF2-40B4-BE49-F238E27FC236}">
                <a16:creationId xmlns:a16="http://schemas.microsoft.com/office/drawing/2014/main" id="{973A5675-34B1-483B-ABC7-C4DB26178F25}"/>
              </a:ext>
            </a:extLst>
          </p:cNvPr>
          <p:cNvSpPr>
            <a:spLocks xmlns:a="http://schemas.openxmlformats.org/drawingml/2006/main" noGrp="1"/>
          </p:cNvSpPr>
          <p:nvPr/>
        </p:nvSpPr>
        <p:spPr>
          <a:xfrm xmlns:a="http://schemas.openxmlformats.org/drawingml/2006/main">
            <a:off x="11239500" y="62579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06377"/>
                </a:solidFill>
                <a:latin typeface="Helvetica Neue"/>
                <a:ea typeface="Helvetica Neue"/>
                <a:cs typeface="Helvetica Neue"/>
              </a:defRPr>
            </a:defPPr>
          </a:lstStyle>
          <a:p xmlns:a="http://schemas.openxmlformats.org/drawingml/2006/main">
            <a:pPr algn="r">
              <a:defRPr sz="1200" b="0">
                <a:solidFill>
                  <a:srgbClr val="506377"/>
                </a:solidFill>
                <a:latin typeface="Helvetica Neue"/>
                <a:ea typeface="Helvetica Neue"/>
                <a:cs typeface="Helvetica Neue"/>
              </a:defRPr>
            </a:pPr>
            <a:r>
              <a:rPr sz="1200" b="0">
                <a:solidFill>
                  <a:srgbClr val="506377"/>
                </a:solidFill>
                <a:latin typeface="Helvetica Neue"/>
                <a:ea typeface="Helvetica Neue"/>
                <a:cs typeface="Helvetica Neue"/>
              </a:rPr>
              <a:t>04</a:t>
            </a:r>
          </a:p>
        </p:txBody>
      </p:sp>
      <p:sp>
        <p:nvSpPr>
          <p:cNvPr id="2" name="section">
            <a:extLst xmlns:a="http://schemas.openxmlformats.org/drawingml/2006/main">
              <a:ext uri="{FF2B5EF4-FFF2-40B4-BE49-F238E27FC236}">
                <a16:creationId xmlns:a16="http://schemas.microsoft.com/office/drawing/2014/main" id="{F64EF986-BBB4-4238-A1FA-E18034CE9640}"/>
              </a:ext>
            </a:extLst>
          </p:cNvPr>
          <p:cNvSpPr>
            <a:spLocks xmlns:a="http://schemas.openxmlformats.org/drawingml/2006/main" noGrp="1"/>
          </p:cNvSpPr>
          <p:nvPr/>
        </p:nvSpPr>
        <p:spPr>
          <a:xfrm xmlns:a="http://schemas.openxmlformats.org/drawingml/2006/main">
            <a:off x="609600" y="4000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85D"/>
                </a:solidFill>
                <a:latin typeface="Helvetica Neue"/>
                <a:ea typeface="Helvetica Neue"/>
                <a:cs typeface="Helvetica Neue"/>
              </a:defRPr>
            </a:defPPr>
          </a:lstStyle>
          <a:p xmlns:a="http://schemas.openxmlformats.org/drawingml/2006/main">
            <a:pPr>
              <a:defRPr sz="1125" b="1">
                <a:solidFill>
                  <a:srgbClr val="08785D"/>
                </a:solidFill>
                <a:latin typeface="Helvetica Neue"/>
                <a:ea typeface="Helvetica Neue"/>
                <a:cs typeface="Helvetica Neue"/>
              </a:defRPr>
            </a:pPr>
            <a:r>
              <a:rPr sz="1125" b="1">
                <a:solidFill>
                  <a:srgbClr val="08785D"/>
                </a:solidFill>
                <a:latin typeface="Helvetica Neue"/>
                <a:ea typeface="Helvetica Neue"/>
                <a:cs typeface="Helvetica Neue"/>
              </a:rPr>
              <a:t>PROPOSED SOLUTION</a:t>
            </a:r>
          </a:p>
        </p:txBody>
      </p:sp>
      <p:sp>
        <p:nvSpPr>
          <p:cNvPr id="3" name="title">
            <a:extLst xmlns:a="http://schemas.openxmlformats.org/drawingml/2006/main">
              <a:ext uri="{FF2B5EF4-FFF2-40B4-BE49-F238E27FC236}">
                <a16:creationId xmlns:a16="http://schemas.microsoft.com/office/drawing/2014/main" id="{169B8D23-9011-4AE7-B798-2AAE7707A2BC}"/>
              </a:ext>
            </a:extLst>
          </p:cNvPr>
          <p:cNvSpPr>
            <a:spLocks xmlns:a="http://schemas.openxmlformats.org/drawingml/2006/main" noGrp="1"/>
          </p:cNvSpPr>
          <p:nvPr/>
        </p:nvSpPr>
        <p:spPr>
          <a:xfrm xmlns:a="http://schemas.openxmlformats.org/drawingml/2006/main">
            <a:off x="609600" y="7905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12234"/>
                </a:solidFill>
                <a:latin typeface="Helvetica Neue"/>
                <a:ea typeface="Helvetica Neue"/>
                <a:cs typeface="Helvetica Neue"/>
              </a:defRPr>
            </a:defPPr>
          </a:lstStyle>
          <a:p xmlns:a="http://schemas.openxmlformats.org/drawingml/2006/main">
            <a:pPr>
              <a:defRPr sz="3600" b="1">
                <a:solidFill>
                  <a:srgbClr val="112234"/>
                </a:solidFill>
                <a:latin typeface="Helvetica Neue"/>
                <a:ea typeface="Helvetica Neue"/>
                <a:cs typeface="Helvetica Neue"/>
              </a:defRPr>
            </a:pPr>
            <a:r>
              <a:rPr sz="3600" b="1">
                <a:solidFill>
                  <a:srgbClr val="112234"/>
                </a:solidFill>
                <a:latin typeface="Helvetica Neue"/>
                <a:ea typeface="Helvetica Neue"/>
                <a:cs typeface="Helvetica Neue"/>
              </a:rPr>
              <a:t>A shared view. An explainable next action</a:t>
            </a:r>
          </a:p>
        </p:txBody>
      </p:sp>
      <p:sp>
        <p:nvSpPr>
          <p:cNvPr id="4" name="subtitle">
            <a:extLst xmlns:a="http://schemas.openxmlformats.org/drawingml/2006/main">
              <a:ext uri="{FF2B5EF4-FFF2-40B4-BE49-F238E27FC236}">
                <a16:creationId xmlns:a16="http://schemas.microsoft.com/office/drawing/2014/main" id="{102431EB-6F4D-441A-82E3-F2809CF496A9}"/>
              </a:ext>
            </a:extLst>
          </p:cNvPr>
          <p:cNvSpPr>
            <a:spLocks xmlns:a="http://schemas.openxmlformats.org/drawingml/2006/main" noGrp="1"/>
          </p:cNvSpPr>
          <p:nvPr/>
        </p:nvSpPr>
        <p:spPr>
          <a:xfrm xmlns:a="http://schemas.openxmlformats.org/drawingml/2006/main">
            <a:off x="609600" y="15621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06377"/>
                </a:solidFill>
                <a:latin typeface="Helvetica Neue"/>
                <a:ea typeface="Helvetica Neue"/>
                <a:cs typeface="Helvetica Neue"/>
              </a:defRPr>
            </a:defPPr>
          </a:lstStyle>
          <a:p xmlns:a="http://schemas.openxmlformats.org/drawingml/2006/main">
            <a:pPr>
              <a:defRPr sz="1800" b="0">
                <a:solidFill>
                  <a:srgbClr val="506377"/>
                </a:solidFill>
                <a:latin typeface="Helvetica Neue"/>
                <a:ea typeface="Helvetica Neue"/>
                <a:cs typeface="Helvetica Neue"/>
              </a:defRPr>
            </a:pPr>
            <a:r>
              <a:rPr sz="1800" b="0">
                <a:solidFill>
                  <a:srgbClr val="506377"/>
                </a:solidFill>
                <a:latin typeface="Helvetica Neue"/>
                <a:ea typeface="Helvetica Neue"/>
                <a:cs typeface="Helvetica Neue"/>
              </a:rPr>
              <a:t>Completed-system vision</a:t>
            </a:r>
          </a:p>
        </p:txBody>
      </p:sp>
      <p:sp>
        <p:nvSpPr>
          <p:cNvPr id="5" name="g1_node">
            <a:extLst xmlns:a="http://schemas.openxmlformats.org/drawingml/2006/main">
              <a:ext uri="{FF2B5EF4-FFF2-40B4-BE49-F238E27FC236}">
                <a16:creationId xmlns:a16="http://schemas.microsoft.com/office/drawing/2014/main" id="{C3B48213-3289-480C-9274-BC7273939E03}"/>
              </a:ext>
            </a:extLst>
          </p:cNvPr>
          <p:cNvSpPr>
            <a:spLocks xmlns:a="http://schemas.openxmlformats.org/drawingml/2006/main" noGrp="1"/>
          </p:cNvSpPr>
          <p:nvPr/>
        </p:nvSpPr>
        <p:spPr>
          <a:xfrm xmlns:a="http://schemas.openxmlformats.org/drawingml/2006/main">
            <a:off x="1066800" y="2533650"/>
            <a:ext cx="895350" cy="895350"/>
          </a:xfrm>
          <a:prstGeom xmlns:a="http://schemas.openxmlformats.org/drawingml/2006/main" prst="ellipse">
            <a:avLst/>
          </a:prstGeom>
          <a:solidFill xmlns:a="http://schemas.openxmlformats.org/drawingml/2006/main">
            <a:srgbClr val="112234"/>
          </a:solidFill>
          <a:ln xmlns:a="http://schemas.openxmlformats.org/drawingml/2006/main" w="0">
            <a:noFill/>
            <a:prstDash val="solid"/>
          </a:ln>
        </p:spPr>
      </p:sp>
      <p:sp>
        <p:nvSpPr>
          <p:cNvPr id="6" name="g1_number">
            <a:extLst xmlns:a="http://schemas.openxmlformats.org/drawingml/2006/main">
              <a:ext uri="{FF2B5EF4-FFF2-40B4-BE49-F238E27FC236}">
                <a16:creationId xmlns:a16="http://schemas.microsoft.com/office/drawing/2014/main" id="{824E58D5-D2BC-4895-867B-5AA73E432D10}"/>
              </a:ext>
            </a:extLst>
          </p:cNvPr>
          <p:cNvSpPr>
            <a:spLocks xmlns:a="http://schemas.openxmlformats.org/drawingml/2006/main" noGrp="1"/>
          </p:cNvSpPr>
          <p:nvPr/>
        </p:nvSpPr>
        <p:spPr>
          <a:xfrm xmlns:a="http://schemas.openxmlformats.org/drawingml/2006/main">
            <a:off x="1066800" y="2695575"/>
            <a:ext cx="89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75" b="1">
                <a:solidFill>
                  <a:srgbClr val="FFFFFF"/>
                </a:solidFill>
                <a:latin typeface="Helvetica Neue"/>
                <a:ea typeface="Helvetica Neue"/>
                <a:cs typeface="Helvetica Neue"/>
              </a:defRPr>
            </a:defPPr>
          </a:lstStyle>
          <a:p xmlns:a="http://schemas.openxmlformats.org/drawingml/2006/main">
            <a:pPr algn="ct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1</a:t>
            </a:r>
          </a:p>
        </p:txBody>
      </p:sp>
      <p:sp>
        <p:nvSpPr>
          <p:cNvPr id="7" name="g1_title">
            <a:extLst xmlns:a="http://schemas.openxmlformats.org/drawingml/2006/main">
              <a:ext uri="{FF2B5EF4-FFF2-40B4-BE49-F238E27FC236}">
                <a16:creationId xmlns:a16="http://schemas.microsoft.com/office/drawing/2014/main" id="{F045C9E1-8C8B-4BE4-9785-4CCD5CF41B62}"/>
              </a:ext>
            </a:extLst>
          </p:cNvPr>
          <p:cNvSpPr>
            <a:spLocks xmlns:a="http://schemas.openxmlformats.org/drawingml/2006/main" noGrp="1"/>
          </p:cNvSpPr>
          <p:nvPr/>
        </p:nvSpPr>
        <p:spPr>
          <a:xfrm xmlns:a="http://schemas.openxmlformats.org/drawingml/2006/main">
            <a:off x="685800" y="373380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112234"/>
                </a:solidFill>
                <a:latin typeface="Helvetica Neue"/>
                <a:ea typeface="Helvetica Neue"/>
                <a:cs typeface="Helvetica Neue"/>
              </a:defRPr>
            </a:defPPr>
          </a:lstStyle>
          <a:p xmlns:a="http://schemas.openxmlformats.org/drawingml/2006/main">
            <a:pPr algn="ctr">
              <a:defRPr sz="2175" b="1">
                <a:solidFill>
                  <a:srgbClr val="112234"/>
                </a:solidFill>
                <a:latin typeface="Helvetica Neue"/>
                <a:ea typeface="Helvetica Neue"/>
                <a:cs typeface="Helvetica Neue"/>
              </a:defRPr>
            </a:pPr>
            <a:r>
              <a:rPr sz="2175" b="1">
                <a:solidFill>
                  <a:srgbClr val="112234"/>
                </a:solidFill>
                <a:latin typeface="Helvetica Neue"/>
                <a:ea typeface="Helvetica Neue"/>
                <a:cs typeface="Helvetica Neue"/>
              </a:rPr>
              <a:t>Observe</a:t>
            </a:r>
          </a:p>
        </p:txBody>
      </p:sp>
      <p:sp>
        <p:nvSpPr>
          <p:cNvPr id="8" name="g1_description">
            <a:extLst xmlns:a="http://schemas.openxmlformats.org/drawingml/2006/main">
              <a:ext uri="{FF2B5EF4-FFF2-40B4-BE49-F238E27FC236}">
                <a16:creationId xmlns:a16="http://schemas.microsoft.com/office/drawing/2014/main" id="{06CF8537-68CF-4C52-8308-E64BA282F42F}"/>
              </a:ext>
            </a:extLst>
          </p:cNvPr>
          <p:cNvSpPr>
            <a:spLocks xmlns:a="http://schemas.openxmlformats.org/drawingml/2006/main" noGrp="1"/>
          </p:cNvSpPr>
          <p:nvPr/>
        </p:nvSpPr>
        <p:spPr>
          <a:xfrm xmlns:a="http://schemas.openxmlformats.org/drawingml/2006/main">
            <a:off x="590550" y="4286250"/>
            <a:ext cx="200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506377"/>
                </a:solidFill>
                <a:latin typeface="Helvetica Neue"/>
                <a:ea typeface="Helvetica Neue"/>
                <a:cs typeface="Helvetica Neue"/>
              </a:defRPr>
            </a:defPPr>
          </a:lstStyle>
          <a:p xmlns:a="http://schemas.openxmlformats.org/drawingml/2006/main">
            <a:pPr algn="ctr">
              <a:defRPr sz="1725" b="0">
                <a:solidFill>
                  <a:srgbClr val="506377"/>
                </a:solidFill>
                <a:latin typeface="Helvetica Neue"/>
                <a:ea typeface="Helvetica Neue"/>
                <a:cs typeface="Helvetica Neue"/>
              </a:defRPr>
            </a:pPr>
            <a:r>
              <a:rPr sz="1725" b="0">
                <a:solidFill>
                  <a:srgbClr val="506377"/>
                </a:solidFill>
                <a:latin typeface="Helvetica Neue"/>
                <a:ea typeface="Helvetica Neue"/>
                <a:cs typeface="Helvetica Neue"/>
              </a:rPr>
              <a:t>People and</a:t>
            </a:r>
          </a:p>
          <a:p xmlns:a="http://schemas.openxmlformats.org/drawingml/2006/main">
            <a:pPr algn="ctr">
              <a:defRPr sz="1725" b="0">
                <a:solidFill>
                  <a:srgbClr val="506377"/>
                </a:solidFill>
                <a:latin typeface="Helvetica Neue"/>
                <a:ea typeface="Helvetica Neue"/>
                <a:cs typeface="Helvetica Neue"/>
              </a:defRPr>
            </a:pPr>
            <a:r>
              <a:rPr sz="1725" b="0">
                <a:solidFill>
                  <a:srgbClr val="506377"/>
                </a:solidFill>
                <a:latin typeface="Helvetica Neue"/>
                <a:ea typeface="Helvetica Neue"/>
                <a:cs typeface="Helvetica Neue"/>
              </a:rPr>
              <a:t>available routes</a:t>
            </a:r>
          </a:p>
        </p:txBody>
      </p:sp>
      <p:cxnSp>
        <p:nvCxnSpPr>
          <p:cNvPr id="9" name="g2_connector">
            <a:extLst xmlns:a="http://schemas.openxmlformats.org/drawingml/2006/main">
              <a:ext uri="{FF2B5EF4-FFF2-40B4-BE49-F238E27FC236}">
                <a16:creationId xmlns:a16="http://schemas.microsoft.com/office/drawing/2014/main" id="{B4ED47BC-7BE6-459F-BAB7-A67F3A1B6242}"/>
              </a:ext>
            </a:extLst>
          </p:cNvPr>
          <p:cNvCxnSpPr/>
          <p:nvPr/>
        </p:nvCxnSpPr>
        <p:spPr>
          <a:xfrm xmlns:a="http://schemas.openxmlformats.org/drawingml/2006/main" flipH="0" flipV="0">
            <a:off x="2047875" y="2981325"/>
            <a:ext cx="1171575" cy="0"/>
          </a:xfrm>
          <a:prstGeom xmlns:a="http://schemas.openxmlformats.org/drawingml/2006/main" prst="straightConnector1">
            <a:avLst/>
          </a:prstGeom>
          <a:ln xmlns:a="http://schemas.openxmlformats.org/drawingml/2006/main" w="28575">
            <a:solidFill>
              <a:srgbClr val="6A8E86"/>
            </a:solidFill>
            <a:prstDash val="solid"/>
            <a:tailEnd type="triangle" w="med" len="med"/>
          </a:ln>
        </p:spPr>
      </p:cxnSp>
      <p:sp>
        <p:nvSpPr>
          <p:cNvPr id="10" name="g2_node">
            <a:extLst xmlns:a="http://schemas.openxmlformats.org/drawingml/2006/main">
              <a:ext uri="{FF2B5EF4-FFF2-40B4-BE49-F238E27FC236}">
                <a16:creationId xmlns:a16="http://schemas.microsoft.com/office/drawing/2014/main" id="{8671FD1C-9C3A-43C7-8904-F0D7E1BFFC7D}"/>
              </a:ext>
            </a:extLst>
          </p:cNvPr>
          <p:cNvSpPr>
            <a:spLocks xmlns:a="http://schemas.openxmlformats.org/drawingml/2006/main" noGrp="1"/>
          </p:cNvSpPr>
          <p:nvPr/>
        </p:nvSpPr>
        <p:spPr>
          <a:xfrm xmlns:a="http://schemas.openxmlformats.org/drawingml/2006/main">
            <a:off x="3343275" y="2533650"/>
            <a:ext cx="895350" cy="895350"/>
          </a:xfrm>
          <a:prstGeom xmlns:a="http://schemas.openxmlformats.org/drawingml/2006/main" prst="ellipse">
            <a:avLst/>
          </a:prstGeom>
          <a:solidFill xmlns:a="http://schemas.openxmlformats.org/drawingml/2006/main">
            <a:srgbClr val="112234"/>
          </a:solidFill>
          <a:ln xmlns:a="http://schemas.openxmlformats.org/drawingml/2006/main" w="0">
            <a:noFill/>
            <a:prstDash val="solid"/>
          </a:ln>
        </p:spPr>
      </p:sp>
      <p:sp>
        <p:nvSpPr>
          <p:cNvPr id="11" name="g2_number">
            <a:extLst xmlns:a="http://schemas.openxmlformats.org/drawingml/2006/main">
              <a:ext uri="{FF2B5EF4-FFF2-40B4-BE49-F238E27FC236}">
                <a16:creationId xmlns:a16="http://schemas.microsoft.com/office/drawing/2014/main" id="{15D172C0-4B6A-45E8-9E8C-2B3C63BBBD60}"/>
              </a:ext>
            </a:extLst>
          </p:cNvPr>
          <p:cNvSpPr>
            <a:spLocks xmlns:a="http://schemas.openxmlformats.org/drawingml/2006/main" noGrp="1"/>
          </p:cNvSpPr>
          <p:nvPr/>
        </p:nvSpPr>
        <p:spPr>
          <a:xfrm xmlns:a="http://schemas.openxmlformats.org/drawingml/2006/main">
            <a:off x="3343275" y="2695575"/>
            <a:ext cx="89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75" b="1">
                <a:solidFill>
                  <a:srgbClr val="FFFFFF"/>
                </a:solidFill>
                <a:latin typeface="Helvetica Neue"/>
                <a:ea typeface="Helvetica Neue"/>
                <a:cs typeface="Helvetica Neue"/>
              </a:defRPr>
            </a:defPPr>
          </a:lstStyle>
          <a:p xmlns:a="http://schemas.openxmlformats.org/drawingml/2006/main">
            <a:pPr algn="ct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2</a:t>
            </a:r>
          </a:p>
        </p:txBody>
      </p:sp>
      <p:sp>
        <p:nvSpPr>
          <p:cNvPr id="12" name="g2_title">
            <a:extLst xmlns:a="http://schemas.openxmlformats.org/drawingml/2006/main">
              <a:ext uri="{FF2B5EF4-FFF2-40B4-BE49-F238E27FC236}">
                <a16:creationId xmlns:a16="http://schemas.microsoft.com/office/drawing/2014/main" id="{DC7BF2E2-D38C-4289-9AC4-D8BA00969F24}"/>
              </a:ext>
            </a:extLst>
          </p:cNvPr>
          <p:cNvSpPr>
            <a:spLocks xmlns:a="http://schemas.openxmlformats.org/drawingml/2006/main" noGrp="1"/>
          </p:cNvSpPr>
          <p:nvPr/>
        </p:nvSpPr>
        <p:spPr>
          <a:xfrm xmlns:a="http://schemas.openxmlformats.org/drawingml/2006/main">
            <a:off x="2962275" y="373380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112234"/>
                </a:solidFill>
                <a:latin typeface="Helvetica Neue"/>
                <a:ea typeface="Helvetica Neue"/>
                <a:cs typeface="Helvetica Neue"/>
              </a:defRPr>
            </a:defPPr>
          </a:lstStyle>
          <a:p xmlns:a="http://schemas.openxmlformats.org/drawingml/2006/main">
            <a:pPr algn="ctr">
              <a:defRPr sz="2175" b="1">
                <a:solidFill>
                  <a:srgbClr val="112234"/>
                </a:solidFill>
                <a:latin typeface="Helvetica Neue"/>
                <a:ea typeface="Helvetica Neue"/>
                <a:cs typeface="Helvetica Neue"/>
              </a:defRPr>
            </a:pPr>
            <a:r>
              <a:rPr sz="2175" b="1">
                <a:solidFill>
                  <a:srgbClr val="112234"/>
                </a:solidFill>
                <a:latin typeface="Helvetica Neue"/>
                <a:ea typeface="Helvetica Neue"/>
                <a:cs typeface="Helvetica Neue"/>
              </a:rPr>
              <a:t>Detect</a:t>
            </a:r>
          </a:p>
        </p:txBody>
      </p:sp>
      <p:sp>
        <p:nvSpPr>
          <p:cNvPr id="13" name="g2_description">
            <a:extLst xmlns:a="http://schemas.openxmlformats.org/drawingml/2006/main">
              <a:ext uri="{FF2B5EF4-FFF2-40B4-BE49-F238E27FC236}">
                <a16:creationId xmlns:a16="http://schemas.microsoft.com/office/drawing/2014/main" id="{4269205D-91DB-4C7E-9CD7-4271F823F0BE}"/>
              </a:ext>
            </a:extLst>
          </p:cNvPr>
          <p:cNvSpPr>
            <a:spLocks xmlns:a="http://schemas.openxmlformats.org/drawingml/2006/main" noGrp="1"/>
          </p:cNvSpPr>
          <p:nvPr/>
        </p:nvSpPr>
        <p:spPr>
          <a:xfrm xmlns:a="http://schemas.openxmlformats.org/drawingml/2006/main">
            <a:off x="2867025" y="4286250"/>
            <a:ext cx="200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506377"/>
                </a:solidFill>
                <a:latin typeface="Helvetica Neue"/>
                <a:ea typeface="Helvetica Neue"/>
                <a:cs typeface="Helvetica Neue"/>
              </a:defRPr>
            </a:defPPr>
          </a:lstStyle>
          <a:p xmlns:a="http://schemas.openxmlformats.org/drawingml/2006/main">
            <a:pPr algn="ctr">
              <a:defRPr sz="1725" b="0">
                <a:solidFill>
                  <a:srgbClr val="506377"/>
                </a:solidFill>
                <a:latin typeface="Helvetica Neue"/>
                <a:ea typeface="Helvetica Neue"/>
                <a:cs typeface="Helvetica Neue"/>
              </a:defRPr>
            </a:pPr>
            <a:r>
              <a:rPr sz="1725" b="0">
                <a:solidFill>
                  <a:srgbClr val="506377"/>
                </a:solidFill>
                <a:latin typeface="Helvetica Neue"/>
                <a:ea typeface="Helvetica Neue"/>
                <a:cs typeface="Helvetica Neue"/>
              </a:rPr>
              <a:t>Persistent</a:t>
            </a:r>
          </a:p>
          <a:p xmlns:a="http://schemas.openxmlformats.org/drawingml/2006/main">
            <a:pPr algn="ctr">
              <a:defRPr sz="1725" b="0">
                <a:solidFill>
                  <a:srgbClr val="506377"/>
                </a:solidFill>
                <a:latin typeface="Helvetica Neue"/>
                <a:ea typeface="Helvetica Neue"/>
                <a:cs typeface="Helvetica Neue"/>
              </a:defRPr>
            </a:pPr>
            <a:r>
              <a:rPr sz="1725" b="0">
                <a:solidFill>
                  <a:srgbClr val="506377"/>
                </a:solidFill>
                <a:latin typeface="Helvetica Neue"/>
                <a:ea typeface="Helvetica Neue"/>
                <a:cs typeface="Helvetica Neue"/>
              </a:rPr>
              <a:t>gate pressure</a:t>
            </a:r>
          </a:p>
        </p:txBody>
      </p:sp>
      <p:cxnSp>
        <p:nvCxnSpPr>
          <p:cNvPr id="14" name="g3_connector">
            <a:extLst xmlns:a="http://schemas.openxmlformats.org/drawingml/2006/main">
              <a:ext uri="{FF2B5EF4-FFF2-40B4-BE49-F238E27FC236}">
                <a16:creationId xmlns:a16="http://schemas.microsoft.com/office/drawing/2014/main" id="{8EACC473-8D4B-4996-A2D7-34F1E40D2A76}"/>
              </a:ext>
            </a:extLst>
          </p:cNvPr>
          <p:cNvCxnSpPr/>
          <p:nvPr/>
        </p:nvCxnSpPr>
        <p:spPr>
          <a:xfrm xmlns:a="http://schemas.openxmlformats.org/drawingml/2006/main" flipH="0" flipV="0">
            <a:off x="4324350" y="2981325"/>
            <a:ext cx="1171575" cy="0"/>
          </a:xfrm>
          <a:prstGeom xmlns:a="http://schemas.openxmlformats.org/drawingml/2006/main" prst="straightConnector1">
            <a:avLst/>
          </a:prstGeom>
          <a:ln xmlns:a="http://schemas.openxmlformats.org/drawingml/2006/main" w="28575">
            <a:solidFill>
              <a:srgbClr val="6A8E86"/>
            </a:solidFill>
            <a:prstDash val="solid"/>
            <a:tailEnd type="triangle" w="med" len="med"/>
          </a:ln>
        </p:spPr>
      </p:cxnSp>
      <p:sp>
        <p:nvSpPr>
          <p:cNvPr id="15" name="g3_node">
            <a:extLst xmlns:a="http://schemas.openxmlformats.org/drawingml/2006/main">
              <a:ext uri="{FF2B5EF4-FFF2-40B4-BE49-F238E27FC236}">
                <a16:creationId xmlns:a16="http://schemas.microsoft.com/office/drawing/2014/main" id="{40953CF5-6946-4EE0-9B88-63F45A16561D}"/>
              </a:ext>
            </a:extLst>
          </p:cNvPr>
          <p:cNvSpPr>
            <a:spLocks xmlns:a="http://schemas.openxmlformats.org/drawingml/2006/main" noGrp="1"/>
          </p:cNvSpPr>
          <p:nvPr/>
        </p:nvSpPr>
        <p:spPr>
          <a:xfrm xmlns:a="http://schemas.openxmlformats.org/drawingml/2006/main">
            <a:off x="5619750" y="2533650"/>
            <a:ext cx="895350" cy="895350"/>
          </a:xfrm>
          <a:prstGeom xmlns:a="http://schemas.openxmlformats.org/drawingml/2006/main" prst="ellipse">
            <a:avLst/>
          </a:prstGeom>
          <a:solidFill xmlns:a="http://schemas.openxmlformats.org/drawingml/2006/main">
            <a:srgbClr val="112234"/>
          </a:solidFill>
          <a:ln xmlns:a="http://schemas.openxmlformats.org/drawingml/2006/main" w="0">
            <a:noFill/>
            <a:prstDash val="solid"/>
          </a:ln>
        </p:spPr>
      </p:sp>
      <p:sp>
        <p:nvSpPr>
          <p:cNvPr id="16" name="g3_number">
            <a:extLst xmlns:a="http://schemas.openxmlformats.org/drawingml/2006/main">
              <a:ext uri="{FF2B5EF4-FFF2-40B4-BE49-F238E27FC236}">
                <a16:creationId xmlns:a16="http://schemas.microsoft.com/office/drawing/2014/main" id="{1B921E9C-0285-4E6F-8994-6537574081AE}"/>
              </a:ext>
            </a:extLst>
          </p:cNvPr>
          <p:cNvSpPr>
            <a:spLocks xmlns:a="http://schemas.openxmlformats.org/drawingml/2006/main" noGrp="1"/>
          </p:cNvSpPr>
          <p:nvPr/>
        </p:nvSpPr>
        <p:spPr>
          <a:xfrm xmlns:a="http://schemas.openxmlformats.org/drawingml/2006/main">
            <a:off x="5619750" y="2695575"/>
            <a:ext cx="89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75" b="1">
                <a:solidFill>
                  <a:srgbClr val="FFFFFF"/>
                </a:solidFill>
                <a:latin typeface="Helvetica Neue"/>
                <a:ea typeface="Helvetica Neue"/>
                <a:cs typeface="Helvetica Neue"/>
              </a:defRPr>
            </a:defPPr>
          </a:lstStyle>
          <a:p xmlns:a="http://schemas.openxmlformats.org/drawingml/2006/main">
            <a:pPr algn="ct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3</a:t>
            </a:r>
          </a:p>
        </p:txBody>
      </p:sp>
      <p:sp>
        <p:nvSpPr>
          <p:cNvPr id="17" name="g3_title">
            <a:extLst xmlns:a="http://schemas.openxmlformats.org/drawingml/2006/main">
              <a:ext uri="{FF2B5EF4-FFF2-40B4-BE49-F238E27FC236}">
                <a16:creationId xmlns:a16="http://schemas.microsoft.com/office/drawing/2014/main" id="{1FD912D9-13FB-45C9-B738-AF3444D60845}"/>
              </a:ext>
            </a:extLst>
          </p:cNvPr>
          <p:cNvSpPr>
            <a:spLocks xmlns:a="http://schemas.openxmlformats.org/drawingml/2006/main" noGrp="1"/>
          </p:cNvSpPr>
          <p:nvPr/>
        </p:nvSpPr>
        <p:spPr>
          <a:xfrm xmlns:a="http://schemas.openxmlformats.org/drawingml/2006/main">
            <a:off x="5238750" y="373380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112234"/>
                </a:solidFill>
                <a:latin typeface="Helvetica Neue"/>
                <a:ea typeface="Helvetica Neue"/>
                <a:cs typeface="Helvetica Neue"/>
              </a:defRPr>
            </a:defPPr>
          </a:lstStyle>
          <a:p xmlns:a="http://schemas.openxmlformats.org/drawingml/2006/main">
            <a:pPr algn="ctr">
              <a:defRPr sz="2175" b="1">
                <a:solidFill>
                  <a:srgbClr val="112234"/>
                </a:solidFill>
                <a:latin typeface="Helvetica Neue"/>
                <a:ea typeface="Helvetica Neue"/>
                <a:cs typeface="Helvetica Neue"/>
              </a:defRPr>
            </a:pPr>
            <a:r>
              <a:rPr sz="2175" b="1">
                <a:solidFill>
                  <a:srgbClr val="112234"/>
                </a:solidFill>
                <a:latin typeface="Helvetica Neue"/>
                <a:ea typeface="Helvetica Neue"/>
                <a:cs typeface="Helvetica Neue"/>
              </a:rPr>
              <a:t>Forecast</a:t>
            </a:r>
          </a:p>
        </p:txBody>
      </p:sp>
      <p:sp>
        <p:nvSpPr>
          <p:cNvPr id="18" name="g3_description">
            <a:extLst xmlns:a="http://schemas.openxmlformats.org/drawingml/2006/main">
              <a:ext uri="{FF2B5EF4-FFF2-40B4-BE49-F238E27FC236}">
                <a16:creationId xmlns:a16="http://schemas.microsoft.com/office/drawing/2014/main" id="{A747266B-5200-41EC-BB03-66F0DA7DE760}"/>
              </a:ext>
            </a:extLst>
          </p:cNvPr>
          <p:cNvSpPr>
            <a:spLocks xmlns:a="http://schemas.openxmlformats.org/drawingml/2006/main" noGrp="1"/>
          </p:cNvSpPr>
          <p:nvPr/>
        </p:nvSpPr>
        <p:spPr>
          <a:xfrm xmlns:a="http://schemas.openxmlformats.org/drawingml/2006/main">
            <a:off x="5143500" y="4286250"/>
            <a:ext cx="200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506377"/>
                </a:solidFill>
                <a:latin typeface="Helvetica Neue"/>
                <a:ea typeface="Helvetica Neue"/>
                <a:cs typeface="Helvetica Neue"/>
              </a:defRPr>
            </a:defPPr>
          </a:lstStyle>
          <a:p xmlns:a="http://schemas.openxmlformats.org/drawingml/2006/main">
            <a:pPr algn="ctr">
              <a:defRPr sz="1725" b="0">
                <a:solidFill>
                  <a:srgbClr val="506377"/>
                </a:solidFill>
                <a:latin typeface="Helvetica Neue"/>
                <a:ea typeface="Helvetica Neue"/>
                <a:cs typeface="Helvetica Neue"/>
              </a:defRPr>
            </a:pPr>
            <a:r>
              <a:rPr sz="1725" b="0">
                <a:solidFill>
                  <a:srgbClr val="506377"/>
                </a:solidFill>
                <a:latin typeface="Helvetica Neue"/>
                <a:ea typeface="Helvetica Neue"/>
                <a:cs typeface="Helvetica Neue"/>
              </a:rPr>
              <a:t>Near-term</a:t>
            </a:r>
          </a:p>
          <a:p xmlns:a="http://schemas.openxmlformats.org/drawingml/2006/main">
            <a:pPr algn="ctr">
              <a:defRPr sz="1725" b="0">
                <a:solidFill>
                  <a:srgbClr val="506377"/>
                </a:solidFill>
                <a:latin typeface="Helvetica Neue"/>
                <a:ea typeface="Helvetica Neue"/>
                <a:cs typeface="Helvetica Neue"/>
              </a:defRPr>
            </a:pPr>
            <a:r>
              <a:rPr sz="1725" b="0">
                <a:solidFill>
                  <a:srgbClr val="506377"/>
                </a:solidFill>
                <a:latin typeface="Helvetica Neue"/>
                <a:ea typeface="Helvetica Neue"/>
                <a:cs typeface="Helvetica Neue"/>
              </a:rPr>
              <a:t>queue growth</a:t>
            </a:r>
          </a:p>
        </p:txBody>
      </p:sp>
      <p:cxnSp>
        <p:nvCxnSpPr>
          <p:cNvPr id="19" name="g4_connector">
            <a:extLst xmlns:a="http://schemas.openxmlformats.org/drawingml/2006/main">
              <a:ext uri="{FF2B5EF4-FFF2-40B4-BE49-F238E27FC236}">
                <a16:creationId xmlns:a16="http://schemas.microsoft.com/office/drawing/2014/main" id="{EA29A18A-BF03-48F1-AF1E-EEBF272F1FB8}"/>
              </a:ext>
            </a:extLst>
          </p:cNvPr>
          <p:cNvCxnSpPr/>
          <p:nvPr/>
        </p:nvCxnSpPr>
        <p:spPr>
          <a:xfrm xmlns:a="http://schemas.openxmlformats.org/drawingml/2006/main" flipH="0" flipV="0">
            <a:off x="6600825" y="2981325"/>
            <a:ext cx="1171575" cy="0"/>
          </a:xfrm>
          <a:prstGeom xmlns:a="http://schemas.openxmlformats.org/drawingml/2006/main" prst="straightConnector1">
            <a:avLst/>
          </a:prstGeom>
          <a:ln xmlns:a="http://schemas.openxmlformats.org/drawingml/2006/main" w="28575">
            <a:solidFill>
              <a:srgbClr val="6A8E86"/>
            </a:solidFill>
            <a:prstDash val="solid"/>
            <a:tailEnd type="triangle" w="med" len="med"/>
          </a:ln>
        </p:spPr>
      </p:cxnSp>
      <p:sp>
        <p:nvSpPr>
          <p:cNvPr id="20" name="g4_node">
            <a:extLst xmlns:a="http://schemas.openxmlformats.org/drawingml/2006/main">
              <a:ext uri="{FF2B5EF4-FFF2-40B4-BE49-F238E27FC236}">
                <a16:creationId xmlns:a16="http://schemas.microsoft.com/office/drawing/2014/main" id="{63B805E6-8AB9-4E32-82AF-33D8E87EBCB0}"/>
              </a:ext>
            </a:extLst>
          </p:cNvPr>
          <p:cNvSpPr>
            <a:spLocks xmlns:a="http://schemas.openxmlformats.org/drawingml/2006/main" noGrp="1"/>
          </p:cNvSpPr>
          <p:nvPr/>
        </p:nvSpPr>
        <p:spPr>
          <a:xfrm xmlns:a="http://schemas.openxmlformats.org/drawingml/2006/main">
            <a:off x="7896225" y="2533650"/>
            <a:ext cx="895350" cy="895350"/>
          </a:xfrm>
          <a:prstGeom xmlns:a="http://schemas.openxmlformats.org/drawingml/2006/main" prst="ellipse">
            <a:avLst/>
          </a:prstGeom>
          <a:solidFill xmlns:a="http://schemas.openxmlformats.org/drawingml/2006/main">
            <a:srgbClr val="112234"/>
          </a:solidFill>
          <a:ln xmlns:a="http://schemas.openxmlformats.org/drawingml/2006/main" w="0">
            <a:noFill/>
            <a:prstDash val="solid"/>
          </a:ln>
        </p:spPr>
      </p:sp>
      <p:sp>
        <p:nvSpPr>
          <p:cNvPr id="21" name="g4_number">
            <a:extLst xmlns:a="http://schemas.openxmlformats.org/drawingml/2006/main">
              <a:ext uri="{FF2B5EF4-FFF2-40B4-BE49-F238E27FC236}">
                <a16:creationId xmlns:a16="http://schemas.microsoft.com/office/drawing/2014/main" id="{7ABC62D5-BF05-41F6-9DB0-7FD64BF927E6}"/>
              </a:ext>
            </a:extLst>
          </p:cNvPr>
          <p:cNvSpPr>
            <a:spLocks xmlns:a="http://schemas.openxmlformats.org/drawingml/2006/main" noGrp="1"/>
          </p:cNvSpPr>
          <p:nvPr/>
        </p:nvSpPr>
        <p:spPr>
          <a:xfrm xmlns:a="http://schemas.openxmlformats.org/drawingml/2006/main">
            <a:off x="7896225" y="2695575"/>
            <a:ext cx="89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75" b="1">
                <a:solidFill>
                  <a:srgbClr val="FFFFFF"/>
                </a:solidFill>
                <a:latin typeface="Helvetica Neue"/>
                <a:ea typeface="Helvetica Neue"/>
                <a:cs typeface="Helvetica Neue"/>
              </a:defRPr>
            </a:defPPr>
          </a:lstStyle>
          <a:p xmlns:a="http://schemas.openxmlformats.org/drawingml/2006/main">
            <a:pPr algn="ct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4</a:t>
            </a:r>
          </a:p>
        </p:txBody>
      </p:sp>
      <p:sp>
        <p:nvSpPr>
          <p:cNvPr id="22" name="g4_title">
            <a:extLst xmlns:a="http://schemas.openxmlformats.org/drawingml/2006/main">
              <a:ext uri="{FF2B5EF4-FFF2-40B4-BE49-F238E27FC236}">
                <a16:creationId xmlns:a16="http://schemas.microsoft.com/office/drawing/2014/main" id="{5234423A-5991-4A53-81BF-D142872890B0}"/>
              </a:ext>
            </a:extLst>
          </p:cNvPr>
          <p:cNvSpPr>
            <a:spLocks xmlns:a="http://schemas.openxmlformats.org/drawingml/2006/main" noGrp="1"/>
          </p:cNvSpPr>
          <p:nvPr/>
        </p:nvSpPr>
        <p:spPr>
          <a:xfrm xmlns:a="http://schemas.openxmlformats.org/drawingml/2006/main">
            <a:off x="7515225" y="373380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112234"/>
                </a:solidFill>
                <a:latin typeface="Helvetica Neue"/>
                <a:ea typeface="Helvetica Neue"/>
                <a:cs typeface="Helvetica Neue"/>
              </a:defRPr>
            </a:defPPr>
          </a:lstStyle>
          <a:p xmlns:a="http://schemas.openxmlformats.org/drawingml/2006/main">
            <a:pPr algn="ctr">
              <a:defRPr sz="2175" b="1">
                <a:solidFill>
                  <a:srgbClr val="112234"/>
                </a:solidFill>
                <a:latin typeface="Helvetica Neue"/>
                <a:ea typeface="Helvetica Neue"/>
                <a:cs typeface="Helvetica Neue"/>
              </a:defRPr>
            </a:pPr>
            <a:r>
              <a:rPr sz="2175" b="1">
                <a:solidFill>
                  <a:srgbClr val="112234"/>
                </a:solidFill>
                <a:latin typeface="Helvetica Neue"/>
                <a:ea typeface="Helvetica Neue"/>
                <a:cs typeface="Helvetica Neue"/>
              </a:rPr>
              <a:t>Evaluate</a:t>
            </a:r>
          </a:p>
        </p:txBody>
      </p:sp>
      <p:sp>
        <p:nvSpPr>
          <p:cNvPr id="23" name="g4_description">
            <a:extLst xmlns:a="http://schemas.openxmlformats.org/drawingml/2006/main">
              <a:ext uri="{FF2B5EF4-FFF2-40B4-BE49-F238E27FC236}">
                <a16:creationId xmlns:a16="http://schemas.microsoft.com/office/drawing/2014/main" id="{D8A85A05-CF36-4599-9912-1C47DE3E16A0}"/>
              </a:ext>
            </a:extLst>
          </p:cNvPr>
          <p:cNvSpPr>
            <a:spLocks xmlns:a="http://schemas.openxmlformats.org/drawingml/2006/main" noGrp="1"/>
          </p:cNvSpPr>
          <p:nvPr/>
        </p:nvSpPr>
        <p:spPr>
          <a:xfrm xmlns:a="http://schemas.openxmlformats.org/drawingml/2006/main">
            <a:off x="7419975" y="4286250"/>
            <a:ext cx="200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506377"/>
                </a:solidFill>
                <a:latin typeface="Helvetica Neue"/>
                <a:ea typeface="Helvetica Neue"/>
                <a:cs typeface="Helvetica Neue"/>
              </a:defRPr>
            </a:defPPr>
          </a:lstStyle>
          <a:p xmlns:a="http://schemas.openxmlformats.org/drawingml/2006/main">
            <a:pPr algn="ctr">
              <a:defRPr sz="1725" b="0">
                <a:solidFill>
                  <a:srgbClr val="506377"/>
                </a:solidFill>
                <a:latin typeface="Helvetica Neue"/>
                <a:ea typeface="Helvetica Neue"/>
                <a:cs typeface="Helvetica Neue"/>
              </a:defRPr>
            </a:pPr>
            <a:r>
              <a:rPr sz="1725" b="0">
                <a:solidFill>
                  <a:srgbClr val="506377"/>
                </a:solidFill>
                <a:latin typeface="Helvetica Neue"/>
                <a:ea typeface="Helvetica Neue"/>
                <a:cs typeface="Helvetica Neue"/>
              </a:rPr>
              <a:t>Compare feasible</a:t>
            </a:r>
          </a:p>
          <a:p xmlns:a="http://schemas.openxmlformats.org/drawingml/2006/main">
            <a:pPr algn="ctr">
              <a:defRPr sz="1725" b="0">
                <a:solidFill>
                  <a:srgbClr val="506377"/>
                </a:solidFill>
                <a:latin typeface="Helvetica Neue"/>
                <a:ea typeface="Helvetica Neue"/>
                <a:cs typeface="Helvetica Neue"/>
              </a:defRPr>
            </a:pPr>
            <a:r>
              <a:rPr sz="1725" b="0">
                <a:solidFill>
                  <a:srgbClr val="506377"/>
                </a:solidFill>
                <a:latin typeface="Helvetica Neue"/>
                <a:ea typeface="Helvetica Neue"/>
                <a:cs typeface="Helvetica Neue"/>
              </a:rPr>
              <a:t>interventions</a:t>
            </a:r>
          </a:p>
        </p:txBody>
      </p:sp>
      <p:cxnSp>
        <p:nvCxnSpPr>
          <p:cNvPr id="24" name="g5_connector">
            <a:extLst xmlns:a="http://schemas.openxmlformats.org/drawingml/2006/main">
              <a:ext uri="{FF2B5EF4-FFF2-40B4-BE49-F238E27FC236}">
                <a16:creationId xmlns:a16="http://schemas.microsoft.com/office/drawing/2014/main" id="{FA327D64-77B4-44C6-A779-AB80308DC44C}"/>
              </a:ext>
            </a:extLst>
          </p:cNvPr>
          <p:cNvCxnSpPr/>
          <p:nvPr/>
        </p:nvCxnSpPr>
        <p:spPr>
          <a:xfrm xmlns:a="http://schemas.openxmlformats.org/drawingml/2006/main" flipH="0" flipV="0">
            <a:off x="8877300" y="2981325"/>
            <a:ext cx="1171575" cy="0"/>
          </a:xfrm>
          <a:prstGeom xmlns:a="http://schemas.openxmlformats.org/drawingml/2006/main" prst="straightConnector1">
            <a:avLst/>
          </a:prstGeom>
          <a:ln xmlns:a="http://schemas.openxmlformats.org/drawingml/2006/main" w="28575">
            <a:solidFill>
              <a:srgbClr val="6A8E86"/>
            </a:solidFill>
            <a:prstDash val="solid"/>
            <a:tailEnd type="triangle" w="med" len="med"/>
          </a:ln>
        </p:spPr>
      </p:cxnSp>
      <p:sp>
        <p:nvSpPr>
          <p:cNvPr id="25" name="g5_node">
            <a:extLst xmlns:a="http://schemas.openxmlformats.org/drawingml/2006/main">
              <a:ext uri="{FF2B5EF4-FFF2-40B4-BE49-F238E27FC236}">
                <a16:creationId xmlns:a16="http://schemas.microsoft.com/office/drawing/2014/main" id="{E84B232C-FC2E-4CC9-AFA1-009C88534456}"/>
              </a:ext>
            </a:extLst>
          </p:cNvPr>
          <p:cNvSpPr>
            <a:spLocks xmlns:a="http://schemas.openxmlformats.org/drawingml/2006/main" noGrp="1"/>
          </p:cNvSpPr>
          <p:nvPr/>
        </p:nvSpPr>
        <p:spPr>
          <a:xfrm xmlns:a="http://schemas.openxmlformats.org/drawingml/2006/main">
            <a:off x="10172700" y="2533650"/>
            <a:ext cx="895350" cy="895350"/>
          </a:xfrm>
          <a:prstGeom xmlns:a="http://schemas.openxmlformats.org/drawingml/2006/main" prst="ellipse">
            <a:avLst/>
          </a:prstGeom>
          <a:solidFill xmlns:a="http://schemas.openxmlformats.org/drawingml/2006/main">
            <a:srgbClr val="136C58"/>
          </a:solidFill>
          <a:ln xmlns:a="http://schemas.openxmlformats.org/drawingml/2006/main" w="0">
            <a:noFill/>
            <a:prstDash val="solid"/>
          </a:ln>
        </p:spPr>
      </p:sp>
      <p:sp>
        <p:nvSpPr>
          <p:cNvPr id="26" name="g5_number">
            <a:extLst xmlns:a="http://schemas.openxmlformats.org/drawingml/2006/main">
              <a:ext uri="{FF2B5EF4-FFF2-40B4-BE49-F238E27FC236}">
                <a16:creationId xmlns:a16="http://schemas.microsoft.com/office/drawing/2014/main" id="{EC96F70E-85DD-4E6C-831C-FE271D9FD9EB}"/>
              </a:ext>
            </a:extLst>
          </p:cNvPr>
          <p:cNvSpPr>
            <a:spLocks xmlns:a="http://schemas.openxmlformats.org/drawingml/2006/main" noGrp="1"/>
          </p:cNvSpPr>
          <p:nvPr/>
        </p:nvSpPr>
        <p:spPr>
          <a:xfrm xmlns:a="http://schemas.openxmlformats.org/drawingml/2006/main">
            <a:off x="10172700" y="2695575"/>
            <a:ext cx="89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75" b="1">
                <a:solidFill>
                  <a:srgbClr val="FFFFFF"/>
                </a:solidFill>
                <a:latin typeface="Helvetica Neue"/>
                <a:ea typeface="Helvetica Neue"/>
                <a:cs typeface="Helvetica Neue"/>
              </a:defRPr>
            </a:defPPr>
          </a:lstStyle>
          <a:p xmlns:a="http://schemas.openxmlformats.org/drawingml/2006/main">
            <a:pPr algn="ct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5</a:t>
            </a:r>
          </a:p>
        </p:txBody>
      </p:sp>
      <p:sp>
        <p:nvSpPr>
          <p:cNvPr id="27" name="g5_title">
            <a:extLst xmlns:a="http://schemas.openxmlformats.org/drawingml/2006/main">
              <a:ext uri="{FF2B5EF4-FFF2-40B4-BE49-F238E27FC236}">
                <a16:creationId xmlns:a16="http://schemas.microsoft.com/office/drawing/2014/main" id="{2E59081C-B209-428E-B13E-9E2F9FA805EC}"/>
              </a:ext>
            </a:extLst>
          </p:cNvPr>
          <p:cNvSpPr>
            <a:spLocks xmlns:a="http://schemas.openxmlformats.org/drawingml/2006/main" noGrp="1"/>
          </p:cNvSpPr>
          <p:nvPr/>
        </p:nvSpPr>
        <p:spPr>
          <a:xfrm xmlns:a="http://schemas.openxmlformats.org/drawingml/2006/main">
            <a:off x="9791700" y="373380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112234"/>
                </a:solidFill>
                <a:latin typeface="Helvetica Neue"/>
                <a:ea typeface="Helvetica Neue"/>
                <a:cs typeface="Helvetica Neue"/>
              </a:defRPr>
            </a:defPPr>
          </a:lstStyle>
          <a:p xmlns:a="http://schemas.openxmlformats.org/drawingml/2006/main">
            <a:pPr algn="ctr">
              <a:defRPr sz="2175" b="1">
                <a:solidFill>
                  <a:srgbClr val="112234"/>
                </a:solidFill>
                <a:latin typeface="Helvetica Neue"/>
                <a:ea typeface="Helvetica Neue"/>
                <a:cs typeface="Helvetica Neue"/>
              </a:defRPr>
            </a:pPr>
            <a:r>
              <a:rPr sz="2175" b="1">
                <a:solidFill>
                  <a:srgbClr val="112234"/>
                </a:solidFill>
                <a:latin typeface="Helvetica Neue"/>
                <a:ea typeface="Helvetica Neue"/>
                <a:cs typeface="Helvetica Neue"/>
              </a:rPr>
              <a:t>Reassign</a:t>
            </a:r>
          </a:p>
        </p:txBody>
      </p:sp>
      <p:sp>
        <p:nvSpPr>
          <p:cNvPr id="28" name="g5_description">
            <a:extLst xmlns:a="http://schemas.openxmlformats.org/drawingml/2006/main">
              <a:ext uri="{FF2B5EF4-FFF2-40B4-BE49-F238E27FC236}">
                <a16:creationId xmlns:a16="http://schemas.microsoft.com/office/drawing/2014/main" id="{97BA9F56-1CD3-4145-94C3-E5C159FAEA29}"/>
              </a:ext>
            </a:extLst>
          </p:cNvPr>
          <p:cNvSpPr>
            <a:spLocks xmlns:a="http://schemas.openxmlformats.org/drawingml/2006/main" noGrp="1"/>
          </p:cNvSpPr>
          <p:nvPr/>
        </p:nvSpPr>
        <p:spPr>
          <a:xfrm xmlns:a="http://schemas.openxmlformats.org/drawingml/2006/main">
            <a:off x="9696450" y="4286250"/>
            <a:ext cx="200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506377"/>
                </a:solidFill>
                <a:latin typeface="Helvetica Neue"/>
                <a:ea typeface="Helvetica Neue"/>
                <a:cs typeface="Helvetica Neue"/>
              </a:defRPr>
            </a:defPPr>
          </a:lstStyle>
          <a:p xmlns:a="http://schemas.openxmlformats.org/drawingml/2006/main">
            <a:pPr algn="ctr">
              <a:defRPr sz="1725" b="0">
                <a:solidFill>
                  <a:srgbClr val="506377"/>
                </a:solidFill>
                <a:latin typeface="Helvetica Neue"/>
                <a:ea typeface="Helvetica Neue"/>
                <a:cs typeface="Helvetica Neue"/>
              </a:defRPr>
            </a:pPr>
            <a:r>
              <a:rPr sz="1725" b="0">
                <a:solidFill>
                  <a:srgbClr val="506377"/>
                </a:solidFill>
                <a:latin typeface="Helvetica Neue"/>
                <a:ea typeface="Helvetica Neue"/>
                <a:cs typeface="Helvetica Neue"/>
              </a:rPr>
              <a:t>Execute approved</a:t>
            </a:r>
          </a:p>
          <a:p xmlns:a="http://schemas.openxmlformats.org/drawingml/2006/main">
            <a:pPr algn="ctr">
              <a:defRPr sz="1725" b="0">
                <a:solidFill>
                  <a:srgbClr val="506377"/>
                </a:solidFill>
                <a:latin typeface="Helvetica Neue"/>
                <a:ea typeface="Helvetica Neue"/>
                <a:cs typeface="Helvetica Neue"/>
              </a:defRPr>
            </a:pPr>
            <a:r>
              <a:rPr sz="1725" b="0">
                <a:solidFill>
                  <a:srgbClr val="506377"/>
                </a:solidFill>
                <a:latin typeface="Helvetica Neue"/>
                <a:ea typeface="Helvetica Neue"/>
                <a:cs typeface="Helvetica Neue"/>
              </a:rPr>
              <a:t>route changes</a:t>
            </a:r>
          </a:p>
        </p:txBody>
      </p:sp>
      <p:sp>
        <p:nvSpPr>
          <p:cNvPr id="29" name="g6_business_title">
            <a:extLst xmlns:a="http://schemas.openxmlformats.org/drawingml/2006/main">
              <a:ext uri="{FF2B5EF4-FFF2-40B4-BE49-F238E27FC236}">
                <a16:creationId xmlns:a16="http://schemas.microsoft.com/office/drawing/2014/main" id="{D82883B7-BC01-4F29-9E57-CB5A4298DA29}"/>
              </a:ext>
            </a:extLst>
          </p:cNvPr>
          <p:cNvSpPr>
            <a:spLocks xmlns:a="http://schemas.openxmlformats.org/drawingml/2006/main" noGrp="1"/>
          </p:cNvSpPr>
          <p:nvPr/>
        </p:nvSpPr>
        <p:spPr>
          <a:xfrm xmlns:a="http://schemas.openxmlformats.org/drawingml/2006/main">
            <a:off x="638175" y="562927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85D"/>
                </a:solidFill>
                <a:latin typeface="Helvetica Neue"/>
                <a:ea typeface="Helvetica Neue"/>
                <a:cs typeface="Helvetica Neue"/>
              </a:defRPr>
            </a:defPPr>
          </a:lstStyle>
          <a:p xmlns:a="http://schemas.openxmlformats.org/drawingml/2006/main">
            <a:pPr>
              <a:defRPr sz="1800" b="1">
                <a:solidFill>
                  <a:srgbClr val="08785D"/>
                </a:solidFill>
                <a:latin typeface="Helvetica Neue"/>
                <a:ea typeface="Helvetica Neue"/>
                <a:cs typeface="Helvetica Neue"/>
              </a:defRPr>
            </a:pPr>
            <a:r>
              <a:rPr sz="1800" b="1">
                <a:solidFill>
                  <a:srgbClr val="08785D"/>
                </a:solidFill>
                <a:latin typeface="Helvetica Neue"/>
                <a:ea typeface="Helvetica Neue"/>
                <a:cs typeface="Helvetica Neue"/>
              </a:rPr>
              <a:t>Commercial entry</a:t>
            </a:r>
          </a:p>
        </p:txBody>
      </p:sp>
      <p:sp>
        <p:nvSpPr>
          <p:cNvPr id="30" name="g6_business">
            <a:extLst xmlns:a="http://schemas.openxmlformats.org/drawingml/2006/main">
              <a:ext uri="{FF2B5EF4-FFF2-40B4-BE49-F238E27FC236}">
                <a16:creationId xmlns:a16="http://schemas.microsoft.com/office/drawing/2014/main" id="{4F4AD4EE-83BB-41C4-B94D-4CE708A70FDA}"/>
              </a:ext>
            </a:extLst>
          </p:cNvPr>
          <p:cNvSpPr>
            <a:spLocks xmlns:a="http://schemas.openxmlformats.org/drawingml/2006/main" noGrp="1"/>
          </p:cNvSpPr>
          <p:nvPr/>
        </p:nvSpPr>
        <p:spPr>
          <a:xfrm xmlns:a="http://schemas.openxmlformats.org/drawingml/2006/main">
            <a:off x="3143250" y="5600700"/>
            <a:ext cx="833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12234"/>
                </a:solidFill>
                <a:latin typeface="Helvetica Neue"/>
                <a:ea typeface="Helvetica Neue"/>
                <a:cs typeface="Helvetica Neue"/>
              </a:defRPr>
            </a:defPPr>
          </a:lstStyle>
          <a:p xmlns:a="http://schemas.openxmlformats.org/drawingml/2006/main">
            <a:pPr>
              <a:defRPr sz="1875" b="0">
                <a:solidFill>
                  <a:srgbClr val="112234"/>
                </a:solidFill>
                <a:latin typeface="Helvetica Neue"/>
                <a:ea typeface="Helvetica Neue"/>
                <a:cs typeface="Helvetica Neue"/>
              </a:defRPr>
            </a:pPr>
            <a:r>
              <a:rPr sz="1875" b="0">
                <a:solidFill>
                  <a:srgbClr val="112234"/>
                </a:solidFill>
                <a:latin typeface="Helvetica Neue"/>
                <a:ea typeface="Helvetica Neue"/>
                <a:cs typeface="Helvetica Neue"/>
              </a:rPr>
              <a:t>Paid venue pilot, then annual site software and calibration services</a:t>
            </a:r>
          </a:p>
        </p:txBody>
      </p:sp>
    </p:spTree>
    <p:extLst>
      <p:ext uri="{BB962C8B-B14F-4D97-AF65-F5344CB8AC3E}">
        <p14:creationId xmlns:p14="http://schemas.microsoft.com/office/powerpoint/2010/main" val="1967756294"/>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00"/>
                            </p:stCondLst>
                            <p:childTnLst>
                              <p:set>
                                <p:cBhvr>
                                  <p:cTn id="5" dur="1" fill="hold"/>
                                  <p:tgtEl>
                                    <p:spTgt spid="5"/>
                                  </p:tgtEl>
                                  <p:attrNameLst>
                                    <p:attrName>style.visibility</p:attrName>
                                  </p:attrNameLst>
                                </p:cBhvr>
                                <p:to>
                                  <p:strVal val="visible"/>
                                </p:to>
                              </p:set>
                              <p:animEffect transition="in" filter="fade">
                                <p:cBhvr>
                                  <p:cTn id="6" dur="550" fill="hold"/>
                                  <p:tgtEl>
                                    <p:spTgt spid="5"/>
                                  </p:tgtEl>
                                </p:cBhvr>
                              </p:animEffect>
                            </p:childTnLst>
                          </p:cTn>
                        </p:par>
                        <p:par>
                          <p:cTn id="7" presetID="10" presetClass="entr" presetSubtype="0" fill="hold" nodeType="withEffect">
                            <p:stCondLst>
                              <p:cond delay="100"/>
                            </p:stCondLst>
                            <p:childTnLst>
                              <p:set>
                                <p:cBhvr>
                                  <p:cTn id="8" dur="1" fill="hold"/>
                                  <p:tgtEl>
                                    <p:spTgt spid="6"/>
                                  </p:tgtEl>
                                  <p:attrNameLst>
                                    <p:attrName>style.visibility</p:attrName>
                                  </p:attrNameLst>
                                </p:cBhvr>
                                <p:to>
                                  <p:strVal val="visible"/>
                                </p:to>
                              </p:set>
                              <p:animEffect transition="in" filter="fade">
                                <p:cBhvr>
                                  <p:cTn id="9" dur="550" fill="hold"/>
                                  <p:tgtEl>
                                    <p:spTgt spid="6"/>
                                  </p:tgtEl>
                                </p:cBhvr>
                              </p:animEffect>
                            </p:childTnLst>
                          </p:cTn>
                        </p:par>
                        <p:par>
                          <p:cTn id="10" presetID="10" presetClass="entr" presetSubtype="0" fill="hold" nodeType="withEffect">
                            <p:stCondLst>
                              <p:cond delay="100"/>
                            </p:stCondLst>
                            <p:childTnLst>
                              <p:set>
                                <p:cBhvr>
                                  <p:cTn id="11" dur="1" fill="hold"/>
                                  <p:tgtEl>
                                    <p:spTgt spid="7"/>
                                  </p:tgtEl>
                                  <p:attrNameLst>
                                    <p:attrName>style.visibility</p:attrName>
                                  </p:attrNameLst>
                                </p:cBhvr>
                                <p:to>
                                  <p:strVal val="visible"/>
                                </p:to>
                              </p:set>
                              <p:animEffect transition="in" filter="fade">
                                <p:cBhvr>
                                  <p:cTn id="12" dur="550" fill="hold"/>
                                  <p:tgtEl>
                                    <p:spTgt spid="7"/>
                                  </p:tgtEl>
                                </p:cBhvr>
                              </p:animEffect>
                            </p:childTnLst>
                          </p:cTn>
                        </p:par>
                        <p:par>
                          <p:cTn id="13" presetID="10" presetClass="entr" presetSubtype="0" fill="hold" nodeType="withEffect">
                            <p:stCondLst>
                              <p:cond delay="100"/>
                            </p:stCondLst>
                            <p:childTnLst>
                              <p:set>
                                <p:cBhvr>
                                  <p:cTn id="14" dur="1" fill="hold"/>
                                  <p:tgtEl>
                                    <p:spTgt spid="8"/>
                                  </p:tgtEl>
                                  <p:attrNameLst>
                                    <p:attrName>style.visibility</p:attrName>
                                  </p:attrNameLst>
                                </p:cBhvr>
                                <p:to>
                                  <p:strVal val="visible"/>
                                </p:to>
                              </p:set>
                              <p:animEffect transition="in" filter="fade">
                                <p:cBhvr>
                                  <p:cTn id="15" dur="550" fill="hold"/>
                                  <p:tgtEl>
                                    <p:spTgt spid="8"/>
                                  </p:tgtEl>
                                </p:cBhvr>
                              </p:animEffect>
                            </p:childTnLst>
                          </p:cTn>
                        </p:par>
                        <p:par>
                          <p:cTn id="16" presetID="22" presetClass="entr" presetSubtype="1" fill="hold" nodeType="withEffect">
                            <p:stCondLst>
                              <p:cond delay="700"/>
                            </p:stCondLst>
                            <p:childTnLst>
                              <p:set>
                                <p:cBhvr>
                                  <p:cTn id="17" dur="1" fill="hold"/>
                                  <p:tgtEl>
                                    <p:spTgt spid="9"/>
                                  </p:tgtEl>
                                  <p:attrNameLst>
                                    <p:attrName>style.visibility</p:attrName>
                                  </p:attrNameLst>
                                </p:cBhvr>
                                <p:to>
                                  <p:strVal val="visible"/>
                                </p:to>
                              </p:set>
                              <p:animEffect transition="in" filter="wipe(right)">
                                <p:cBhvr>
                                  <p:cTn id="18" dur="550" fill="hold"/>
                                  <p:tgtEl>
                                    <p:spTgt spid="9"/>
                                  </p:tgtEl>
                                </p:cBhvr>
                              </p:animEffect>
                            </p:childTnLst>
                          </p:cTn>
                        </p:par>
                        <p:par>
                          <p:cTn id="19" presetID="10" presetClass="entr" presetSubtype="0" fill="hold" nodeType="withEffect">
                            <p:stCondLst>
                              <p:cond delay="700"/>
                            </p:stCondLst>
                            <p:childTnLst>
                              <p:set>
                                <p:cBhvr>
                                  <p:cTn id="20" dur="1" fill="hold"/>
                                  <p:tgtEl>
                                    <p:spTgt spid="10"/>
                                  </p:tgtEl>
                                  <p:attrNameLst>
                                    <p:attrName>style.visibility</p:attrName>
                                  </p:attrNameLst>
                                </p:cBhvr>
                                <p:to>
                                  <p:strVal val="visible"/>
                                </p:to>
                              </p:set>
                              <p:animEffect transition="in" filter="fade">
                                <p:cBhvr>
                                  <p:cTn id="21" dur="550" fill="hold"/>
                                  <p:tgtEl>
                                    <p:spTgt spid="10"/>
                                  </p:tgtEl>
                                </p:cBhvr>
                              </p:animEffect>
                            </p:childTnLst>
                          </p:cTn>
                        </p:par>
                        <p:par>
                          <p:cTn id="22" presetID="10" presetClass="entr" presetSubtype="0" fill="hold" nodeType="withEffect">
                            <p:stCondLst>
                              <p:cond delay="700"/>
                            </p:stCondLst>
                            <p:childTnLst>
                              <p:set>
                                <p:cBhvr>
                                  <p:cTn id="23" dur="1" fill="hold"/>
                                  <p:tgtEl>
                                    <p:spTgt spid="11"/>
                                  </p:tgtEl>
                                  <p:attrNameLst>
                                    <p:attrName>style.visibility</p:attrName>
                                  </p:attrNameLst>
                                </p:cBhvr>
                                <p:to>
                                  <p:strVal val="visible"/>
                                </p:to>
                              </p:set>
                              <p:animEffect transition="in" filter="fade">
                                <p:cBhvr>
                                  <p:cTn id="24" dur="550" fill="hold"/>
                                  <p:tgtEl>
                                    <p:spTgt spid="11"/>
                                  </p:tgtEl>
                                </p:cBhvr>
                              </p:animEffect>
                            </p:childTnLst>
                          </p:cTn>
                        </p:par>
                        <p:par>
                          <p:cTn id="25" presetID="10" presetClass="entr" presetSubtype="0" fill="hold" nodeType="withEffect">
                            <p:stCondLst>
                              <p:cond delay="700"/>
                            </p:stCondLst>
                            <p:childTnLst>
                              <p:set>
                                <p:cBhvr>
                                  <p:cTn id="26" dur="1" fill="hold"/>
                                  <p:tgtEl>
                                    <p:spTgt spid="12"/>
                                  </p:tgtEl>
                                  <p:attrNameLst>
                                    <p:attrName>style.visibility</p:attrName>
                                  </p:attrNameLst>
                                </p:cBhvr>
                                <p:to>
                                  <p:strVal val="visible"/>
                                </p:to>
                              </p:set>
                              <p:animEffect transition="in" filter="fade">
                                <p:cBhvr>
                                  <p:cTn id="27" dur="550" fill="hold"/>
                                  <p:tgtEl>
                                    <p:spTgt spid="12"/>
                                  </p:tgtEl>
                                </p:cBhvr>
                              </p:animEffect>
                            </p:childTnLst>
                          </p:cTn>
                        </p:par>
                        <p:par>
                          <p:cTn id="28" presetID="10" presetClass="entr" presetSubtype="0" fill="hold" nodeType="withEffect">
                            <p:stCondLst>
                              <p:cond delay="700"/>
                            </p:stCondLst>
                            <p:childTnLst>
                              <p:set>
                                <p:cBhvr>
                                  <p:cTn id="29" dur="1" fill="hold"/>
                                  <p:tgtEl>
                                    <p:spTgt spid="13"/>
                                  </p:tgtEl>
                                  <p:attrNameLst>
                                    <p:attrName>style.visibility</p:attrName>
                                  </p:attrNameLst>
                                </p:cBhvr>
                                <p:to>
                                  <p:strVal val="visible"/>
                                </p:to>
                              </p:set>
                              <p:animEffect transition="in" filter="fade">
                                <p:cBhvr>
                                  <p:cTn id="30" dur="550" fill="hold"/>
                                  <p:tgtEl>
                                    <p:spTgt spid="13"/>
                                  </p:tgtEl>
                                </p:cBhvr>
                              </p:animEffect>
                            </p:childTnLst>
                          </p:cTn>
                        </p:par>
                        <p:par>
                          <p:cTn id="31" presetID="22" presetClass="entr" presetSubtype="1" fill="hold" nodeType="withEffect">
                            <p:stCondLst>
                              <p:cond delay="1300"/>
                            </p:stCondLst>
                            <p:childTnLst>
                              <p:set>
                                <p:cBhvr>
                                  <p:cTn id="32" dur="1" fill="hold"/>
                                  <p:tgtEl>
                                    <p:spTgt spid="14"/>
                                  </p:tgtEl>
                                  <p:attrNameLst>
                                    <p:attrName>style.visibility</p:attrName>
                                  </p:attrNameLst>
                                </p:cBhvr>
                                <p:to>
                                  <p:strVal val="visible"/>
                                </p:to>
                              </p:set>
                              <p:animEffect transition="in" filter="wipe(right)">
                                <p:cBhvr>
                                  <p:cTn id="33" dur="550" fill="hold"/>
                                  <p:tgtEl>
                                    <p:spTgt spid="14"/>
                                  </p:tgtEl>
                                </p:cBhvr>
                              </p:animEffect>
                            </p:childTnLst>
                          </p:cTn>
                        </p:par>
                        <p:par>
                          <p:cTn id="34" presetID="10" presetClass="entr" presetSubtype="0" fill="hold" nodeType="withEffect">
                            <p:stCondLst>
                              <p:cond delay="1300"/>
                            </p:stCondLst>
                            <p:childTnLst>
                              <p:set>
                                <p:cBhvr>
                                  <p:cTn id="35" dur="1" fill="hold"/>
                                  <p:tgtEl>
                                    <p:spTgt spid="15"/>
                                  </p:tgtEl>
                                  <p:attrNameLst>
                                    <p:attrName>style.visibility</p:attrName>
                                  </p:attrNameLst>
                                </p:cBhvr>
                                <p:to>
                                  <p:strVal val="visible"/>
                                </p:to>
                              </p:set>
                              <p:animEffect transition="in" filter="fade">
                                <p:cBhvr>
                                  <p:cTn id="36" dur="550" fill="hold"/>
                                  <p:tgtEl>
                                    <p:spTgt spid="15"/>
                                  </p:tgtEl>
                                </p:cBhvr>
                              </p:animEffect>
                            </p:childTnLst>
                          </p:cTn>
                        </p:par>
                        <p:par>
                          <p:cTn id="37" presetID="10" presetClass="entr" presetSubtype="0" fill="hold" nodeType="withEffect">
                            <p:stCondLst>
                              <p:cond delay="1300"/>
                            </p:stCondLst>
                            <p:childTnLst>
                              <p:set>
                                <p:cBhvr>
                                  <p:cTn id="38" dur="1" fill="hold"/>
                                  <p:tgtEl>
                                    <p:spTgt spid="16"/>
                                  </p:tgtEl>
                                  <p:attrNameLst>
                                    <p:attrName>style.visibility</p:attrName>
                                  </p:attrNameLst>
                                </p:cBhvr>
                                <p:to>
                                  <p:strVal val="visible"/>
                                </p:to>
                              </p:set>
                              <p:animEffect transition="in" filter="fade">
                                <p:cBhvr>
                                  <p:cTn id="39" dur="550" fill="hold"/>
                                  <p:tgtEl>
                                    <p:spTgt spid="16"/>
                                  </p:tgtEl>
                                </p:cBhvr>
                              </p:animEffect>
                            </p:childTnLst>
                          </p:cTn>
                        </p:par>
                        <p:par>
                          <p:cTn id="40" presetID="10" presetClass="entr" presetSubtype="0" fill="hold" nodeType="withEffect">
                            <p:stCondLst>
                              <p:cond delay="1300"/>
                            </p:stCondLst>
                            <p:childTnLst>
                              <p:set>
                                <p:cBhvr>
                                  <p:cTn id="41" dur="1" fill="hold"/>
                                  <p:tgtEl>
                                    <p:spTgt spid="17"/>
                                  </p:tgtEl>
                                  <p:attrNameLst>
                                    <p:attrName>style.visibility</p:attrName>
                                  </p:attrNameLst>
                                </p:cBhvr>
                                <p:to>
                                  <p:strVal val="visible"/>
                                </p:to>
                              </p:set>
                              <p:animEffect transition="in" filter="fade">
                                <p:cBhvr>
                                  <p:cTn id="42" dur="550" fill="hold"/>
                                  <p:tgtEl>
                                    <p:spTgt spid="17"/>
                                  </p:tgtEl>
                                </p:cBhvr>
                              </p:animEffect>
                            </p:childTnLst>
                          </p:cTn>
                        </p:par>
                        <p:par>
                          <p:cTn id="43" presetID="10" presetClass="entr" presetSubtype="0" fill="hold" nodeType="withEffect">
                            <p:stCondLst>
                              <p:cond delay="1300"/>
                            </p:stCondLst>
                            <p:childTnLst>
                              <p:set>
                                <p:cBhvr>
                                  <p:cTn id="44" dur="1" fill="hold"/>
                                  <p:tgtEl>
                                    <p:spTgt spid="18"/>
                                  </p:tgtEl>
                                  <p:attrNameLst>
                                    <p:attrName>style.visibility</p:attrName>
                                  </p:attrNameLst>
                                </p:cBhvr>
                                <p:to>
                                  <p:strVal val="visible"/>
                                </p:to>
                              </p:set>
                              <p:animEffect transition="in" filter="fade">
                                <p:cBhvr>
                                  <p:cTn id="45" dur="550" fill="hold"/>
                                  <p:tgtEl>
                                    <p:spTgt spid="18"/>
                                  </p:tgtEl>
                                </p:cBhvr>
                              </p:animEffect>
                            </p:childTnLst>
                          </p:cTn>
                        </p:par>
                        <p:par>
                          <p:cTn id="46" presetID="22" presetClass="entr" presetSubtype="1" fill="hold" nodeType="withEffect">
                            <p:stCondLst>
                              <p:cond delay="1900"/>
                            </p:stCondLst>
                            <p:childTnLst>
                              <p:set>
                                <p:cBhvr>
                                  <p:cTn id="47" dur="1" fill="hold"/>
                                  <p:tgtEl>
                                    <p:spTgt spid="19"/>
                                  </p:tgtEl>
                                  <p:attrNameLst>
                                    <p:attrName>style.visibility</p:attrName>
                                  </p:attrNameLst>
                                </p:cBhvr>
                                <p:to>
                                  <p:strVal val="visible"/>
                                </p:to>
                              </p:set>
                              <p:animEffect transition="in" filter="wipe(right)">
                                <p:cBhvr>
                                  <p:cTn id="48" dur="550" fill="hold"/>
                                  <p:tgtEl>
                                    <p:spTgt spid="19"/>
                                  </p:tgtEl>
                                </p:cBhvr>
                              </p:animEffect>
                            </p:childTnLst>
                          </p:cTn>
                        </p:par>
                        <p:par>
                          <p:cTn id="49" presetID="10" presetClass="entr" presetSubtype="0" fill="hold" nodeType="withEffect">
                            <p:stCondLst>
                              <p:cond delay="1900"/>
                            </p:stCondLst>
                            <p:childTnLst>
                              <p:set>
                                <p:cBhvr>
                                  <p:cTn id="50" dur="1" fill="hold"/>
                                  <p:tgtEl>
                                    <p:spTgt spid="20"/>
                                  </p:tgtEl>
                                  <p:attrNameLst>
                                    <p:attrName>style.visibility</p:attrName>
                                  </p:attrNameLst>
                                </p:cBhvr>
                                <p:to>
                                  <p:strVal val="visible"/>
                                </p:to>
                              </p:set>
                              <p:animEffect transition="in" filter="fade">
                                <p:cBhvr>
                                  <p:cTn id="51" dur="550" fill="hold"/>
                                  <p:tgtEl>
                                    <p:spTgt spid="20"/>
                                  </p:tgtEl>
                                </p:cBhvr>
                              </p:animEffect>
                            </p:childTnLst>
                          </p:cTn>
                        </p:par>
                        <p:par>
                          <p:cTn id="52" presetID="10" presetClass="entr" presetSubtype="0" fill="hold" nodeType="withEffect">
                            <p:stCondLst>
                              <p:cond delay="1900"/>
                            </p:stCondLst>
                            <p:childTnLst>
                              <p:set>
                                <p:cBhvr>
                                  <p:cTn id="53" dur="1" fill="hold"/>
                                  <p:tgtEl>
                                    <p:spTgt spid="21"/>
                                  </p:tgtEl>
                                  <p:attrNameLst>
                                    <p:attrName>style.visibility</p:attrName>
                                  </p:attrNameLst>
                                </p:cBhvr>
                                <p:to>
                                  <p:strVal val="visible"/>
                                </p:to>
                              </p:set>
                              <p:animEffect transition="in" filter="fade">
                                <p:cBhvr>
                                  <p:cTn id="54" dur="550" fill="hold"/>
                                  <p:tgtEl>
                                    <p:spTgt spid="21"/>
                                  </p:tgtEl>
                                </p:cBhvr>
                              </p:animEffect>
                            </p:childTnLst>
                          </p:cTn>
                        </p:par>
                        <p:par>
                          <p:cTn id="55" presetID="10" presetClass="entr" presetSubtype="0" fill="hold" nodeType="withEffect">
                            <p:stCondLst>
                              <p:cond delay="1900"/>
                            </p:stCondLst>
                            <p:childTnLst>
                              <p:set>
                                <p:cBhvr>
                                  <p:cTn id="56" dur="1" fill="hold"/>
                                  <p:tgtEl>
                                    <p:spTgt spid="22"/>
                                  </p:tgtEl>
                                  <p:attrNameLst>
                                    <p:attrName>style.visibility</p:attrName>
                                  </p:attrNameLst>
                                </p:cBhvr>
                                <p:to>
                                  <p:strVal val="visible"/>
                                </p:to>
                              </p:set>
                              <p:animEffect transition="in" filter="fade">
                                <p:cBhvr>
                                  <p:cTn id="57" dur="550" fill="hold"/>
                                  <p:tgtEl>
                                    <p:spTgt spid="22"/>
                                  </p:tgtEl>
                                </p:cBhvr>
                              </p:animEffect>
                            </p:childTnLst>
                          </p:cTn>
                        </p:par>
                        <p:par>
                          <p:cTn id="58" presetID="10" presetClass="entr" presetSubtype="0" fill="hold" nodeType="withEffect">
                            <p:stCondLst>
                              <p:cond delay="1900"/>
                            </p:stCondLst>
                            <p:childTnLst>
                              <p:set>
                                <p:cBhvr>
                                  <p:cTn id="59" dur="1" fill="hold"/>
                                  <p:tgtEl>
                                    <p:spTgt spid="23"/>
                                  </p:tgtEl>
                                  <p:attrNameLst>
                                    <p:attrName>style.visibility</p:attrName>
                                  </p:attrNameLst>
                                </p:cBhvr>
                                <p:to>
                                  <p:strVal val="visible"/>
                                </p:to>
                              </p:set>
                              <p:animEffect transition="in" filter="fade">
                                <p:cBhvr>
                                  <p:cTn id="60" dur="550" fill="hold"/>
                                  <p:tgtEl>
                                    <p:spTgt spid="23"/>
                                  </p:tgtEl>
                                </p:cBhvr>
                              </p:animEffect>
                            </p:childTnLst>
                          </p:cTn>
                        </p:par>
                        <p:par>
                          <p:cTn id="61" presetID="22" presetClass="entr" presetSubtype="1" fill="hold" nodeType="withEffect">
                            <p:stCondLst>
                              <p:cond delay="2500"/>
                            </p:stCondLst>
                            <p:childTnLst>
                              <p:set>
                                <p:cBhvr>
                                  <p:cTn id="62" dur="1" fill="hold"/>
                                  <p:tgtEl>
                                    <p:spTgt spid="24"/>
                                  </p:tgtEl>
                                  <p:attrNameLst>
                                    <p:attrName>style.visibility</p:attrName>
                                  </p:attrNameLst>
                                </p:cBhvr>
                                <p:to>
                                  <p:strVal val="visible"/>
                                </p:to>
                              </p:set>
                              <p:animEffect transition="in" filter="wipe(right)">
                                <p:cBhvr>
                                  <p:cTn id="63" dur="550" fill="hold"/>
                                  <p:tgtEl>
                                    <p:spTgt spid="24"/>
                                  </p:tgtEl>
                                </p:cBhvr>
                              </p:animEffect>
                            </p:childTnLst>
                          </p:cTn>
                        </p:par>
                        <p:par>
                          <p:cTn id="64" presetID="10" presetClass="entr" presetSubtype="0" fill="hold" nodeType="withEffect">
                            <p:stCondLst>
                              <p:cond delay="2500"/>
                            </p:stCondLst>
                            <p:childTnLst>
                              <p:set>
                                <p:cBhvr>
                                  <p:cTn id="65" dur="1" fill="hold"/>
                                  <p:tgtEl>
                                    <p:spTgt spid="25"/>
                                  </p:tgtEl>
                                  <p:attrNameLst>
                                    <p:attrName>style.visibility</p:attrName>
                                  </p:attrNameLst>
                                </p:cBhvr>
                                <p:to>
                                  <p:strVal val="visible"/>
                                </p:to>
                              </p:set>
                              <p:animEffect transition="in" filter="fade">
                                <p:cBhvr>
                                  <p:cTn id="66" dur="550" fill="hold"/>
                                  <p:tgtEl>
                                    <p:spTgt spid="25"/>
                                  </p:tgtEl>
                                </p:cBhvr>
                              </p:animEffect>
                            </p:childTnLst>
                          </p:cTn>
                        </p:par>
                        <p:par>
                          <p:cTn id="67" presetID="10" presetClass="entr" presetSubtype="0" fill="hold" nodeType="withEffect">
                            <p:stCondLst>
                              <p:cond delay="2500"/>
                            </p:stCondLst>
                            <p:childTnLst>
                              <p:set>
                                <p:cBhvr>
                                  <p:cTn id="68" dur="1" fill="hold"/>
                                  <p:tgtEl>
                                    <p:spTgt spid="26"/>
                                  </p:tgtEl>
                                  <p:attrNameLst>
                                    <p:attrName>style.visibility</p:attrName>
                                  </p:attrNameLst>
                                </p:cBhvr>
                                <p:to>
                                  <p:strVal val="visible"/>
                                </p:to>
                              </p:set>
                              <p:animEffect transition="in" filter="fade">
                                <p:cBhvr>
                                  <p:cTn id="69" dur="550" fill="hold"/>
                                  <p:tgtEl>
                                    <p:spTgt spid="26"/>
                                  </p:tgtEl>
                                </p:cBhvr>
                              </p:animEffect>
                            </p:childTnLst>
                          </p:cTn>
                        </p:par>
                        <p:par>
                          <p:cTn id="70" presetID="10" presetClass="entr" presetSubtype="0" fill="hold" nodeType="withEffect">
                            <p:stCondLst>
                              <p:cond delay="2500"/>
                            </p:stCondLst>
                            <p:childTnLst>
                              <p:set>
                                <p:cBhvr>
                                  <p:cTn id="71" dur="1" fill="hold"/>
                                  <p:tgtEl>
                                    <p:spTgt spid="27"/>
                                  </p:tgtEl>
                                  <p:attrNameLst>
                                    <p:attrName>style.visibility</p:attrName>
                                  </p:attrNameLst>
                                </p:cBhvr>
                                <p:to>
                                  <p:strVal val="visible"/>
                                </p:to>
                              </p:set>
                              <p:animEffect transition="in" filter="fade">
                                <p:cBhvr>
                                  <p:cTn id="72" dur="550" fill="hold"/>
                                  <p:tgtEl>
                                    <p:spTgt spid="27"/>
                                  </p:tgtEl>
                                </p:cBhvr>
                              </p:animEffect>
                            </p:childTnLst>
                          </p:cTn>
                        </p:par>
                        <p:par>
                          <p:cTn id="73" presetID="10" presetClass="entr" presetSubtype="0" fill="hold" nodeType="withEffect">
                            <p:stCondLst>
                              <p:cond delay="2500"/>
                            </p:stCondLst>
                            <p:childTnLst>
                              <p:set>
                                <p:cBhvr>
                                  <p:cTn id="74" dur="1" fill="hold"/>
                                  <p:tgtEl>
                                    <p:spTgt spid="28"/>
                                  </p:tgtEl>
                                  <p:attrNameLst>
                                    <p:attrName>style.visibility</p:attrName>
                                  </p:attrNameLst>
                                </p:cBhvr>
                                <p:to>
                                  <p:strVal val="visible"/>
                                </p:to>
                              </p:set>
                              <p:animEffect transition="in" filter="fade">
                                <p:cBhvr>
                                  <p:cTn id="75" dur="550" fill="hold"/>
                                  <p:tgtEl>
                                    <p:spTgt spid="28"/>
                                  </p:tgtEl>
                                </p:cBhvr>
                              </p:animEffect>
                            </p:childTnLst>
                          </p:cTn>
                        </p:par>
                        <p:par>
                          <p:cTn id="76" presetID="10" presetClass="entr" presetSubtype="0" fill="hold" nodeType="withEffect">
                            <p:stCondLst>
                              <p:cond delay="3100"/>
                            </p:stCondLst>
                            <p:childTnLst>
                              <p:set>
                                <p:cBhvr>
                                  <p:cTn id="77" dur="1" fill="hold"/>
                                  <p:tgtEl>
                                    <p:spTgt spid="29"/>
                                  </p:tgtEl>
                                  <p:attrNameLst>
                                    <p:attrName>style.visibility</p:attrName>
                                  </p:attrNameLst>
                                </p:cBhvr>
                                <p:to>
                                  <p:strVal val="visible"/>
                                </p:to>
                              </p:set>
                              <p:animEffect transition="in" filter="fade">
                                <p:cBhvr>
                                  <p:cTn id="78" dur="550" fill="hold"/>
                                  <p:tgtEl>
                                    <p:spTgt spid="29"/>
                                  </p:tgtEl>
                                </p:cBhvr>
                              </p:animEffect>
                            </p:childTnLst>
                          </p:cTn>
                        </p:par>
                        <p:par>
                          <p:cTn id="79" presetID="10" presetClass="entr" presetSubtype="0" fill="hold" nodeType="withEffect">
                            <p:stCondLst>
                              <p:cond delay="3100"/>
                            </p:stCondLst>
                            <p:childTnLst>
                              <p:set>
                                <p:cBhvr>
                                  <p:cTn id="80" dur="1" fill="hold"/>
                                  <p:tgtEl>
                                    <p:spTgt spid="30"/>
                                  </p:tgtEl>
                                  <p:attrNameLst>
                                    <p:attrName>style.visibility</p:attrName>
                                  </p:attrNameLst>
                                </p:cBhvr>
                                <p:to>
                                  <p:strVal val="visible"/>
                                </p:to>
                              </p:set>
                              <p:animEffect transition="in" filter="fade">
                                <p:cBhvr>
                                  <p:cTn id="81" dur="550" fill="hold"/>
                                  <p:tgtEl>
                                    <p:spTgt spid="3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1" name="page">
            <a:extLst xmlns:a="http://schemas.openxmlformats.org/drawingml/2006/main">
              <a:ext uri="{FF2B5EF4-FFF2-40B4-BE49-F238E27FC236}">
                <a16:creationId xmlns:a16="http://schemas.microsoft.com/office/drawing/2014/main" id="{0B08D204-B4C5-4AFB-BF2C-2CE26220389C}"/>
              </a:ext>
            </a:extLst>
          </p:cNvPr>
          <p:cNvSpPr>
            <a:spLocks xmlns:a="http://schemas.openxmlformats.org/drawingml/2006/main" noGrp="1"/>
          </p:cNvSpPr>
          <p:nvPr/>
        </p:nvSpPr>
        <p:spPr>
          <a:xfrm xmlns:a="http://schemas.openxmlformats.org/drawingml/2006/main">
            <a:off x="11239500" y="62579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A8BACB"/>
                </a:solidFill>
                <a:latin typeface="Helvetica Neue"/>
                <a:ea typeface="Helvetica Neue"/>
                <a:cs typeface="Helvetica Neue"/>
              </a:defRPr>
            </a:defPPr>
          </a:lstStyle>
          <a:p xmlns:a="http://schemas.openxmlformats.org/drawingml/2006/main">
            <a:pPr algn="r">
              <a:defRPr sz="1200" b="0">
                <a:solidFill>
                  <a:srgbClr val="A8BACB"/>
                </a:solidFill>
                <a:latin typeface="Helvetica Neue"/>
                <a:ea typeface="Helvetica Neue"/>
                <a:cs typeface="Helvetica Neue"/>
              </a:defRPr>
            </a:pPr>
            <a:r>
              <a:rPr sz="1200" b="0">
                <a:solidFill>
                  <a:srgbClr val="A8BACB"/>
                </a:solidFill>
                <a:latin typeface="Helvetica Neue"/>
                <a:ea typeface="Helvetica Neue"/>
                <a:cs typeface="Helvetica Neue"/>
              </a:rPr>
              <a:t>05</a:t>
            </a:r>
          </a:p>
        </p:txBody>
      </p:sp>
      <p:sp>
        <p:nvSpPr>
          <p:cNvPr id="2" name="section">
            <a:extLst xmlns:a="http://schemas.openxmlformats.org/drawingml/2006/main">
              <a:ext uri="{FF2B5EF4-FFF2-40B4-BE49-F238E27FC236}">
                <a16:creationId xmlns:a16="http://schemas.microsoft.com/office/drawing/2014/main" id="{68C4BBAE-FB5F-4480-8359-4FBAACFD2227}"/>
              </a:ext>
            </a:extLst>
          </p:cNvPr>
          <p:cNvSpPr>
            <a:spLocks xmlns:a="http://schemas.openxmlformats.org/drawingml/2006/main" noGrp="1"/>
          </p:cNvSpPr>
          <p:nvPr/>
        </p:nvSpPr>
        <p:spPr>
          <a:xfrm xmlns:a="http://schemas.openxmlformats.org/drawingml/2006/main">
            <a:off x="609600" y="4000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5E2C1"/>
                </a:solidFill>
                <a:latin typeface="Helvetica Neue"/>
                <a:ea typeface="Helvetica Neue"/>
                <a:cs typeface="Helvetica Neue"/>
              </a:defRPr>
            </a:defPPr>
          </a:lstStyle>
          <a:p xmlns:a="http://schemas.openxmlformats.org/drawingml/2006/main">
            <a:pPr>
              <a:defRPr sz="1125" b="1">
                <a:solidFill>
                  <a:srgbClr val="65E2C1"/>
                </a:solidFill>
                <a:latin typeface="Helvetica Neue"/>
                <a:ea typeface="Helvetica Neue"/>
                <a:cs typeface="Helvetica Neue"/>
              </a:defRPr>
            </a:pPr>
            <a:r>
              <a:rPr sz="1125" b="1">
                <a:solidFill>
                  <a:srgbClr val="65E2C1"/>
                </a:solidFill>
                <a:latin typeface="Helvetica Neue"/>
                <a:ea typeface="Helvetica Neue"/>
                <a:cs typeface="Helvetica Neue"/>
              </a:rPr>
              <a:t>ARCHITECTURE AND STACK</a:t>
            </a:r>
          </a:p>
        </p:txBody>
      </p:sp>
      <p:sp>
        <p:nvSpPr>
          <p:cNvPr id="3" name="title">
            <a:extLst xmlns:a="http://schemas.openxmlformats.org/drawingml/2006/main">
              <a:ext uri="{FF2B5EF4-FFF2-40B4-BE49-F238E27FC236}">
                <a16:creationId xmlns:a16="http://schemas.microsoft.com/office/drawing/2014/main" id="{1CB4E63B-0440-4681-93D7-F5921543F328}"/>
              </a:ext>
            </a:extLst>
          </p:cNvPr>
          <p:cNvSpPr>
            <a:spLocks xmlns:a="http://schemas.openxmlformats.org/drawingml/2006/main" noGrp="1"/>
          </p:cNvSpPr>
          <p:nvPr/>
        </p:nvSpPr>
        <p:spPr>
          <a:xfrm xmlns:a="http://schemas.openxmlformats.org/drawingml/2006/main">
            <a:off x="609600" y="7905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1F5F9"/>
                </a:solidFill>
                <a:latin typeface="Helvetica Neue"/>
                <a:ea typeface="Helvetica Neue"/>
                <a:cs typeface="Helvetica Neue"/>
              </a:defRPr>
            </a:defPPr>
          </a:lstStyle>
          <a:p xmlns:a="http://schemas.openxmlformats.org/drawingml/2006/main">
            <a:pPr>
              <a:defRPr sz="3600" b="1">
                <a:solidFill>
                  <a:srgbClr val="F1F5F9"/>
                </a:solidFill>
                <a:latin typeface="Helvetica Neue"/>
                <a:ea typeface="Helvetica Neue"/>
                <a:cs typeface="Helvetica Neue"/>
              </a:defRPr>
            </a:pPr>
            <a:r>
              <a:rPr sz="3600" b="1">
                <a:solidFill>
                  <a:srgbClr val="F1F5F9"/>
                </a:solidFill>
                <a:latin typeface="Helvetica Neue"/>
                <a:ea typeface="Helvetica Neue"/>
                <a:cs typeface="Helvetica Neue"/>
              </a:rPr>
              <a:t>The technical decision loop</a:t>
            </a:r>
          </a:p>
        </p:txBody>
      </p:sp>
      <p:sp>
        <p:nvSpPr>
          <p:cNvPr id="4" name="subtitle">
            <a:extLst xmlns:a="http://schemas.openxmlformats.org/drawingml/2006/main">
              <a:ext uri="{FF2B5EF4-FFF2-40B4-BE49-F238E27FC236}">
                <a16:creationId xmlns:a16="http://schemas.microsoft.com/office/drawing/2014/main" id="{8B770903-864C-44F2-995C-209B2D13A24A}"/>
              </a:ext>
            </a:extLst>
          </p:cNvPr>
          <p:cNvSpPr>
            <a:spLocks xmlns:a="http://schemas.openxmlformats.org/drawingml/2006/main" noGrp="1"/>
          </p:cNvSpPr>
          <p:nvPr/>
        </p:nvSpPr>
        <p:spPr>
          <a:xfrm xmlns:a="http://schemas.openxmlformats.org/drawingml/2006/main">
            <a:off x="609600" y="15621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8BACB"/>
                </a:solidFill>
                <a:latin typeface="Helvetica Neue"/>
                <a:ea typeface="Helvetica Neue"/>
                <a:cs typeface="Helvetica Neue"/>
              </a:defRPr>
            </a:defPPr>
          </a:lstStyle>
          <a:p xmlns:a="http://schemas.openxmlformats.org/drawingml/2006/main">
            <a:pPr>
              <a:defRPr sz="1800" b="0">
                <a:solidFill>
                  <a:srgbClr val="A8BACB"/>
                </a:solidFill>
                <a:latin typeface="Helvetica Neue"/>
                <a:ea typeface="Helvetica Neue"/>
                <a:cs typeface="Helvetica Neue"/>
              </a:defRPr>
            </a:pPr>
            <a:r>
              <a:rPr sz="1800" b="0">
                <a:solidFill>
                  <a:srgbClr val="A8BACB"/>
                </a:solidFill>
                <a:latin typeface="Helvetica Neue"/>
                <a:ea typeface="Helvetica Neue"/>
                <a:cs typeface="Helvetica Neue"/>
              </a:rPr>
              <a:t>Target architecture: Python owns decisions. React executes and visualizes them.</a:t>
            </a:r>
          </a:p>
        </p:txBody>
      </p:sp>
      <p:sp>
        <p:nvSpPr>
          <p:cNvPr id="5" name="lane_0">
            <a:extLst xmlns:a="http://schemas.openxmlformats.org/drawingml/2006/main">
              <a:ext uri="{FF2B5EF4-FFF2-40B4-BE49-F238E27FC236}">
                <a16:creationId xmlns:a16="http://schemas.microsoft.com/office/drawing/2014/main" id="{2C24C259-1AA1-401E-B127-BB00AE7918F5}"/>
              </a:ext>
            </a:extLst>
          </p:cNvPr>
          <p:cNvSpPr>
            <a:spLocks xmlns:a="http://schemas.openxmlformats.org/drawingml/2006/main" noGrp="1"/>
          </p:cNvSpPr>
          <p:nvPr/>
        </p:nvSpPr>
        <p:spPr>
          <a:xfrm xmlns:a="http://schemas.openxmlformats.org/drawingml/2006/main">
            <a:off x="476250" y="2333625"/>
            <a:ext cx="1562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F1F5F9"/>
                </a:solidFill>
                <a:latin typeface="Helvetica Neue"/>
                <a:ea typeface="Helvetica Neue"/>
                <a:cs typeface="Helvetica Neue"/>
              </a:defRPr>
            </a:defPPr>
          </a:lstStyle>
          <a:p xmlns:a="http://schemas.openxmlformats.org/drawingml/2006/main">
            <a:pPr algn="ctr">
              <a:defRPr sz="1725" b="1">
                <a:solidFill>
                  <a:srgbClr val="F1F5F9"/>
                </a:solidFill>
                <a:latin typeface="Helvetica Neue"/>
                <a:ea typeface="Helvetica Neue"/>
                <a:cs typeface="Helvetica Neue"/>
              </a:defRPr>
            </a:pPr>
            <a:r>
              <a:rPr sz="1725" b="1">
                <a:solidFill>
                  <a:srgbClr val="F1F5F9"/>
                </a:solidFill>
                <a:latin typeface="Helvetica Neue"/>
                <a:ea typeface="Helvetica Neue"/>
                <a:cs typeface="Helvetica Neue"/>
              </a:rPr>
              <a:t>Stadium twin</a:t>
            </a:r>
          </a:p>
        </p:txBody>
      </p:sp>
      <p:sp>
        <p:nvSpPr>
          <p:cNvPr id="6" name="lifeline_0">
            <a:extLst xmlns:a="http://schemas.openxmlformats.org/drawingml/2006/main">
              <a:ext uri="{FF2B5EF4-FFF2-40B4-BE49-F238E27FC236}">
                <a16:creationId xmlns:a16="http://schemas.microsoft.com/office/drawing/2014/main" id="{35CA1117-D420-446C-958B-8374CC437DF1}"/>
              </a:ext>
            </a:extLst>
          </p:cNvPr>
          <p:cNvSpPr>
            <a:spLocks xmlns:a="http://schemas.openxmlformats.org/drawingml/2006/main" noGrp="1"/>
          </p:cNvSpPr>
          <p:nvPr/>
        </p:nvSpPr>
        <p:spPr>
          <a:xfrm xmlns:a="http://schemas.openxmlformats.org/drawingml/2006/main" flipH="0" flipV="0">
            <a:off x="1257300" y="2819400"/>
            <a:ext cx="0" cy="2952750"/>
          </a:xfrm>
          <a:prstGeom xmlns:a="http://schemas.openxmlformats.org/drawingml/2006/main" prst="line">
            <a:avLst/>
          </a:prstGeom>
          <a:noFill xmlns:a="http://schemas.openxmlformats.org/drawingml/2006/main"/>
          <a:ln xmlns:a="http://schemas.openxmlformats.org/drawingml/2006/main" w="19050">
            <a:solidFill>
              <a:srgbClr val="2C4255"/>
            </a:solidFill>
            <a:prstDash val="dash"/>
          </a:ln>
        </p:spPr>
      </p:sp>
      <p:sp>
        <p:nvSpPr>
          <p:cNvPr id="7" name="lane_1">
            <a:extLst xmlns:a="http://schemas.openxmlformats.org/drawingml/2006/main">
              <a:ext uri="{FF2B5EF4-FFF2-40B4-BE49-F238E27FC236}">
                <a16:creationId xmlns:a16="http://schemas.microsoft.com/office/drawing/2014/main" id="{CA728601-D22F-4B35-93F4-0AC0D94592B8}"/>
              </a:ext>
            </a:extLst>
          </p:cNvPr>
          <p:cNvSpPr>
            <a:spLocks xmlns:a="http://schemas.openxmlformats.org/drawingml/2006/main" noGrp="1"/>
          </p:cNvSpPr>
          <p:nvPr/>
        </p:nvSpPr>
        <p:spPr>
          <a:xfrm xmlns:a="http://schemas.openxmlformats.org/drawingml/2006/main">
            <a:off x="3228975" y="2333625"/>
            <a:ext cx="1562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65E2C1"/>
                </a:solidFill>
                <a:latin typeface="Helvetica Neue"/>
                <a:ea typeface="Helvetica Neue"/>
                <a:cs typeface="Helvetica Neue"/>
              </a:defRPr>
            </a:defPPr>
          </a:lstStyle>
          <a:p xmlns:a="http://schemas.openxmlformats.org/drawingml/2006/main">
            <a:pPr algn="ctr">
              <a:defRPr sz="1725" b="1">
                <a:solidFill>
                  <a:srgbClr val="65E2C1"/>
                </a:solidFill>
                <a:latin typeface="Helvetica Neue"/>
                <a:ea typeface="Helvetica Neue"/>
                <a:cs typeface="Helvetica Neue"/>
              </a:defRPr>
            </a:pPr>
            <a:r>
              <a:rPr sz="1725" b="1">
                <a:solidFill>
                  <a:srgbClr val="65E2C1"/>
                </a:solidFill>
                <a:latin typeface="Helvetica Neue"/>
                <a:ea typeface="Helvetica Neue"/>
                <a:cs typeface="Helvetica Neue"/>
              </a:rPr>
              <a:t>Python engine</a:t>
            </a:r>
          </a:p>
        </p:txBody>
      </p:sp>
      <p:sp>
        <p:nvSpPr>
          <p:cNvPr id="8" name="lifeline_1">
            <a:extLst xmlns:a="http://schemas.openxmlformats.org/drawingml/2006/main">
              <a:ext uri="{FF2B5EF4-FFF2-40B4-BE49-F238E27FC236}">
                <a16:creationId xmlns:a16="http://schemas.microsoft.com/office/drawing/2014/main" id="{E637F2CC-8821-48A7-B7D8-076C648B1159}"/>
              </a:ext>
            </a:extLst>
          </p:cNvPr>
          <p:cNvSpPr>
            <a:spLocks xmlns:a="http://schemas.openxmlformats.org/drawingml/2006/main" noGrp="1"/>
          </p:cNvSpPr>
          <p:nvPr/>
        </p:nvSpPr>
        <p:spPr>
          <a:xfrm xmlns:a="http://schemas.openxmlformats.org/drawingml/2006/main" flipH="0" flipV="0">
            <a:off x="4010025" y="2819400"/>
            <a:ext cx="0" cy="2952750"/>
          </a:xfrm>
          <a:prstGeom xmlns:a="http://schemas.openxmlformats.org/drawingml/2006/main" prst="line">
            <a:avLst/>
          </a:prstGeom>
          <a:noFill xmlns:a="http://schemas.openxmlformats.org/drawingml/2006/main"/>
          <a:ln xmlns:a="http://schemas.openxmlformats.org/drawingml/2006/main" w="19050">
            <a:solidFill>
              <a:srgbClr val="2C4255"/>
            </a:solidFill>
            <a:prstDash val="dash"/>
          </a:ln>
        </p:spPr>
      </p:sp>
      <p:sp>
        <p:nvSpPr>
          <p:cNvPr id="9" name="lane_2">
            <a:extLst xmlns:a="http://schemas.openxmlformats.org/drawingml/2006/main">
              <a:ext uri="{FF2B5EF4-FFF2-40B4-BE49-F238E27FC236}">
                <a16:creationId xmlns:a16="http://schemas.microsoft.com/office/drawing/2014/main" id="{189AA9EA-D6FC-4C78-8F50-B0EED8F98999}"/>
              </a:ext>
            </a:extLst>
          </p:cNvPr>
          <p:cNvSpPr>
            <a:spLocks xmlns:a="http://schemas.openxmlformats.org/drawingml/2006/main" noGrp="1"/>
          </p:cNvSpPr>
          <p:nvPr/>
        </p:nvSpPr>
        <p:spPr>
          <a:xfrm xmlns:a="http://schemas.openxmlformats.org/drawingml/2006/main">
            <a:off x="6324600" y="2333625"/>
            <a:ext cx="1562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F1F5F9"/>
                </a:solidFill>
                <a:latin typeface="Helvetica Neue"/>
                <a:ea typeface="Helvetica Neue"/>
                <a:cs typeface="Helvetica Neue"/>
              </a:defRPr>
            </a:defPPr>
          </a:lstStyle>
          <a:p xmlns:a="http://schemas.openxmlformats.org/drawingml/2006/main">
            <a:pPr algn="ctr">
              <a:defRPr sz="1725" b="1">
                <a:solidFill>
                  <a:srgbClr val="F1F5F9"/>
                </a:solidFill>
                <a:latin typeface="Helvetica Neue"/>
                <a:ea typeface="Helvetica Neue"/>
                <a:cs typeface="Helvetica Neue"/>
              </a:defRPr>
            </a:pPr>
            <a:r>
              <a:rPr sz="1725" b="1">
                <a:solidFill>
                  <a:srgbClr val="F1F5F9"/>
                </a:solidFill>
                <a:latin typeface="Helvetica Neue"/>
                <a:ea typeface="Helvetica Neue"/>
                <a:cs typeface="Helvetica Neue"/>
              </a:rPr>
              <a:t>Operator</a:t>
            </a:r>
          </a:p>
        </p:txBody>
      </p:sp>
      <p:sp>
        <p:nvSpPr>
          <p:cNvPr id="10" name="lifeline_2">
            <a:extLst xmlns:a="http://schemas.openxmlformats.org/drawingml/2006/main">
              <a:ext uri="{FF2B5EF4-FFF2-40B4-BE49-F238E27FC236}">
                <a16:creationId xmlns:a16="http://schemas.microsoft.com/office/drawing/2014/main" id="{9EE14D17-1B11-481A-9A3F-9C476496A0DF}"/>
              </a:ext>
            </a:extLst>
          </p:cNvPr>
          <p:cNvSpPr>
            <a:spLocks xmlns:a="http://schemas.openxmlformats.org/drawingml/2006/main" noGrp="1"/>
          </p:cNvSpPr>
          <p:nvPr/>
        </p:nvSpPr>
        <p:spPr>
          <a:xfrm xmlns:a="http://schemas.openxmlformats.org/drawingml/2006/main" flipH="0" flipV="0">
            <a:off x="7105650" y="2819400"/>
            <a:ext cx="0" cy="2952750"/>
          </a:xfrm>
          <a:prstGeom xmlns:a="http://schemas.openxmlformats.org/drawingml/2006/main" prst="line">
            <a:avLst/>
          </a:prstGeom>
          <a:noFill xmlns:a="http://schemas.openxmlformats.org/drawingml/2006/main"/>
          <a:ln xmlns:a="http://schemas.openxmlformats.org/drawingml/2006/main" w="19050">
            <a:solidFill>
              <a:srgbClr val="2C4255"/>
            </a:solidFill>
            <a:prstDash val="dash"/>
          </a:ln>
        </p:spPr>
      </p:sp>
      <p:cxnSp>
        <p:nvCxnSpPr>
          <p:cNvPr id="11" name="g1_message">
            <a:extLst xmlns:a="http://schemas.openxmlformats.org/drawingml/2006/main">
              <a:ext uri="{FF2B5EF4-FFF2-40B4-BE49-F238E27FC236}">
                <a16:creationId xmlns:a16="http://schemas.microsoft.com/office/drawing/2014/main" id="{D859716E-3036-4C14-BC6D-0E4C55F128BF}"/>
              </a:ext>
            </a:extLst>
          </p:cNvPr>
          <p:cNvCxnSpPr/>
          <p:nvPr/>
        </p:nvCxnSpPr>
        <p:spPr>
          <a:xfrm xmlns:a="http://schemas.openxmlformats.org/drawingml/2006/main" flipH="0" flipV="0">
            <a:off x="1257300" y="3105150"/>
            <a:ext cx="2752725" cy="0"/>
          </a:xfrm>
          <a:prstGeom xmlns:a="http://schemas.openxmlformats.org/drawingml/2006/main" prst="straightConnector1">
            <a:avLst/>
          </a:prstGeom>
          <a:ln xmlns:a="http://schemas.openxmlformats.org/drawingml/2006/main" w="28575">
            <a:solidFill>
              <a:srgbClr val="65E2C1"/>
            </a:solidFill>
            <a:prstDash val="solid"/>
            <a:tailEnd type="triangle" w="med" len="med"/>
          </a:ln>
        </p:spPr>
      </p:cxnSp>
      <p:sp>
        <p:nvSpPr>
          <p:cNvPr id="12" name="g1_label">
            <a:extLst xmlns:a="http://schemas.openxmlformats.org/drawingml/2006/main">
              <a:ext uri="{FF2B5EF4-FFF2-40B4-BE49-F238E27FC236}">
                <a16:creationId xmlns:a16="http://schemas.microsoft.com/office/drawing/2014/main" id="{589418DB-302C-4C37-A5BE-4B5959ADAB26}"/>
              </a:ext>
            </a:extLst>
          </p:cNvPr>
          <p:cNvSpPr>
            <a:spLocks xmlns:a="http://schemas.openxmlformats.org/drawingml/2006/main" noGrp="1"/>
          </p:cNvSpPr>
          <p:nvPr/>
        </p:nvSpPr>
        <p:spPr>
          <a:xfrm xmlns:a="http://schemas.openxmlformats.org/drawingml/2006/main">
            <a:off x="1409700" y="277177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1F5F9"/>
                </a:solidFill>
                <a:latin typeface="Helvetica Neue"/>
                <a:ea typeface="Helvetica Neue"/>
                <a:cs typeface="Helvetica Neue"/>
              </a:defRPr>
            </a:defPPr>
          </a:lstStyle>
          <a:p xmlns:a="http://schemas.openxmlformats.org/drawingml/2006/main">
            <a:pPr>
              <a:defRPr sz="1425" b="0">
                <a:solidFill>
                  <a:srgbClr val="F1F5F9"/>
                </a:solidFill>
                <a:latin typeface="Helvetica Neue"/>
                <a:ea typeface="Helvetica Neue"/>
                <a:cs typeface="Helvetica Neue"/>
              </a:defRPr>
            </a:pPr>
            <a:r>
              <a:rPr sz="1425" b="0">
                <a:solidFill>
                  <a:srgbClr val="F1F5F9"/>
                </a:solidFill>
                <a:latin typeface="Helvetica Neue"/>
                <a:ea typeface="Helvetica Neue"/>
                <a:cs typeface="Helvetica Neue"/>
              </a:rPr>
              <a:t>Person telemetry + gate state</a:t>
            </a:r>
          </a:p>
        </p:txBody>
      </p:sp>
      <p:sp>
        <p:nvSpPr>
          <p:cNvPr id="13" name="g2_compute">
            <a:extLst xmlns:a="http://schemas.openxmlformats.org/drawingml/2006/main">
              <a:ext uri="{FF2B5EF4-FFF2-40B4-BE49-F238E27FC236}">
                <a16:creationId xmlns:a16="http://schemas.microsoft.com/office/drawing/2014/main" id="{4610C9C8-8618-4202-BE62-DC42BD7AE00E}"/>
              </a:ext>
            </a:extLst>
          </p:cNvPr>
          <p:cNvSpPr>
            <a:spLocks xmlns:a="http://schemas.openxmlformats.org/drawingml/2006/main" noGrp="1"/>
          </p:cNvSpPr>
          <p:nvPr/>
        </p:nvSpPr>
        <p:spPr>
          <a:xfrm xmlns:a="http://schemas.openxmlformats.org/drawingml/2006/main">
            <a:off x="4257675" y="341947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5E2C1"/>
                </a:solidFill>
                <a:latin typeface="Helvetica Neue"/>
                <a:ea typeface="Helvetica Neue"/>
                <a:cs typeface="Helvetica Neue"/>
              </a:defRPr>
            </a:defPPr>
          </a:lstStyle>
          <a:p xmlns:a="http://schemas.openxmlformats.org/drawingml/2006/main">
            <a:pPr>
              <a:defRPr sz="1425" b="0">
                <a:solidFill>
                  <a:srgbClr val="65E2C1"/>
                </a:solidFill>
                <a:latin typeface="Helvetica Neue"/>
                <a:ea typeface="Helvetica Neue"/>
                <a:cs typeface="Helvetica Neue"/>
              </a:defRPr>
            </a:pPr>
            <a:r>
              <a:rPr sz="1425" b="0">
                <a:solidFill>
                  <a:srgbClr val="65E2C1"/>
                </a:solidFill>
                <a:latin typeface="Helvetica Neue"/>
                <a:ea typeface="Helvetica Neue"/>
                <a:cs typeface="Helvetica Neue"/>
              </a:rPr>
              <a:t>Validate, detect, forecast, score</a:t>
            </a:r>
          </a:p>
        </p:txBody>
      </p:sp>
      <p:cxnSp>
        <p:nvCxnSpPr>
          <p:cNvPr id="14" name="g3_proposal">
            <a:extLst xmlns:a="http://schemas.openxmlformats.org/drawingml/2006/main">
              <a:ext uri="{FF2B5EF4-FFF2-40B4-BE49-F238E27FC236}">
                <a16:creationId xmlns:a16="http://schemas.microsoft.com/office/drawing/2014/main" id="{C64BD478-9540-4DE6-8B55-FF526EF1119F}"/>
              </a:ext>
            </a:extLst>
          </p:cNvPr>
          <p:cNvCxnSpPr/>
          <p:nvPr/>
        </p:nvCxnSpPr>
        <p:spPr>
          <a:xfrm xmlns:a="http://schemas.openxmlformats.org/drawingml/2006/main" flipH="0" flipV="0">
            <a:off x="4010025" y="4029075"/>
            <a:ext cx="3095625" cy="0"/>
          </a:xfrm>
          <a:prstGeom xmlns:a="http://schemas.openxmlformats.org/drawingml/2006/main" prst="straightConnector1">
            <a:avLst/>
          </a:prstGeom>
          <a:ln xmlns:a="http://schemas.openxmlformats.org/drawingml/2006/main" w="28575">
            <a:solidFill>
              <a:srgbClr val="93BAFF"/>
            </a:solidFill>
            <a:prstDash val="solid"/>
            <a:tailEnd type="triangle" w="med" len="med"/>
          </a:ln>
        </p:spPr>
      </p:cxnSp>
      <p:sp>
        <p:nvSpPr>
          <p:cNvPr id="15" name="g3_label">
            <a:extLst xmlns:a="http://schemas.openxmlformats.org/drawingml/2006/main">
              <a:ext uri="{FF2B5EF4-FFF2-40B4-BE49-F238E27FC236}">
                <a16:creationId xmlns:a16="http://schemas.microsoft.com/office/drawing/2014/main" id="{B9CEB3B9-5BF4-4F68-84D5-BC7EEEEF8A86}"/>
              </a:ext>
            </a:extLst>
          </p:cNvPr>
          <p:cNvSpPr>
            <a:spLocks xmlns:a="http://schemas.openxmlformats.org/drawingml/2006/main" noGrp="1"/>
          </p:cNvSpPr>
          <p:nvPr/>
        </p:nvSpPr>
        <p:spPr>
          <a:xfrm xmlns:a="http://schemas.openxmlformats.org/drawingml/2006/main">
            <a:off x="4276725" y="3705225"/>
            <a:ext cx="28289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1F5F9"/>
                </a:solidFill>
                <a:latin typeface="Helvetica Neue"/>
                <a:ea typeface="Helvetica Neue"/>
                <a:cs typeface="Helvetica Neue"/>
              </a:defRPr>
            </a:defPPr>
          </a:lstStyle>
          <a:p xmlns:a="http://schemas.openxmlformats.org/drawingml/2006/main">
            <a:pPr>
              <a:defRPr sz="1425" b="0">
                <a:solidFill>
                  <a:srgbClr val="F1F5F9"/>
                </a:solidFill>
                <a:latin typeface="Helvetica Neue"/>
                <a:ea typeface="Helvetica Neue"/>
                <a:cs typeface="Helvetica Neue"/>
              </a:defRPr>
            </a:pPr>
            <a:r>
              <a:rPr sz="1425" b="0">
                <a:solidFill>
                  <a:srgbClr val="F1F5F9"/>
                </a:solidFill>
                <a:latin typeface="Helvetica Neue"/>
                <a:ea typeface="Helvetica Neue"/>
                <a:cs typeface="Helvetica Neue"/>
              </a:rPr>
              <a:t>Risk + recommended action</a:t>
            </a:r>
          </a:p>
        </p:txBody>
      </p:sp>
      <p:cxnSp>
        <p:nvCxnSpPr>
          <p:cNvPr id="16" name="g4_approval">
            <a:extLst xmlns:a="http://schemas.openxmlformats.org/drawingml/2006/main">
              <a:ext uri="{FF2B5EF4-FFF2-40B4-BE49-F238E27FC236}">
                <a16:creationId xmlns:a16="http://schemas.microsoft.com/office/drawing/2014/main" id="{B1E62FC6-B972-41FA-8DD2-700456513C4A}"/>
              </a:ext>
            </a:extLst>
          </p:cNvPr>
          <p:cNvCxnSpPr/>
          <p:nvPr/>
        </p:nvCxnSpPr>
        <p:spPr>
          <a:xfrm xmlns:a="http://schemas.openxmlformats.org/drawingml/2006/main" flipH="1" flipV="0">
            <a:off x="4010025" y="4695825"/>
            <a:ext cx="3095625" cy="0"/>
          </a:xfrm>
          <a:prstGeom xmlns:a="http://schemas.openxmlformats.org/drawingml/2006/main" prst="straightConnector1">
            <a:avLst/>
          </a:prstGeom>
          <a:ln xmlns:a="http://schemas.openxmlformats.org/drawingml/2006/main" w="28575">
            <a:solidFill>
              <a:srgbClr val="93BAFF"/>
            </a:solidFill>
            <a:prstDash val="solid"/>
            <a:tailEnd type="triangle" w="med" len="med"/>
          </a:ln>
        </p:spPr>
      </p:cxnSp>
      <p:sp>
        <p:nvSpPr>
          <p:cNvPr id="17" name="g4_label">
            <a:extLst xmlns:a="http://schemas.openxmlformats.org/drawingml/2006/main">
              <a:ext uri="{FF2B5EF4-FFF2-40B4-BE49-F238E27FC236}">
                <a16:creationId xmlns:a16="http://schemas.microsoft.com/office/drawing/2014/main" id="{5DAC1640-D8C3-4575-8E2E-64A967B5889B}"/>
              </a:ext>
            </a:extLst>
          </p:cNvPr>
          <p:cNvSpPr>
            <a:spLocks xmlns:a="http://schemas.openxmlformats.org/drawingml/2006/main" noGrp="1"/>
          </p:cNvSpPr>
          <p:nvPr/>
        </p:nvSpPr>
        <p:spPr>
          <a:xfrm xmlns:a="http://schemas.openxmlformats.org/drawingml/2006/main">
            <a:off x="4276725" y="4352925"/>
            <a:ext cx="28289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1F5F9"/>
                </a:solidFill>
                <a:latin typeface="Helvetica Neue"/>
                <a:ea typeface="Helvetica Neue"/>
                <a:cs typeface="Helvetica Neue"/>
              </a:defRPr>
            </a:defPPr>
          </a:lstStyle>
          <a:p xmlns:a="http://schemas.openxmlformats.org/drawingml/2006/main">
            <a:pPr>
              <a:defRPr sz="1425" b="0">
                <a:solidFill>
                  <a:srgbClr val="F1F5F9"/>
                </a:solidFill>
                <a:latin typeface="Helvetica Neue"/>
                <a:ea typeface="Helvetica Neue"/>
                <a:cs typeface="Helvetica Neue"/>
              </a:defRPr>
            </a:pPr>
            <a:r>
              <a:rPr sz="1425" b="0">
                <a:solidFill>
                  <a:srgbClr val="F1F5F9"/>
                </a:solidFill>
                <a:latin typeface="Helvetica Neue"/>
                <a:ea typeface="Helvetica Neue"/>
                <a:cs typeface="Helvetica Neue"/>
              </a:rPr>
              <a:t>Approve intervention / policy</a:t>
            </a:r>
          </a:p>
        </p:txBody>
      </p:sp>
      <p:cxnSp>
        <p:nvCxnSpPr>
          <p:cNvPr id="18" name="g5_assignment">
            <a:extLst xmlns:a="http://schemas.openxmlformats.org/drawingml/2006/main">
              <a:ext uri="{FF2B5EF4-FFF2-40B4-BE49-F238E27FC236}">
                <a16:creationId xmlns:a16="http://schemas.microsoft.com/office/drawing/2014/main" id="{2A06F181-EA6D-4A85-8C78-C882DE899B30}"/>
              </a:ext>
            </a:extLst>
          </p:cNvPr>
          <p:cNvCxnSpPr/>
          <p:nvPr/>
        </p:nvCxnSpPr>
        <p:spPr>
          <a:xfrm xmlns:a="http://schemas.openxmlformats.org/drawingml/2006/main" flipH="1" flipV="0">
            <a:off x="1257300" y="5362575"/>
            <a:ext cx="2752725" cy="0"/>
          </a:xfrm>
          <a:prstGeom xmlns:a="http://schemas.openxmlformats.org/drawingml/2006/main" prst="straightConnector1">
            <a:avLst/>
          </a:prstGeom>
          <a:ln xmlns:a="http://schemas.openxmlformats.org/drawingml/2006/main" w="28575">
            <a:solidFill>
              <a:srgbClr val="65E2C1"/>
            </a:solidFill>
            <a:prstDash val="solid"/>
            <a:tailEnd type="triangle" w="med" len="med"/>
          </a:ln>
        </p:spPr>
      </p:cxnSp>
      <p:sp>
        <p:nvSpPr>
          <p:cNvPr id="19" name="g5_label">
            <a:extLst xmlns:a="http://schemas.openxmlformats.org/drawingml/2006/main">
              <a:ext uri="{FF2B5EF4-FFF2-40B4-BE49-F238E27FC236}">
                <a16:creationId xmlns:a16="http://schemas.microsoft.com/office/drawing/2014/main" id="{B256270A-6FCA-42BD-A9C9-B7CDCC8E36F2}"/>
              </a:ext>
            </a:extLst>
          </p:cNvPr>
          <p:cNvSpPr>
            <a:spLocks xmlns:a="http://schemas.openxmlformats.org/drawingml/2006/main" noGrp="1"/>
          </p:cNvSpPr>
          <p:nvPr/>
        </p:nvSpPr>
        <p:spPr>
          <a:xfrm xmlns:a="http://schemas.openxmlformats.org/drawingml/2006/main">
            <a:off x="1323975" y="5010150"/>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1F5F9"/>
                </a:solidFill>
                <a:latin typeface="Helvetica Neue"/>
                <a:ea typeface="Helvetica Neue"/>
                <a:cs typeface="Helvetica Neue"/>
              </a:defRPr>
            </a:defPPr>
          </a:lstStyle>
          <a:p xmlns:a="http://schemas.openxmlformats.org/drawingml/2006/main">
            <a:pPr>
              <a:defRPr sz="1425" b="0">
                <a:solidFill>
                  <a:srgbClr val="F1F5F9"/>
                </a:solidFill>
                <a:latin typeface="Helvetica Neue"/>
                <a:ea typeface="Helvetica Neue"/>
                <a:cs typeface="Helvetica Neue"/>
              </a:defRPr>
            </a:pPr>
            <a:r>
              <a:rPr sz="1425" b="0">
                <a:solidFill>
                  <a:srgbClr val="F1F5F9"/>
                </a:solidFill>
                <a:latin typeface="Helvetica Neue"/>
                <a:ea typeface="Helvetica Neue"/>
                <a:cs typeface="Helvetica Neue"/>
              </a:rPr>
              <a:t>Changed person-to-gate assignments</a:t>
            </a:r>
          </a:p>
        </p:txBody>
      </p:sp>
      <p:sp>
        <p:nvSpPr>
          <p:cNvPr id="20" name="g6_feedback">
            <a:extLst xmlns:a="http://schemas.openxmlformats.org/drawingml/2006/main">
              <a:ext uri="{FF2B5EF4-FFF2-40B4-BE49-F238E27FC236}">
                <a16:creationId xmlns:a16="http://schemas.microsoft.com/office/drawing/2014/main" id="{7586D07E-0E9B-4AB2-BB6E-7DD1CA007015}"/>
              </a:ext>
            </a:extLst>
          </p:cNvPr>
          <p:cNvSpPr>
            <a:spLocks xmlns:a="http://schemas.openxmlformats.org/drawingml/2006/main" noGrp="1"/>
          </p:cNvSpPr>
          <p:nvPr/>
        </p:nvSpPr>
        <p:spPr>
          <a:xfrm xmlns:a="http://schemas.openxmlformats.org/drawingml/2006/main">
            <a:off x="790575" y="5905500"/>
            <a:ext cx="6943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8BACB"/>
                </a:solidFill>
                <a:latin typeface="Helvetica Neue"/>
                <a:ea typeface="Helvetica Neue"/>
                <a:cs typeface="Helvetica Neue"/>
              </a:defRPr>
            </a:defPPr>
          </a:lstStyle>
          <a:p xmlns:a="http://schemas.openxmlformats.org/drawingml/2006/main">
            <a:pPr>
              <a:defRPr sz="1575" b="0">
                <a:solidFill>
                  <a:srgbClr val="A8BACB"/>
                </a:solidFill>
                <a:latin typeface="Helvetica Neue"/>
                <a:ea typeface="Helvetica Neue"/>
                <a:cs typeface="Helvetica Neue"/>
              </a:defRPr>
            </a:pPr>
            <a:r>
              <a:rPr sz="1575" b="0">
                <a:solidFill>
                  <a:srgbClr val="A8BACB"/>
                </a:solidFill>
                <a:latin typeface="Helvetica Neue"/>
                <a:ea typeface="Helvetica Neue"/>
                <a:cs typeface="Helvetica Neue"/>
              </a:rPr>
              <a:t>Movement updates the next telemetry snapshot</a:t>
            </a:r>
          </a:p>
        </p:txBody>
      </p:sp>
      <p:sp>
        <p:nvSpPr>
          <p:cNvPr id="21" name="stack_0_title">
            <a:extLst xmlns:a="http://schemas.openxmlformats.org/drawingml/2006/main">
              <a:ext uri="{FF2B5EF4-FFF2-40B4-BE49-F238E27FC236}">
                <a16:creationId xmlns:a16="http://schemas.microsoft.com/office/drawing/2014/main" id="{DB17FC15-2504-4F0B-99F1-C2A8AD23677A}"/>
              </a:ext>
            </a:extLst>
          </p:cNvPr>
          <p:cNvSpPr>
            <a:spLocks xmlns:a="http://schemas.openxmlformats.org/drawingml/2006/main" noGrp="1"/>
          </p:cNvSpPr>
          <p:nvPr/>
        </p:nvSpPr>
        <p:spPr>
          <a:xfrm xmlns:a="http://schemas.openxmlformats.org/drawingml/2006/main">
            <a:off x="8572500" y="2286000"/>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1F5F9"/>
                </a:solidFill>
                <a:latin typeface="Helvetica Neue"/>
                <a:ea typeface="Helvetica Neue"/>
                <a:cs typeface="Helvetica Neue"/>
              </a:defRPr>
            </a:defPPr>
          </a:lstStyle>
          <a:p xmlns:a="http://schemas.openxmlformats.org/drawingml/2006/main">
            <a:pPr>
              <a:defRPr sz="1800" b="1">
                <a:solidFill>
                  <a:srgbClr val="F1F5F9"/>
                </a:solidFill>
                <a:latin typeface="Helvetica Neue"/>
                <a:ea typeface="Helvetica Neue"/>
                <a:cs typeface="Helvetica Neue"/>
              </a:defRPr>
            </a:pPr>
            <a:r>
              <a:rPr sz="1800" b="1">
                <a:solidFill>
                  <a:srgbClr val="F1F5F9"/>
                </a:solidFill>
                <a:latin typeface="Helvetica Neue"/>
                <a:ea typeface="Helvetica Neue"/>
                <a:cs typeface="Helvetica Neue"/>
              </a:rPr>
              <a:t>React + TypeScript</a:t>
            </a:r>
          </a:p>
        </p:txBody>
      </p:sp>
      <p:sp>
        <p:nvSpPr>
          <p:cNvPr id="22" name="stack_0_body">
            <a:extLst xmlns:a="http://schemas.openxmlformats.org/drawingml/2006/main">
              <a:ext uri="{FF2B5EF4-FFF2-40B4-BE49-F238E27FC236}">
                <a16:creationId xmlns:a16="http://schemas.microsoft.com/office/drawing/2014/main" id="{46BD5F81-9D91-49D7-97AD-F6A8D36B9475}"/>
              </a:ext>
            </a:extLst>
          </p:cNvPr>
          <p:cNvSpPr>
            <a:spLocks xmlns:a="http://schemas.openxmlformats.org/drawingml/2006/main" noGrp="1"/>
          </p:cNvSpPr>
          <p:nvPr/>
        </p:nvSpPr>
        <p:spPr>
          <a:xfrm xmlns:a="http://schemas.openxmlformats.org/drawingml/2006/main">
            <a:off x="8572500" y="2628900"/>
            <a:ext cx="3000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8BACB"/>
                </a:solidFill>
                <a:latin typeface="Helvetica Neue"/>
                <a:ea typeface="Helvetica Neue"/>
                <a:cs typeface="Helvetica Neue"/>
              </a:defRPr>
            </a:defPPr>
          </a:lstStyle>
          <a:p xmlns:a="http://schemas.openxmlformats.org/drawingml/2006/main">
            <a:pPr>
              <a:defRPr sz="1500" b="0">
                <a:solidFill>
                  <a:srgbClr val="A8BACB"/>
                </a:solidFill>
                <a:latin typeface="Helvetica Neue"/>
                <a:ea typeface="Helvetica Neue"/>
                <a:cs typeface="Helvetica Neue"/>
              </a:defRPr>
            </a:pPr>
            <a:r>
              <a:rPr sz="1500" b="0">
                <a:solidFill>
                  <a:srgbClr val="A8BACB"/>
                </a:solidFill>
                <a:latin typeface="Helvetica Neue"/>
                <a:ea typeface="Helvetica Neue"/>
                <a:cs typeface="Helvetica Neue"/>
              </a:rPr>
              <a:t>Typed operator controls</a:t>
            </a:r>
          </a:p>
        </p:txBody>
      </p:sp>
      <p:sp>
        <p:nvSpPr>
          <p:cNvPr id="23" name="stack_1_title">
            <a:extLst xmlns:a="http://schemas.openxmlformats.org/drawingml/2006/main">
              <a:ext uri="{FF2B5EF4-FFF2-40B4-BE49-F238E27FC236}">
                <a16:creationId xmlns:a16="http://schemas.microsoft.com/office/drawing/2014/main" id="{4AA4DA27-5C55-4F92-817F-00F3436CE567}"/>
              </a:ext>
            </a:extLst>
          </p:cNvPr>
          <p:cNvSpPr>
            <a:spLocks xmlns:a="http://schemas.openxmlformats.org/drawingml/2006/main" noGrp="1"/>
          </p:cNvSpPr>
          <p:nvPr/>
        </p:nvSpPr>
        <p:spPr>
          <a:xfrm xmlns:a="http://schemas.openxmlformats.org/drawingml/2006/main">
            <a:off x="8572500" y="305752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1F5F9"/>
                </a:solidFill>
                <a:latin typeface="Helvetica Neue"/>
                <a:ea typeface="Helvetica Neue"/>
                <a:cs typeface="Helvetica Neue"/>
              </a:defRPr>
            </a:defPPr>
          </a:lstStyle>
          <a:p xmlns:a="http://schemas.openxmlformats.org/drawingml/2006/main">
            <a:pPr>
              <a:defRPr sz="1800" b="1">
                <a:solidFill>
                  <a:srgbClr val="F1F5F9"/>
                </a:solidFill>
                <a:latin typeface="Helvetica Neue"/>
                <a:ea typeface="Helvetica Neue"/>
                <a:cs typeface="Helvetica Neue"/>
              </a:defRPr>
            </a:pPr>
            <a:r>
              <a:rPr sz="1800" b="1">
                <a:solidFill>
                  <a:srgbClr val="F1F5F9"/>
                </a:solidFill>
                <a:latin typeface="Helvetica Neue"/>
                <a:ea typeface="Helvetica Neue"/>
                <a:cs typeface="Helvetica Neue"/>
              </a:rPr>
              <a:t>Three.js + R3F</a:t>
            </a:r>
          </a:p>
        </p:txBody>
      </p:sp>
      <p:sp>
        <p:nvSpPr>
          <p:cNvPr id="24" name="stack_1_body">
            <a:extLst xmlns:a="http://schemas.openxmlformats.org/drawingml/2006/main">
              <a:ext uri="{FF2B5EF4-FFF2-40B4-BE49-F238E27FC236}">
                <a16:creationId xmlns:a16="http://schemas.microsoft.com/office/drawing/2014/main" id="{096D4D7B-B3BB-4758-845E-B7AF81E80172}"/>
              </a:ext>
            </a:extLst>
          </p:cNvPr>
          <p:cNvSpPr>
            <a:spLocks xmlns:a="http://schemas.openxmlformats.org/drawingml/2006/main" noGrp="1"/>
          </p:cNvSpPr>
          <p:nvPr/>
        </p:nvSpPr>
        <p:spPr>
          <a:xfrm xmlns:a="http://schemas.openxmlformats.org/drawingml/2006/main">
            <a:off x="8572500" y="3400425"/>
            <a:ext cx="3000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8BACB"/>
                </a:solidFill>
                <a:latin typeface="Helvetica Neue"/>
                <a:ea typeface="Helvetica Neue"/>
                <a:cs typeface="Helvetica Neue"/>
              </a:defRPr>
            </a:defPPr>
          </a:lstStyle>
          <a:p xmlns:a="http://schemas.openxmlformats.org/drawingml/2006/main">
            <a:pPr>
              <a:defRPr sz="1500" b="0">
                <a:solidFill>
                  <a:srgbClr val="A8BACB"/>
                </a:solidFill>
                <a:latin typeface="Helvetica Neue"/>
                <a:ea typeface="Helvetica Neue"/>
                <a:cs typeface="Helvetica Neue"/>
              </a:defRPr>
            </a:pPr>
            <a:r>
              <a:rPr sz="1500" b="0">
                <a:solidFill>
                  <a:srgbClr val="A8BACB"/>
                </a:solidFill>
                <a:latin typeface="Helvetica Neue"/>
                <a:ea typeface="Helvetica Neue"/>
                <a:cs typeface="Helvetica Neue"/>
              </a:rPr>
              <a:t>Interactive spatial twin</a:t>
            </a:r>
          </a:p>
        </p:txBody>
      </p:sp>
      <p:sp>
        <p:nvSpPr>
          <p:cNvPr id="25" name="stack_2_title">
            <a:extLst xmlns:a="http://schemas.openxmlformats.org/drawingml/2006/main">
              <a:ext uri="{FF2B5EF4-FFF2-40B4-BE49-F238E27FC236}">
                <a16:creationId xmlns:a16="http://schemas.microsoft.com/office/drawing/2014/main" id="{9142F9BE-A0DB-4DA6-87BA-E016FE4BB86B}"/>
              </a:ext>
            </a:extLst>
          </p:cNvPr>
          <p:cNvSpPr>
            <a:spLocks xmlns:a="http://schemas.openxmlformats.org/drawingml/2006/main" noGrp="1"/>
          </p:cNvSpPr>
          <p:nvPr/>
        </p:nvSpPr>
        <p:spPr>
          <a:xfrm xmlns:a="http://schemas.openxmlformats.org/drawingml/2006/main">
            <a:off x="8572500" y="3829050"/>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1F5F9"/>
                </a:solidFill>
                <a:latin typeface="Helvetica Neue"/>
                <a:ea typeface="Helvetica Neue"/>
                <a:cs typeface="Helvetica Neue"/>
              </a:defRPr>
            </a:defPPr>
          </a:lstStyle>
          <a:p xmlns:a="http://schemas.openxmlformats.org/drawingml/2006/main">
            <a:pPr>
              <a:defRPr sz="1800" b="1">
                <a:solidFill>
                  <a:srgbClr val="F1F5F9"/>
                </a:solidFill>
                <a:latin typeface="Helvetica Neue"/>
                <a:ea typeface="Helvetica Neue"/>
                <a:cs typeface="Helvetica Neue"/>
              </a:defRPr>
            </a:pPr>
            <a:r>
              <a:rPr sz="1800" b="1">
                <a:solidFill>
                  <a:srgbClr val="F1F5F9"/>
                </a:solidFill>
                <a:latin typeface="Helvetica Neue"/>
                <a:ea typeface="Helvetica Neue"/>
                <a:cs typeface="Helvetica Neue"/>
              </a:rPr>
              <a:t>FastAPI + WebSockets</a:t>
            </a:r>
          </a:p>
        </p:txBody>
      </p:sp>
      <p:sp>
        <p:nvSpPr>
          <p:cNvPr id="26" name="stack_2_body">
            <a:extLst xmlns:a="http://schemas.openxmlformats.org/drawingml/2006/main">
              <a:ext uri="{FF2B5EF4-FFF2-40B4-BE49-F238E27FC236}">
                <a16:creationId xmlns:a16="http://schemas.microsoft.com/office/drawing/2014/main" id="{143026F9-75D9-4C4C-BB7C-5D14F4041724}"/>
              </a:ext>
            </a:extLst>
          </p:cNvPr>
          <p:cNvSpPr>
            <a:spLocks xmlns:a="http://schemas.openxmlformats.org/drawingml/2006/main" noGrp="1"/>
          </p:cNvSpPr>
          <p:nvPr/>
        </p:nvSpPr>
        <p:spPr>
          <a:xfrm xmlns:a="http://schemas.openxmlformats.org/drawingml/2006/main">
            <a:off x="8572500" y="4171950"/>
            <a:ext cx="3000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8BACB"/>
                </a:solidFill>
                <a:latin typeface="Helvetica Neue"/>
                <a:ea typeface="Helvetica Neue"/>
                <a:cs typeface="Helvetica Neue"/>
              </a:defRPr>
            </a:defPPr>
          </a:lstStyle>
          <a:p xmlns:a="http://schemas.openxmlformats.org/drawingml/2006/main">
            <a:pPr>
              <a:defRPr sz="1500" b="0">
                <a:solidFill>
                  <a:srgbClr val="A8BACB"/>
                </a:solidFill>
                <a:latin typeface="Helvetica Neue"/>
                <a:ea typeface="Helvetica Neue"/>
                <a:cs typeface="Helvetica Neue"/>
              </a:defRPr>
            </a:pPr>
            <a:r>
              <a:rPr sz="1500" b="0">
                <a:solidFill>
                  <a:srgbClr val="A8BACB"/>
                </a:solidFill>
                <a:latin typeface="Helvetica Neue"/>
                <a:ea typeface="Helvetica Neue"/>
                <a:cs typeface="Helvetica Neue"/>
              </a:rPr>
              <a:t>Continuous data exchange</a:t>
            </a:r>
          </a:p>
        </p:txBody>
      </p:sp>
      <p:sp>
        <p:nvSpPr>
          <p:cNvPr id="27" name="stack_3_title">
            <a:extLst xmlns:a="http://schemas.openxmlformats.org/drawingml/2006/main">
              <a:ext uri="{FF2B5EF4-FFF2-40B4-BE49-F238E27FC236}">
                <a16:creationId xmlns:a16="http://schemas.microsoft.com/office/drawing/2014/main" id="{AC5AA52E-17C7-4269-BB8A-9911F8347658}"/>
              </a:ext>
            </a:extLst>
          </p:cNvPr>
          <p:cNvSpPr>
            <a:spLocks xmlns:a="http://schemas.openxmlformats.org/drawingml/2006/main" noGrp="1"/>
          </p:cNvSpPr>
          <p:nvPr/>
        </p:nvSpPr>
        <p:spPr>
          <a:xfrm xmlns:a="http://schemas.openxmlformats.org/drawingml/2006/main">
            <a:off x="8572500" y="460057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5E2C1"/>
                </a:solidFill>
                <a:latin typeface="Helvetica Neue"/>
                <a:ea typeface="Helvetica Neue"/>
                <a:cs typeface="Helvetica Neue"/>
              </a:defRPr>
            </a:defPPr>
          </a:lstStyle>
          <a:p xmlns:a="http://schemas.openxmlformats.org/drawingml/2006/main">
            <a:pPr>
              <a:defRPr sz="1800" b="1">
                <a:solidFill>
                  <a:srgbClr val="65E2C1"/>
                </a:solidFill>
                <a:latin typeface="Helvetica Neue"/>
                <a:ea typeface="Helvetica Neue"/>
                <a:cs typeface="Helvetica Neue"/>
              </a:defRPr>
            </a:pPr>
            <a:r>
              <a:rPr sz="1800" b="1">
                <a:solidFill>
                  <a:srgbClr val="65E2C1"/>
                </a:solidFill>
                <a:latin typeface="Helvetica Neue"/>
                <a:ea typeface="Helvetica Neue"/>
                <a:cs typeface="Helvetica Neue"/>
              </a:rPr>
              <a:t>Deterministic algorithms</a:t>
            </a:r>
          </a:p>
        </p:txBody>
      </p:sp>
      <p:sp>
        <p:nvSpPr>
          <p:cNvPr id="28" name="stack_3_body">
            <a:extLst xmlns:a="http://schemas.openxmlformats.org/drawingml/2006/main">
              <a:ext uri="{FF2B5EF4-FFF2-40B4-BE49-F238E27FC236}">
                <a16:creationId xmlns:a16="http://schemas.microsoft.com/office/drawing/2014/main" id="{81C25ABF-67DC-4341-94F7-EB4416E3FE47}"/>
              </a:ext>
            </a:extLst>
          </p:cNvPr>
          <p:cNvSpPr>
            <a:spLocks xmlns:a="http://schemas.openxmlformats.org/drawingml/2006/main" noGrp="1"/>
          </p:cNvSpPr>
          <p:nvPr/>
        </p:nvSpPr>
        <p:spPr>
          <a:xfrm xmlns:a="http://schemas.openxmlformats.org/drawingml/2006/main">
            <a:off x="8572500" y="4943475"/>
            <a:ext cx="3000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8BACB"/>
                </a:solidFill>
                <a:latin typeface="Helvetica Neue"/>
                <a:ea typeface="Helvetica Neue"/>
                <a:cs typeface="Helvetica Neue"/>
              </a:defRPr>
            </a:defPPr>
          </a:lstStyle>
          <a:p xmlns:a="http://schemas.openxmlformats.org/drawingml/2006/main">
            <a:pPr>
              <a:defRPr sz="1500" b="0">
                <a:solidFill>
                  <a:srgbClr val="A8BACB"/>
                </a:solidFill>
                <a:latin typeface="Helvetica Neue"/>
                <a:ea typeface="Helvetica Neue"/>
                <a:cs typeface="Helvetica Neue"/>
              </a:defRPr>
            </a:pPr>
            <a:r>
              <a:rPr sz="1500" b="0">
                <a:solidFill>
                  <a:srgbClr val="A8BACB"/>
                </a:solidFill>
                <a:latin typeface="Helvetica Neue"/>
                <a:ea typeface="Helvetica Neue"/>
                <a:cs typeface="Helvetica Neue"/>
              </a:rPr>
              <a:t>Inspectable decisions</a:t>
            </a:r>
          </a:p>
        </p:txBody>
      </p:sp>
      <p:sp>
        <p:nvSpPr>
          <p:cNvPr id="29" name="stack_4_title">
            <a:extLst xmlns:a="http://schemas.openxmlformats.org/drawingml/2006/main">
              <a:ext uri="{FF2B5EF4-FFF2-40B4-BE49-F238E27FC236}">
                <a16:creationId xmlns:a16="http://schemas.microsoft.com/office/drawing/2014/main" id="{D138D5A5-4569-4443-823F-4985FDE35BF8}"/>
              </a:ext>
            </a:extLst>
          </p:cNvPr>
          <p:cNvSpPr>
            <a:spLocks xmlns:a="http://schemas.openxmlformats.org/drawingml/2006/main" noGrp="1"/>
          </p:cNvSpPr>
          <p:nvPr/>
        </p:nvSpPr>
        <p:spPr>
          <a:xfrm xmlns:a="http://schemas.openxmlformats.org/drawingml/2006/main">
            <a:off x="8572500" y="5372100"/>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1F5F9"/>
                </a:solidFill>
                <a:latin typeface="Helvetica Neue"/>
                <a:ea typeface="Helvetica Neue"/>
                <a:cs typeface="Helvetica Neue"/>
              </a:defRPr>
            </a:defPPr>
          </a:lstStyle>
          <a:p xmlns:a="http://schemas.openxmlformats.org/drawingml/2006/main">
            <a:pPr>
              <a:defRPr sz="1800" b="1">
                <a:solidFill>
                  <a:srgbClr val="F1F5F9"/>
                </a:solidFill>
                <a:latin typeface="Helvetica Neue"/>
                <a:ea typeface="Helvetica Neue"/>
                <a:cs typeface="Helvetica Neue"/>
              </a:defRPr>
            </a:pPr>
            <a:r>
              <a:rPr sz="1800" b="1">
                <a:solidFill>
                  <a:srgbClr val="F1F5F9"/>
                </a:solidFill>
                <a:latin typeface="Helvetica Neue"/>
                <a:ea typeface="Helvetica Neue"/>
                <a:cs typeface="Helvetica Neue"/>
              </a:rPr>
              <a:t>Shared venue geometry</a:t>
            </a:r>
          </a:p>
        </p:txBody>
      </p:sp>
      <p:sp>
        <p:nvSpPr>
          <p:cNvPr id="30" name="stack_4_body">
            <a:extLst xmlns:a="http://schemas.openxmlformats.org/drawingml/2006/main">
              <a:ext uri="{FF2B5EF4-FFF2-40B4-BE49-F238E27FC236}">
                <a16:creationId xmlns:a16="http://schemas.microsoft.com/office/drawing/2014/main" id="{FBA3F1C7-3F11-465A-89DA-18EECC1CE0B9}"/>
              </a:ext>
            </a:extLst>
          </p:cNvPr>
          <p:cNvSpPr>
            <a:spLocks xmlns:a="http://schemas.openxmlformats.org/drawingml/2006/main" noGrp="1"/>
          </p:cNvSpPr>
          <p:nvPr/>
        </p:nvSpPr>
        <p:spPr>
          <a:xfrm xmlns:a="http://schemas.openxmlformats.org/drawingml/2006/main">
            <a:off x="8572500" y="5715000"/>
            <a:ext cx="3000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8BACB"/>
                </a:solidFill>
                <a:latin typeface="Helvetica Neue"/>
                <a:ea typeface="Helvetica Neue"/>
                <a:cs typeface="Helvetica Neue"/>
              </a:defRPr>
            </a:defPPr>
          </a:lstStyle>
          <a:p xmlns:a="http://schemas.openxmlformats.org/drawingml/2006/main">
            <a:pPr>
              <a:defRPr sz="1500" b="0">
                <a:solidFill>
                  <a:srgbClr val="A8BACB"/>
                </a:solidFill>
                <a:latin typeface="Helvetica Neue"/>
                <a:ea typeface="Helvetica Neue"/>
                <a:cs typeface="Helvetica Neue"/>
              </a:defRPr>
            </a:pPr>
            <a:r>
              <a:rPr sz="1500" b="0">
                <a:solidFill>
                  <a:srgbClr val="A8BACB"/>
                </a:solidFill>
                <a:latin typeface="Helvetica Neue"/>
                <a:ea typeface="Helvetica Neue"/>
                <a:cs typeface="Helvetica Neue"/>
              </a:rPr>
              <a:t>Consistent routing and detection</a:t>
            </a:r>
          </a:p>
        </p:txBody>
      </p:sp>
    </p:spTree>
    <p:extLst>
      <p:ext uri="{BB962C8B-B14F-4D97-AF65-F5344CB8AC3E}">
        <p14:creationId xmlns:p14="http://schemas.microsoft.com/office/powerpoint/2010/main" val="532728880"/>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22" presetClass="entr" presetSubtype="1" fill="hold" nodeType="withEffect">
                            <p:stCondLst>
                              <p:cond delay="100"/>
                            </p:stCondLst>
                            <p:childTnLst>
                              <p:set>
                                <p:cBhvr>
                                  <p:cTn id="5" dur="1" fill="hold"/>
                                  <p:tgtEl>
                                    <p:spTgt spid="11"/>
                                  </p:tgtEl>
                                  <p:attrNameLst>
                                    <p:attrName>style.visibility</p:attrName>
                                  </p:attrNameLst>
                                </p:cBhvr>
                                <p:to>
                                  <p:strVal val="visible"/>
                                </p:to>
                              </p:set>
                              <p:animEffect transition="in" filter="wipe(right)">
                                <p:cBhvr>
                                  <p:cTn id="6" dur="550" fill="hold"/>
                                  <p:tgtEl>
                                    <p:spTgt spid="11"/>
                                  </p:tgtEl>
                                </p:cBhvr>
                              </p:animEffect>
                            </p:childTnLst>
                          </p:cTn>
                        </p:par>
                        <p:par>
                          <p:cTn id="7" presetID="10" presetClass="entr" presetSubtype="0" fill="hold" nodeType="withEffect">
                            <p:stCondLst>
                              <p:cond delay="100"/>
                            </p:stCondLst>
                            <p:childTnLst>
                              <p:set>
                                <p:cBhvr>
                                  <p:cTn id="8" dur="1" fill="hold"/>
                                  <p:tgtEl>
                                    <p:spTgt spid="12"/>
                                  </p:tgtEl>
                                  <p:attrNameLst>
                                    <p:attrName>style.visibility</p:attrName>
                                  </p:attrNameLst>
                                </p:cBhvr>
                                <p:to>
                                  <p:strVal val="visible"/>
                                </p:to>
                              </p:set>
                              <p:animEffect transition="in" filter="fade">
                                <p:cBhvr>
                                  <p:cTn id="9" dur="550" fill="hold"/>
                                  <p:tgtEl>
                                    <p:spTgt spid="12"/>
                                  </p:tgtEl>
                                </p:cBhvr>
                              </p:animEffect>
                            </p:childTnLst>
                          </p:cTn>
                        </p:par>
                        <p:par>
                          <p:cTn id="10" presetID="10" presetClass="entr" presetSubtype="0" fill="hold" nodeType="withEffect">
                            <p:stCondLst>
                              <p:cond delay="1050"/>
                            </p:stCondLst>
                            <p:childTnLst>
                              <p:set>
                                <p:cBhvr>
                                  <p:cTn id="11" dur="1" fill="hold"/>
                                  <p:tgtEl>
                                    <p:spTgt spid="13"/>
                                  </p:tgtEl>
                                  <p:attrNameLst>
                                    <p:attrName>style.visibility</p:attrName>
                                  </p:attrNameLst>
                                </p:cBhvr>
                                <p:to>
                                  <p:strVal val="visible"/>
                                </p:to>
                              </p:set>
                              <p:animEffect transition="in" filter="fade">
                                <p:cBhvr>
                                  <p:cTn id="12" dur="550" fill="hold"/>
                                  <p:tgtEl>
                                    <p:spTgt spid="13"/>
                                  </p:tgtEl>
                                </p:cBhvr>
                              </p:animEffect>
                            </p:childTnLst>
                          </p:cTn>
                        </p:par>
                        <p:par>
                          <p:cTn id="13" presetID="22" presetClass="entr" presetSubtype="1" fill="hold" nodeType="withEffect">
                            <p:stCondLst>
                              <p:cond delay="2000"/>
                            </p:stCondLst>
                            <p:childTnLst>
                              <p:set>
                                <p:cBhvr>
                                  <p:cTn id="14" dur="1" fill="hold"/>
                                  <p:tgtEl>
                                    <p:spTgt spid="14"/>
                                  </p:tgtEl>
                                  <p:attrNameLst>
                                    <p:attrName>style.visibility</p:attrName>
                                  </p:attrNameLst>
                                </p:cBhvr>
                                <p:to>
                                  <p:strVal val="visible"/>
                                </p:to>
                              </p:set>
                              <p:animEffect transition="in" filter="wipe(right)">
                                <p:cBhvr>
                                  <p:cTn id="15" dur="550" fill="hold"/>
                                  <p:tgtEl>
                                    <p:spTgt spid="14"/>
                                  </p:tgtEl>
                                </p:cBhvr>
                              </p:animEffect>
                            </p:childTnLst>
                          </p:cTn>
                        </p:par>
                        <p:par>
                          <p:cTn id="16" presetID="10" presetClass="entr" presetSubtype="0" fill="hold" nodeType="withEffect">
                            <p:stCondLst>
                              <p:cond delay="2000"/>
                            </p:stCondLst>
                            <p:childTnLst>
                              <p:set>
                                <p:cBhvr>
                                  <p:cTn id="17" dur="1" fill="hold"/>
                                  <p:tgtEl>
                                    <p:spTgt spid="15"/>
                                  </p:tgtEl>
                                  <p:attrNameLst>
                                    <p:attrName>style.visibility</p:attrName>
                                  </p:attrNameLst>
                                </p:cBhvr>
                                <p:to>
                                  <p:strVal val="visible"/>
                                </p:to>
                              </p:set>
                              <p:animEffect transition="in" filter="fade">
                                <p:cBhvr>
                                  <p:cTn id="18" dur="550" fill="hold"/>
                                  <p:tgtEl>
                                    <p:spTgt spid="15"/>
                                  </p:tgtEl>
                                </p:cBhvr>
                              </p:animEffect>
                            </p:childTnLst>
                          </p:cTn>
                        </p:par>
                        <p:par>
                          <p:cTn id="19" presetID="22" presetClass="entr" presetSubtype="1" fill="hold" nodeType="withEffect">
                            <p:stCondLst>
                              <p:cond delay="2950"/>
                            </p:stCondLst>
                            <p:childTnLst>
                              <p:set>
                                <p:cBhvr>
                                  <p:cTn id="20" dur="1" fill="hold"/>
                                  <p:tgtEl>
                                    <p:spTgt spid="16"/>
                                  </p:tgtEl>
                                  <p:attrNameLst>
                                    <p:attrName>style.visibility</p:attrName>
                                  </p:attrNameLst>
                                </p:cBhvr>
                                <p:to>
                                  <p:strVal val="visible"/>
                                </p:to>
                              </p:set>
                              <p:animEffect transition="in" filter="wipe(right)">
                                <p:cBhvr>
                                  <p:cTn id="21" dur="550" fill="hold"/>
                                  <p:tgtEl>
                                    <p:spTgt spid="16"/>
                                  </p:tgtEl>
                                </p:cBhvr>
                              </p:animEffect>
                            </p:childTnLst>
                          </p:cTn>
                        </p:par>
                        <p:par>
                          <p:cTn id="22" presetID="10" presetClass="entr" presetSubtype="0" fill="hold" nodeType="withEffect">
                            <p:stCondLst>
                              <p:cond delay="2950"/>
                            </p:stCondLst>
                            <p:childTnLst>
                              <p:set>
                                <p:cBhvr>
                                  <p:cTn id="23" dur="1" fill="hold"/>
                                  <p:tgtEl>
                                    <p:spTgt spid="17"/>
                                  </p:tgtEl>
                                  <p:attrNameLst>
                                    <p:attrName>style.visibility</p:attrName>
                                  </p:attrNameLst>
                                </p:cBhvr>
                                <p:to>
                                  <p:strVal val="visible"/>
                                </p:to>
                              </p:set>
                              <p:animEffect transition="in" filter="fade">
                                <p:cBhvr>
                                  <p:cTn id="24" dur="550" fill="hold"/>
                                  <p:tgtEl>
                                    <p:spTgt spid="17"/>
                                  </p:tgtEl>
                                </p:cBhvr>
                              </p:animEffect>
                            </p:childTnLst>
                          </p:cTn>
                        </p:par>
                        <p:par>
                          <p:cTn id="25" presetID="22" presetClass="entr" presetSubtype="1" fill="hold" nodeType="withEffect">
                            <p:stCondLst>
                              <p:cond delay="3900"/>
                            </p:stCondLst>
                            <p:childTnLst>
                              <p:set>
                                <p:cBhvr>
                                  <p:cTn id="26" dur="1" fill="hold"/>
                                  <p:tgtEl>
                                    <p:spTgt spid="18"/>
                                  </p:tgtEl>
                                  <p:attrNameLst>
                                    <p:attrName>style.visibility</p:attrName>
                                  </p:attrNameLst>
                                </p:cBhvr>
                                <p:to>
                                  <p:strVal val="visible"/>
                                </p:to>
                              </p:set>
                              <p:animEffect transition="in" filter="wipe(right)">
                                <p:cBhvr>
                                  <p:cTn id="27" dur="550" fill="hold"/>
                                  <p:tgtEl>
                                    <p:spTgt spid="18"/>
                                  </p:tgtEl>
                                </p:cBhvr>
                              </p:animEffect>
                            </p:childTnLst>
                          </p:cTn>
                        </p:par>
                        <p:par>
                          <p:cTn id="28" presetID="10" presetClass="entr" presetSubtype="0" fill="hold" nodeType="withEffect">
                            <p:stCondLst>
                              <p:cond delay="3900"/>
                            </p:stCondLst>
                            <p:childTnLst>
                              <p:set>
                                <p:cBhvr>
                                  <p:cTn id="29" dur="1" fill="hold"/>
                                  <p:tgtEl>
                                    <p:spTgt spid="19"/>
                                  </p:tgtEl>
                                  <p:attrNameLst>
                                    <p:attrName>style.visibility</p:attrName>
                                  </p:attrNameLst>
                                </p:cBhvr>
                                <p:to>
                                  <p:strVal val="visible"/>
                                </p:to>
                              </p:set>
                              <p:animEffect transition="in" filter="fade">
                                <p:cBhvr>
                                  <p:cTn id="30" dur="550" fill="hold"/>
                                  <p:tgtEl>
                                    <p:spTgt spid="19"/>
                                  </p:tgtEl>
                                </p:cBhvr>
                              </p:animEffect>
                            </p:childTnLst>
                          </p:cTn>
                        </p:par>
                        <p:par>
                          <p:cTn id="31" presetID="10" presetClass="entr" presetSubtype="0" fill="hold" nodeType="withEffect">
                            <p:stCondLst>
                              <p:cond delay="4850"/>
                            </p:stCondLst>
                            <p:childTnLst>
                              <p:set>
                                <p:cBhvr>
                                  <p:cTn id="32" dur="1" fill="hold"/>
                                  <p:tgtEl>
                                    <p:spTgt spid="20"/>
                                  </p:tgtEl>
                                  <p:attrNameLst>
                                    <p:attrName>style.visibility</p:attrName>
                                  </p:attrNameLst>
                                </p:cBhvr>
                                <p:to>
                                  <p:strVal val="visible"/>
                                </p:to>
                              </p:set>
                              <p:animEffect transition="in" filter="fade">
                                <p:cBhvr>
                                  <p:cTn id="33" dur="550" fill="hold"/>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7" name="page">
            <a:extLst xmlns:a="http://schemas.openxmlformats.org/drawingml/2006/main">
              <a:ext uri="{FF2B5EF4-FFF2-40B4-BE49-F238E27FC236}">
                <a16:creationId xmlns:a16="http://schemas.microsoft.com/office/drawing/2014/main" id="{28AC6D9B-297E-4977-B1BD-981E0ECD2775}"/>
              </a:ext>
            </a:extLst>
          </p:cNvPr>
          <p:cNvSpPr>
            <a:spLocks xmlns:a="http://schemas.openxmlformats.org/drawingml/2006/main" noGrp="1"/>
          </p:cNvSpPr>
          <p:nvPr/>
        </p:nvSpPr>
        <p:spPr>
          <a:xfrm xmlns:a="http://schemas.openxmlformats.org/drawingml/2006/main">
            <a:off x="11239500" y="62579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A8BACB"/>
                </a:solidFill>
                <a:latin typeface="Helvetica Neue"/>
                <a:ea typeface="Helvetica Neue"/>
                <a:cs typeface="Helvetica Neue"/>
              </a:defRPr>
            </a:defPPr>
          </a:lstStyle>
          <a:p xmlns:a="http://schemas.openxmlformats.org/drawingml/2006/main">
            <a:pPr algn="r">
              <a:defRPr sz="1200" b="0">
                <a:solidFill>
                  <a:srgbClr val="A8BACB"/>
                </a:solidFill>
                <a:latin typeface="Helvetica Neue"/>
                <a:ea typeface="Helvetica Neue"/>
                <a:cs typeface="Helvetica Neue"/>
              </a:defRPr>
            </a:pPr>
            <a:r>
              <a:rPr sz="1200" b="0">
                <a:solidFill>
                  <a:srgbClr val="A8BACB"/>
                </a:solidFill>
                <a:latin typeface="Helvetica Neue"/>
                <a:ea typeface="Helvetica Neue"/>
                <a:cs typeface="Helvetica Neue"/>
              </a:rPr>
              <a:t>06</a:t>
            </a:r>
          </a:p>
        </p:txBody>
      </p:sp>
      <p:sp>
        <p:nvSpPr>
          <p:cNvPr id="2" name="section">
            <a:extLst xmlns:a="http://schemas.openxmlformats.org/drawingml/2006/main">
              <a:ext uri="{FF2B5EF4-FFF2-40B4-BE49-F238E27FC236}">
                <a16:creationId xmlns:a16="http://schemas.microsoft.com/office/drawing/2014/main" id="{DAEADFAB-F619-4AFE-937E-CD9394F3098B}"/>
              </a:ext>
            </a:extLst>
          </p:cNvPr>
          <p:cNvSpPr>
            <a:spLocks xmlns:a="http://schemas.openxmlformats.org/drawingml/2006/main" noGrp="1"/>
          </p:cNvSpPr>
          <p:nvPr/>
        </p:nvSpPr>
        <p:spPr>
          <a:xfrm xmlns:a="http://schemas.openxmlformats.org/drawingml/2006/main">
            <a:off x="609600" y="4000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5E2C1"/>
                </a:solidFill>
                <a:latin typeface="Helvetica Neue"/>
                <a:ea typeface="Helvetica Neue"/>
                <a:cs typeface="Helvetica Neue"/>
              </a:defRPr>
            </a:defPPr>
          </a:lstStyle>
          <a:p xmlns:a="http://schemas.openxmlformats.org/drawingml/2006/main">
            <a:pPr>
              <a:defRPr sz="1125" b="1">
                <a:solidFill>
                  <a:srgbClr val="65E2C1"/>
                </a:solidFill>
                <a:latin typeface="Helvetica Neue"/>
                <a:ea typeface="Helvetica Neue"/>
                <a:cs typeface="Helvetica Neue"/>
              </a:defRPr>
            </a:pPr>
            <a:r>
              <a:rPr sz="1125" b="1">
                <a:solidFill>
                  <a:srgbClr val="65E2C1"/>
                </a:solidFill>
                <a:latin typeface="Helvetica Neue"/>
                <a:ea typeface="Helvetica Neue"/>
                <a:cs typeface="Helvetica Neue"/>
              </a:rPr>
              <a:t>REAL PROTOTYPE DEMO</a:t>
            </a:r>
          </a:p>
        </p:txBody>
      </p:sp>
      <p:sp>
        <p:nvSpPr>
          <p:cNvPr id="3" name="title">
            <a:extLst xmlns:a="http://schemas.openxmlformats.org/drawingml/2006/main">
              <a:ext uri="{FF2B5EF4-FFF2-40B4-BE49-F238E27FC236}">
                <a16:creationId xmlns:a16="http://schemas.microsoft.com/office/drawing/2014/main" id="{E08687A2-40EE-4408-9272-9318C1E8C300}"/>
              </a:ext>
            </a:extLst>
          </p:cNvPr>
          <p:cNvSpPr>
            <a:spLocks xmlns:a="http://schemas.openxmlformats.org/drawingml/2006/main" noGrp="1"/>
          </p:cNvSpPr>
          <p:nvPr/>
        </p:nvSpPr>
        <p:spPr>
          <a:xfrm xmlns:a="http://schemas.openxmlformats.org/drawingml/2006/main">
            <a:off x="609600" y="7905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1F5F9"/>
                </a:solidFill>
                <a:latin typeface="Helvetica Neue"/>
                <a:ea typeface="Helvetica Neue"/>
                <a:cs typeface="Helvetica Neue"/>
              </a:defRPr>
            </a:defPPr>
          </a:lstStyle>
          <a:p xmlns:a="http://schemas.openxmlformats.org/drawingml/2006/main">
            <a:pPr>
              <a:defRPr sz="3600" b="1">
                <a:solidFill>
                  <a:srgbClr val="F1F5F9"/>
                </a:solidFill>
                <a:latin typeface="Helvetica Neue"/>
                <a:ea typeface="Helvetica Neue"/>
                <a:cs typeface="Helvetica Neue"/>
              </a:defRPr>
            </a:pPr>
            <a:r>
              <a:rPr sz="3600" b="1">
                <a:solidFill>
                  <a:srgbClr val="F1F5F9"/>
                </a:solidFill>
                <a:latin typeface="Helvetica Neue"/>
                <a:ea typeface="Helvetica Neue"/>
                <a:cs typeface="Helvetica Neue"/>
              </a:rPr>
              <a:t>The stadium responds to a changing layout</a:t>
            </a:r>
          </a:p>
        </p:txBody>
      </p:sp>
      <p:sp>
        <p:nvSpPr>
          <p:cNvPr id="4" name="video_instruction">
            <a:extLst xmlns:a="http://schemas.openxmlformats.org/drawingml/2006/main">
              <a:ext uri="{FF2B5EF4-FFF2-40B4-BE49-F238E27FC236}">
                <a16:creationId xmlns:a16="http://schemas.microsoft.com/office/drawing/2014/main" id="{9DF477F1-C3EE-4393-9962-C4A248152507}"/>
              </a:ext>
            </a:extLst>
          </p:cNvPr>
          <p:cNvSpPr>
            <a:spLocks xmlns:a="http://schemas.openxmlformats.org/drawingml/2006/main" noGrp="1"/>
          </p:cNvSpPr>
          <p:nvPr/>
        </p:nvSpPr>
        <p:spPr>
          <a:xfrm xmlns:a="http://schemas.openxmlformats.org/drawingml/2006/main">
            <a:off x="466725" y="1647825"/>
            <a:ext cx="7572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5E2C1"/>
                </a:solidFill>
                <a:latin typeface="Helvetica Neue"/>
                <a:ea typeface="Helvetica Neue"/>
                <a:cs typeface="Helvetica Neue"/>
              </a:defRPr>
            </a:defPPr>
          </a:lstStyle>
          <a:p xmlns:a="http://schemas.openxmlformats.org/drawingml/2006/main">
            <a:pPr>
              <a:defRPr sz="1350" b="0">
                <a:solidFill>
                  <a:srgbClr val="65E2C1"/>
                </a:solidFill>
                <a:latin typeface="Helvetica Neue"/>
                <a:ea typeface="Helvetica Neue"/>
                <a:cs typeface="Helvetica Neue"/>
              </a:defRPr>
            </a:pPr>
            <a:r>
              <a:rPr sz="1350" b="0">
                <a:solidFill>
                  <a:srgbClr val="65E2C1"/>
                </a:solidFill>
                <a:latin typeface="Helvetica Neue"/>
                <a:ea typeface="Helvetica Neue"/>
                <a:cs typeface="Helvetica Neue"/>
              </a:rPr>
              <a:t>Click the stadium to play the recorded demo</a:t>
            </a:r>
          </a:p>
        </p:txBody>
      </p:sp>
      <p:pic>
        <p:nvPicPr>
          <p:cNvPr id="5" name="demo-video-poster" descr="demo-video-poster">
            <ns0:hlinkClick xmlns:ns0="http://schemas.openxmlformats.org/drawingml/2006/main" action="ppaction://media"/>
            <a:extLst xmlns:a="http://schemas.openxmlformats.org/drawingml/2006/main">
              <a:ext uri="{FF2B5EF4-FFF2-40B4-BE49-F238E27FC236}">
                <a16:creationId xmlns:a16="http://schemas.microsoft.com/office/drawing/2014/main" id="{34D20880-F801-4284-9774-88B8BEDB61EA}"/>
              </a:ext>
            </a:extLst>
          </p:cNvPr>
          <p:cNvPicPr>
            <a:picLocks xmlns:a="http://schemas.openxmlformats.org/drawingml/2006/main" noChangeAspect="1"/>
          </p:cNvPicPr>
          <p:nvPr>
            <ns0:videoFile xmlns:ns0="http://schemas.openxmlformats.org/drawingml/2006/main" xmlns:ns1="http://schemas.openxmlformats.org/officeDocument/2006/relationships" ns1:link="rIdNorthStarVideo"/>
            <p:extLst>
              <p:ext uri="{DAA4B4D4-6D71-4841-9C94-3DE7FCFB9230}">
                <ns2:media xmlns:ns2="http://schemas.microsoft.com/office/powerpoint/2010/main" xmlns:ns3="http://schemas.openxmlformats.org/officeDocument/2006/relationships" ns3:embed="rIdNorthStarMedia"/>
              </p:ext>
            </p:extLst>
          </p:nvPr>
        </p:nvPicPr>
        <p:blipFill>
          <a:blip xmlns:r="http://schemas.openxmlformats.org/officeDocument/2006/relationships" xmlns:a="http://schemas.openxmlformats.org/drawingml/2006/main" r:embed="R7b3c5f8d1188416e"/>
          <a:stretch xmlns:a="http://schemas.openxmlformats.org/drawingml/2006/main"/>
        </p:blipFill>
        <p:spPr>
          <a:xfrm xmlns:a="http://schemas.openxmlformats.org/drawingml/2006/main">
            <a:off x="457200" y="1924050"/>
            <a:ext cx="7772400" cy="4371975"/>
          </a:xfrm>
          <a:prstGeom xmlns:a="http://schemas.openxmlformats.org/drawingml/2006/main" prst="rect">
            <a:avLst/>
          </a:prstGeom>
        </p:spPr>
      </p:pic>
      <p:sp>
        <p:nvSpPr>
          <p:cNvPr id="6" name="g1_step1">
            <a:extLst xmlns:a="http://schemas.openxmlformats.org/drawingml/2006/main">
              <a:ext uri="{FF2B5EF4-FFF2-40B4-BE49-F238E27FC236}">
                <a16:creationId xmlns:a16="http://schemas.microsoft.com/office/drawing/2014/main" id="{CE159F94-54F6-47EF-8AA7-0581F5DF4E92}"/>
              </a:ext>
            </a:extLst>
          </p:cNvPr>
          <p:cNvSpPr>
            <a:spLocks xmlns:a="http://schemas.openxmlformats.org/drawingml/2006/main" noGrp="1"/>
          </p:cNvSpPr>
          <p:nvPr/>
        </p:nvSpPr>
        <p:spPr>
          <a:xfrm xmlns:a="http://schemas.openxmlformats.org/drawingml/2006/main">
            <a:off x="8582025" y="2019300"/>
            <a:ext cx="304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65E2C1"/>
                </a:solidFill>
                <a:latin typeface="Helvetica Neue"/>
                <a:ea typeface="Helvetica Neue"/>
                <a:cs typeface="Helvetica Neue"/>
              </a:defRPr>
            </a:defPPr>
          </a:lstStyle>
          <a:p xmlns:a="http://schemas.openxmlformats.org/drawingml/2006/main">
            <a:pPr>
              <a:defRPr sz="2025" b="1">
                <a:solidFill>
                  <a:srgbClr val="65E2C1"/>
                </a:solidFill>
                <a:latin typeface="Helvetica Neue"/>
                <a:ea typeface="Helvetica Neue"/>
                <a:cs typeface="Helvetica Neue"/>
              </a:defRPr>
            </a:pPr>
            <a:r>
              <a:rPr sz="2025" b="1">
                <a:solidFill>
                  <a:srgbClr val="65E2C1"/>
                </a:solidFill>
                <a:latin typeface="Helvetica Neue"/>
                <a:ea typeface="Helvetica Neue"/>
                <a:cs typeface="Helvetica Neue"/>
              </a:rPr>
              <a:t>01  Normal departure</a:t>
            </a:r>
          </a:p>
        </p:txBody>
      </p:sp>
      <p:sp>
        <p:nvSpPr>
          <p:cNvPr id="7" name="g1_body1">
            <a:extLst xmlns:a="http://schemas.openxmlformats.org/drawingml/2006/main">
              <a:ext uri="{FF2B5EF4-FFF2-40B4-BE49-F238E27FC236}">
                <a16:creationId xmlns:a16="http://schemas.microsoft.com/office/drawing/2014/main" id="{002C486C-21FB-427D-934E-A8C1AAF9F6CD}"/>
              </a:ext>
            </a:extLst>
          </p:cNvPr>
          <p:cNvSpPr>
            <a:spLocks xmlns:a="http://schemas.openxmlformats.org/drawingml/2006/main" noGrp="1"/>
          </p:cNvSpPr>
          <p:nvPr/>
        </p:nvSpPr>
        <p:spPr>
          <a:xfrm xmlns:a="http://schemas.openxmlformats.org/drawingml/2006/main">
            <a:off x="8582025" y="2438400"/>
            <a:ext cx="2981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F1F5F9"/>
                </a:solidFill>
                <a:latin typeface="Helvetica Neue"/>
                <a:ea typeface="Helvetica Neue"/>
                <a:cs typeface="Helvetica Neue"/>
              </a:defRPr>
            </a:defPPr>
          </a:lstStyle>
          <a:p xmlns:a="http://schemas.openxmlformats.org/drawingml/2006/main">
            <a:pPr>
              <a:defRPr sz="1650" b="0">
                <a:solidFill>
                  <a:srgbClr val="F1F5F9"/>
                </a:solidFill>
                <a:latin typeface="Helvetica Neue"/>
                <a:ea typeface="Helvetica Neue"/>
                <a:cs typeface="Helvetica Neue"/>
              </a:defRPr>
            </a:pPr>
            <a:r>
              <a:rPr sz="1650" b="0">
                <a:solidFill>
                  <a:srgbClr val="F1F5F9"/>
                </a:solidFill>
                <a:latin typeface="Helvetica Neue"/>
                <a:ea typeface="Helvetica Neue"/>
                <a:cs typeface="Helvetica Neue"/>
              </a:rPr>
              <a:t>4,000 people use eight exits.</a:t>
            </a:r>
          </a:p>
        </p:txBody>
      </p:sp>
      <p:pic>
        <p:nvPicPr>
          <p:cNvPr id="8" name="g1_normal screenshot" descr="g1_normal screenshot">
            <a:extLst xmlns:a="http://schemas.openxmlformats.org/drawingml/2006/main">
              <a:ext uri="{FF2B5EF4-FFF2-40B4-BE49-F238E27FC236}">
                <a16:creationId xmlns:a16="http://schemas.microsoft.com/office/drawing/2014/main" id="{BAF2F90C-6709-47E8-939F-D8FC30BED780}"/>
              </a:ext>
            </a:extLst>
          </p:cNvPr>
          <p:cNvPicPr>
            <a:picLocks xmlns:a="http://schemas.openxmlformats.org/drawingml/2006/main" noChangeAspect="1"/>
          </p:cNvPicPr>
          <p:nvPr/>
        </p:nvPicPr>
        <p:blipFill>
          <a:blip xmlns:r="http://schemas.openxmlformats.org/officeDocument/2006/relationships" xmlns:a="http://schemas.openxmlformats.org/drawingml/2006/main" r:embed="Rf9e402984de44867"/>
          <a:stretch xmlns:a="http://schemas.openxmlformats.org/drawingml/2006/main"/>
        </p:blipFill>
        <p:spPr>
          <a:xfrm xmlns:a="http://schemas.openxmlformats.org/drawingml/2006/main">
            <a:off x="8582025" y="3031034"/>
            <a:ext cx="1381125" cy="776883"/>
          </a:xfrm>
          <a:prstGeom xmlns:a="http://schemas.openxmlformats.org/drawingml/2006/main" prst="rect">
            <a:avLst/>
          </a:prstGeom>
        </p:spPr>
      </p:pic>
      <p:sp>
        <p:nvSpPr>
          <p:cNvPr id="9" name="g2_step2">
            <a:extLst xmlns:a="http://schemas.openxmlformats.org/drawingml/2006/main">
              <a:ext uri="{FF2B5EF4-FFF2-40B4-BE49-F238E27FC236}">
                <a16:creationId xmlns:a16="http://schemas.microsoft.com/office/drawing/2014/main" id="{246FAA5F-C2E6-4F68-BF1C-D170B0E6CF26}"/>
              </a:ext>
            </a:extLst>
          </p:cNvPr>
          <p:cNvSpPr>
            <a:spLocks xmlns:a="http://schemas.openxmlformats.org/drawingml/2006/main" noGrp="1"/>
          </p:cNvSpPr>
          <p:nvPr/>
        </p:nvSpPr>
        <p:spPr>
          <a:xfrm xmlns:a="http://schemas.openxmlformats.org/drawingml/2006/main">
            <a:off x="8582025" y="3990975"/>
            <a:ext cx="304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F806B"/>
                </a:solidFill>
                <a:latin typeface="Helvetica Neue"/>
                <a:ea typeface="Helvetica Neue"/>
                <a:cs typeface="Helvetica Neue"/>
              </a:defRPr>
            </a:defPPr>
          </a:lstStyle>
          <a:p xmlns:a="http://schemas.openxmlformats.org/drawingml/2006/main">
            <a:pPr>
              <a:defRPr sz="2025" b="1">
                <a:solidFill>
                  <a:srgbClr val="FF806B"/>
                </a:solidFill>
                <a:latin typeface="Helvetica Neue"/>
                <a:ea typeface="Helvetica Neue"/>
                <a:cs typeface="Helvetica Neue"/>
              </a:defRPr>
            </a:pPr>
            <a:r>
              <a:rPr sz="2025" b="1">
                <a:solidFill>
                  <a:srgbClr val="FF806B"/>
                </a:solidFill>
                <a:latin typeface="Helvetica Neue"/>
                <a:ea typeface="Helvetica Neue"/>
                <a:cs typeface="Helvetica Neue"/>
              </a:rPr>
              <a:t>02  Gate B closes</a:t>
            </a:r>
          </a:p>
        </p:txBody>
      </p:sp>
      <p:sp>
        <p:nvSpPr>
          <p:cNvPr id="10" name="g2_body2">
            <a:extLst xmlns:a="http://schemas.openxmlformats.org/drawingml/2006/main">
              <a:ext uri="{FF2B5EF4-FFF2-40B4-BE49-F238E27FC236}">
                <a16:creationId xmlns:a16="http://schemas.microsoft.com/office/drawing/2014/main" id="{5F79F801-51E5-4B4B-AA1E-582171F817C1}"/>
              </a:ext>
            </a:extLst>
          </p:cNvPr>
          <p:cNvSpPr>
            <a:spLocks xmlns:a="http://schemas.openxmlformats.org/drawingml/2006/main" noGrp="1"/>
          </p:cNvSpPr>
          <p:nvPr/>
        </p:nvSpPr>
        <p:spPr>
          <a:xfrm xmlns:a="http://schemas.openxmlformats.org/drawingml/2006/main">
            <a:off x="8582025" y="4410075"/>
            <a:ext cx="29813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F1F5F9"/>
                </a:solidFill>
                <a:latin typeface="Helvetica Neue"/>
                <a:ea typeface="Helvetica Neue"/>
                <a:cs typeface="Helvetica Neue"/>
              </a:defRPr>
            </a:defPPr>
          </a:lstStyle>
          <a:p xmlns:a="http://schemas.openxmlformats.org/drawingml/2006/main">
            <a:pPr>
              <a:defRPr sz="1650" b="0">
                <a:solidFill>
                  <a:srgbClr val="F1F5F9"/>
                </a:solidFill>
                <a:latin typeface="Helvetica Neue"/>
                <a:ea typeface="Helvetica Neue"/>
                <a:cs typeface="Helvetica Neue"/>
              </a:defRPr>
            </a:pPr>
            <a:r>
              <a:rPr sz="1650" b="0">
                <a:solidFill>
                  <a:srgbClr val="F1F5F9"/>
                </a:solidFill>
                <a:latin typeface="Helvetica Neue"/>
                <a:ea typeface="Helvetica Neue"/>
                <a:cs typeface="Helvetica Neue"/>
              </a:rPr>
              <a:t>Python flags Gate C:</a:t>
            </a:r>
          </a:p>
          <a:p xmlns:a="http://schemas.openxmlformats.org/drawingml/2006/main">
            <a:pPr>
              <a:defRPr sz="1650" b="0">
                <a:solidFill>
                  <a:srgbClr val="F1F5F9"/>
                </a:solidFill>
                <a:latin typeface="Helvetica Neue"/>
                <a:ea typeface="Helvetica Neue"/>
                <a:cs typeface="Helvetica Neue"/>
              </a:defRPr>
            </a:pPr>
            <a:r>
              <a:rPr sz="1650" b="0">
                <a:solidFill>
                  <a:srgbClr val="F1F5F9"/>
                </a:solidFill>
                <a:latin typeface="Helvetica Neue"/>
                <a:ea typeface="Helvetica Neue"/>
                <a:cs typeface="Helvetica Neue"/>
              </a:rPr>
              <a:t>337 queued, 0.10 m/s.</a:t>
            </a:r>
          </a:p>
        </p:txBody>
      </p:sp>
      <p:sp>
        <p:nvSpPr>
          <p:cNvPr id="11" name="g3_step3">
            <a:extLst xmlns:a="http://schemas.openxmlformats.org/drawingml/2006/main">
              <a:ext uri="{FF2B5EF4-FFF2-40B4-BE49-F238E27FC236}">
                <a16:creationId xmlns:a16="http://schemas.microsoft.com/office/drawing/2014/main" id="{D527FB08-B5CF-42AC-A130-CD28E1E65B24}"/>
              </a:ext>
            </a:extLst>
          </p:cNvPr>
          <p:cNvSpPr>
            <a:spLocks xmlns:a="http://schemas.openxmlformats.org/drawingml/2006/main" noGrp="1"/>
          </p:cNvSpPr>
          <p:nvPr/>
        </p:nvSpPr>
        <p:spPr>
          <a:xfrm xmlns:a="http://schemas.openxmlformats.org/drawingml/2006/main">
            <a:off x="8582025" y="53149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93BAFF"/>
                </a:solidFill>
                <a:latin typeface="Helvetica Neue"/>
                <a:ea typeface="Helvetica Neue"/>
                <a:cs typeface="Helvetica Neue"/>
              </a:defRPr>
            </a:defPPr>
          </a:lstStyle>
          <a:p xmlns:a="http://schemas.openxmlformats.org/drawingml/2006/main">
            <a:pPr>
              <a:defRPr sz="2025" b="1">
                <a:solidFill>
                  <a:srgbClr val="93BAFF"/>
                </a:solidFill>
                <a:latin typeface="Helvetica Neue"/>
                <a:ea typeface="Helvetica Neue"/>
                <a:cs typeface="Helvetica Neue"/>
              </a:defRPr>
            </a:pPr>
            <a:r>
              <a:rPr sz="2025" b="1">
                <a:solidFill>
                  <a:srgbClr val="93BAFF"/>
                </a:solidFill>
                <a:latin typeface="Helvetica Neue"/>
                <a:ea typeface="Helvetica Neue"/>
                <a:cs typeface="Helvetica Neue"/>
              </a:rPr>
              <a:t>03  B, C and D close</a:t>
            </a:r>
          </a:p>
        </p:txBody>
      </p:sp>
      <p:sp>
        <p:nvSpPr>
          <p:cNvPr id="12" name="g3_body3">
            <a:extLst xmlns:a="http://schemas.openxmlformats.org/drawingml/2006/main">
              <a:ext uri="{FF2B5EF4-FFF2-40B4-BE49-F238E27FC236}">
                <a16:creationId xmlns:a16="http://schemas.microsoft.com/office/drawing/2014/main" id="{6B5BBB4F-9F47-4155-980F-A4C6A8381F74}"/>
              </a:ext>
            </a:extLst>
          </p:cNvPr>
          <p:cNvSpPr>
            <a:spLocks xmlns:a="http://schemas.openxmlformats.org/drawingml/2006/main" noGrp="1"/>
          </p:cNvSpPr>
          <p:nvPr/>
        </p:nvSpPr>
        <p:spPr>
          <a:xfrm xmlns:a="http://schemas.openxmlformats.org/drawingml/2006/main">
            <a:off x="8582025" y="5724525"/>
            <a:ext cx="304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F1F5F9"/>
                </a:solidFill>
                <a:latin typeface="Helvetica Neue"/>
                <a:ea typeface="Helvetica Neue"/>
                <a:cs typeface="Helvetica Neue"/>
              </a:defRPr>
            </a:defPPr>
          </a:lstStyle>
          <a:p xmlns:a="http://schemas.openxmlformats.org/drawingml/2006/main">
            <a:pPr>
              <a:defRPr sz="1650" b="0">
                <a:solidFill>
                  <a:srgbClr val="F1F5F9"/>
                </a:solidFill>
                <a:latin typeface="Helvetica Neue"/>
                <a:ea typeface="Helvetica Neue"/>
                <a:cs typeface="Helvetica Neue"/>
              </a:defRPr>
            </a:pPr>
            <a:r>
              <a:rPr sz="1650" b="0">
                <a:solidFill>
                  <a:srgbClr val="F1F5F9"/>
                </a:solidFill>
                <a:latin typeface="Helvetica Neue"/>
                <a:ea typeface="Helvetica Neue"/>
                <a:cs typeface="Helvetica Neue"/>
              </a:rPr>
              <a:t>Demand shifts to other gates.</a:t>
            </a:r>
          </a:p>
        </p:txBody>
      </p:sp>
      <p:pic>
        <p:nvPicPr>
          <p:cNvPr id="13" name="g3_multiple closure screenshot" descr="g3_multiple closure screenshot">
            <a:extLst xmlns:a="http://schemas.openxmlformats.org/drawingml/2006/main">
              <a:ext uri="{FF2B5EF4-FFF2-40B4-BE49-F238E27FC236}">
                <a16:creationId xmlns:a16="http://schemas.microsoft.com/office/drawing/2014/main" id="{99EF081C-D416-4F1F-8220-341AE54E2918}"/>
              </a:ext>
            </a:extLst>
          </p:cNvPr>
          <p:cNvPicPr>
            <a:picLocks xmlns:a="http://schemas.openxmlformats.org/drawingml/2006/main" noChangeAspect="1"/>
          </p:cNvPicPr>
          <p:nvPr/>
        </p:nvPicPr>
        <p:blipFill>
          <a:blip xmlns:r="http://schemas.openxmlformats.org/officeDocument/2006/relationships" xmlns:a="http://schemas.openxmlformats.org/drawingml/2006/main" r:embed="Rbf0779bf068a41b1"/>
          <a:stretch xmlns:a="http://schemas.openxmlformats.org/drawingml/2006/main"/>
        </p:blipFill>
        <p:spPr>
          <a:xfrm xmlns:a="http://schemas.openxmlformats.org/drawingml/2006/main">
            <a:off x="10106025" y="3031034"/>
            <a:ext cx="1381125" cy="776883"/>
          </a:xfrm>
          <a:prstGeom xmlns:a="http://schemas.openxmlformats.org/drawingml/2006/main" prst="rect">
            <a:avLst/>
          </a:prstGeom>
        </p:spPr>
      </p:pic>
      <p:sp>
        <p:nvSpPr>
          <p:cNvPr id="14" name="g1_thumb_label">
            <a:extLst xmlns:a="http://schemas.openxmlformats.org/drawingml/2006/main">
              <a:ext uri="{FF2B5EF4-FFF2-40B4-BE49-F238E27FC236}">
                <a16:creationId xmlns:a16="http://schemas.microsoft.com/office/drawing/2014/main" id="{26A70E93-C489-4177-9D7A-E635B0C04F3D}"/>
              </a:ext>
            </a:extLst>
          </p:cNvPr>
          <p:cNvSpPr>
            <a:spLocks xmlns:a="http://schemas.openxmlformats.org/drawingml/2006/main" noGrp="1"/>
          </p:cNvSpPr>
          <p:nvPr/>
        </p:nvSpPr>
        <p:spPr>
          <a:xfrm xmlns:a="http://schemas.openxmlformats.org/drawingml/2006/main">
            <a:off x="8582025" y="3800475"/>
            <a:ext cx="1381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1">
                <a:solidFill>
                  <a:srgbClr val="A8BACB"/>
                </a:solidFill>
                <a:latin typeface="Helvetica Neue"/>
                <a:ea typeface="Helvetica Neue"/>
                <a:cs typeface="Helvetica Neue"/>
              </a:defRPr>
            </a:defPPr>
          </a:lstStyle>
          <a:p xmlns:a="http://schemas.openxmlformats.org/drawingml/2006/main">
            <a:pPr>
              <a:defRPr sz="975" b="1">
                <a:solidFill>
                  <a:srgbClr val="A8BACB"/>
                </a:solidFill>
                <a:latin typeface="Helvetica Neue"/>
                <a:ea typeface="Helvetica Neue"/>
                <a:cs typeface="Helvetica Neue"/>
              </a:defRPr>
            </a:pPr>
            <a:r>
              <a:rPr sz="975" b="1">
                <a:solidFill>
                  <a:srgbClr val="A8BACB"/>
                </a:solidFill>
                <a:latin typeface="Helvetica Neue"/>
                <a:ea typeface="Helvetica Neue"/>
                <a:cs typeface="Helvetica Neue"/>
              </a:rPr>
              <a:t>01  ALL OPEN</a:t>
            </a:r>
          </a:p>
        </p:txBody>
      </p:sp>
      <p:sp>
        <p:nvSpPr>
          <p:cNvPr id="15" name="g3_thumb_label">
            <a:extLst xmlns:a="http://schemas.openxmlformats.org/drawingml/2006/main">
              <a:ext uri="{FF2B5EF4-FFF2-40B4-BE49-F238E27FC236}">
                <a16:creationId xmlns:a16="http://schemas.microsoft.com/office/drawing/2014/main" id="{55A2AE7B-4861-4362-9EEE-3CABA36B9874}"/>
              </a:ext>
            </a:extLst>
          </p:cNvPr>
          <p:cNvSpPr>
            <a:spLocks xmlns:a="http://schemas.openxmlformats.org/drawingml/2006/main" noGrp="1"/>
          </p:cNvSpPr>
          <p:nvPr/>
        </p:nvSpPr>
        <p:spPr>
          <a:xfrm xmlns:a="http://schemas.openxmlformats.org/drawingml/2006/main">
            <a:off x="10106025" y="3800475"/>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1">
                <a:solidFill>
                  <a:srgbClr val="A8BACB"/>
                </a:solidFill>
                <a:latin typeface="Helvetica Neue"/>
                <a:ea typeface="Helvetica Neue"/>
                <a:cs typeface="Helvetica Neue"/>
              </a:defRPr>
            </a:defPPr>
          </a:lstStyle>
          <a:p xmlns:a="http://schemas.openxmlformats.org/drawingml/2006/main">
            <a:pPr>
              <a:defRPr sz="975" b="1">
                <a:solidFill>
                  <a:srgbClr val="A8BACB"/>
                </a:solidFill>
                <a:latin typeface="Helvetica Neue"/>
                <a:ea typeface="Helvetica Neue"/>
                <a:cs typeface="Helvetica Neue"/>
              </a:defRPr>
            </a:pPr>
            <a:r>
              <a:rPr sz="975" b="1">
                <a:solidFill>
                  <a:srgbClr val="A8BACB"/>
                </a:solidFill>
                <a:latin typeface="Helvetica Neue"/>
                <a:ea typeface="Helvetica Neue"/>
                <a:cs typeface="Helvetica Neue"/>
              </a:rPr>
              <a:t>03  B / C / D CLOSED</a:t>
            </a:r>
          </a:p>
        </p:txBody>
      </p:sp>
      <p:sp>
        <p:nvSpPr>
          <p:cNvPr id="16" name="evidence_caption">
            <a:extLst xmlns:a="http://schemas.openxmlformats.org/drawingml/2006/main">
              <a:ext uri="{FF2B5EF4-FFF2-40B4-BE49-F238E27FC236}">
                <a16:creationId xmlns:a16="http://schemas.microsoft.com/office/drawing/2014/main" id="{670CA4BB-5A2D-478F-9161-943E42004CE6}"/>
              </a:ext>
            </a:extLst>
          </p:cNvPr>
          <p:cNvSpPr>
            <a:spLocks xmlns:a="http://schemas.openxmlformats.org/drawingml/2006/main" noGrp="1"/>
          </p:cNvSpPr>
          <p:nvPr/>
        </p:nvSpPr>
        <p:spPr>
          <a:xfrm xmlns:a="http://schemas.openxmlformats.org/drawingml/2006/main">
            <a:off x="466725" y="6448425"/>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8BACB"/>
                </a:solidFill>
                <a:latin typeface="Helvetica Neue"/>
                <a:ea typeface="Helvetica Neue"/>
                <a:cs typeface="Helvetica Neue"/>
              </a:defRPr>
            </a:defPPr>
          </a:lstStyle>
          <a:p xmlns:a="http://schemas.openxmlformats.org/drawingml/2006/main">
            <a:pPr>
              <a:defRPr sz="1200" b="0">
                <a:solidFill>
                  <a:srgbClr val="A8BACB"/>
                </a:solidFill>
                <a:latin typeface="Helvetica Neue"/>
                <a:ea typeface="Helvetica Neue"/>
                <a:cs typeface="Helvetica Neue"/>
              </a:defRPr>
            </a:pPr>
            <a:r>
              <a:rPr sz="1200" b="0">
                <a:solidFill>
                  <a:srgbClr val="A8BACB"/>
                </a:solidFill>
                <a:latin typeface="Helvetica Neue"/>
                <a:ea typeface="Helvetica Neue"/>
                <a:cs typeface="Helvetica Neue"/>
              </a:rPr>
              <a:t>Actual app captures. Forecast and recommendation panels still use demonstration data.</a:t>
            </a:r>
          </a:p>
        </p:txBody>
      </p:sp>
    </p:spTree>
    <p:extLst>
      <p:ext uri="{BB962C8B-B14F-4D97-AF65-F5344CB8AC3E}">
        <p14:creationId xmlns:p14="http://schemas.microsoft.com/office/powerpoint/2010/main" val="1311225672"/>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00"/>
                            </p:stCondLst>
                            <p:childTnLst>
                              <p:set>
                                <p:cBhvr>
                                  <p:cTn id="5" dur="1" fill="hold"/>
                                  <p:tgtEl>
                                    <p:spTgt spid="6"/>
                                  </p:tgtEl>
                                  <p:attrNameLst>
                                    <p:attrName>style.visibility</p:attrName>
                                  </p:attrNameLst>
                                </p:cBhvr>
                                <p:to>
                                  <p:strVal val="visible"/>
                                </p:to>
                              </p:set>
                              <p:animEffect transition="in" filter="fade">
                                <p:cBhvr>
                                  <p:cTn id="6" dur="550" fill="hold"/>
                                  <p:tgtEl>
                                    <p:spTgt spid="6"/>
                                  </p:tgtEl>
                                </p:cBhvr>
                              </p:animEffect>
                            </p:childTnLst>
                          </p:cTn>
                        </p:par>
                        <p:par>
                          <p:cTn id="7" presetID="10" presetClass="entr" presetSubtype="0" fill="hold" nodeType="withEffect">
                            <p:stCondLst>
                              <p:cond delay="100"/>
                            </p:stCondLst>
                            <p:childTnLst>
                              <p:set>
                                <p:cBhvr>
                                  <p:cTn id="8" dur="1" fill="hold"/>
                                  <p:tgtEl>
                                    <p:spTgt spid="7"/>
                                  </p:tgtEl>
                                  <p:attrNameLst>
                                    <p:attrName>style.visibility</p:attrName>
                                  </p:attrNameLst>
                                </p:cBhvr>
                                <p:to>
                                  <p:strVal val="visible"/>
                                </p:to>
                              </p:set>
                              <p:animEffect transition="in" filter="fade">
                                <p:cBhvr>
                                  <p:cTn id="9" dur="550" fill="hold"/>
                                  <p:tgtEl>
                                    <p:spTgt spid="7"/>
                                  </p:tgtEl>
                                </p:cBhvr>
                              </p:animEffect>
                            </p:childTnLst>
                          </p:cTn>
                        </p:par>
                        <p:par>
                          <p:cTn id="10" presetID="10" presetClass="entr" presetSubtype="0" fill="hold" nodeType="withEffect">
                            <p:stCondLst>
                              <p:cond delay="100"/>
                            </p:stCondLst>
                            <p:childTnLst>
                              <p:set>
                                <p:cBhvr>
                                  <p:cTn id="11" dur="1" fill="hold"/>
                                  <p:tgtEl>
                                    <p:spTgt spid="8"/>
                                  </p:tgtEl>
                                  <p:attrNameLst>
                                    <p:attrName>style.visibility</p:attrName>
                                  </p:attrNameLst>
                                </p:cBhvr>
                                <p:to>
                                  <p:strVal val="visible"/>
                                </p:to>
                              </p:set>
                              <p:animEffect transition="in" filter="fade">
                                <p:cBhvr>
                                  <p:cTn id="12" dur="550" fill="hold"/>
                                  <p:tgtEl>
                                    <p:spTgt spid="8"/>
                                  </p:tgtEl>
                                </p:cBhvr>
                              </p:animEffect>
                            </p:childTnLst>
                          </p:cTn>
                        </p:par>
                        <p:par>
                          <p:cTn id="13" presetID="10" presetClass="entr" presetSubtype="0" fill="hold" nodeType="withEffect">
                            <p:stCondLst>
                              <p:cond delay="100"/>
                            </p:stCondLst>
                            <p:childTnLst>
                              <p:set>
                                <p:cBhvr>
                                  <p:cTn id="14" dur="1" fill="hold"/>
                                  <p:tgtEl>
                                    <p:spTgt spid="14"/>
                                  </p:tgtEl>
                                  <p:attrNameLst>
                                    <p:attrName>style.visibility</p:attrName>
                                  </p:attrNameLst>
                                </p:cBhvr>
                                <p:to>
                                  <p:strVal val="visible"/>
                                </p:to>
                              </p:set>
                              <p:animEffect transition="in" filter="fade">
                                <p:cBhvr>
                                  <p:cTn id="15" dur="550" fill="hold"/>
                                  <p:tgtEl>
                                    <p:spTgt spid="14"/>
                                  </p:tgtEl>
                                </p:cBhvr>
                              </p:animEffect>
                            </p:childTnLst>
                          </p:cTn>
                        </p:par>
                        <p:par>
                          <p:cTn id="16" presetID="10" presetClass="entr" presetSubtype="0" fill="hold" nodeType="withEffect">
                            <p:stCondLst>
                              <p:cond delay="700"/>
                            </p:stCondLst>
                            <p:childTnLst>
                              <p:set>
                                <p:cBhvr>
                                  <p:cTn id="17" dur="1" fill="hold"/>
                                  <p:tgtEl>
                                    <p:spTgt spid="9"/>
                                  </p:tgtEl>
                                  <p:attrNameLst>
                                    <p:attrName>style.visibility</p:attrName>
                                  </p:attrNameLst>
                                </p:cBhvr>
                                <p:to>
                                  <p:strVal val="visible"/>
                                </p:to>
                              </p:set>
                              <p:animEffect transition="in" filter="fade">
                                <p:cBhvr>
                                  <p:cTn id="18" dur="550" fill="hold"/>
                                  <p:tgtEl>
                                    <p:spTgt spid="9"/>
                                  </p:tgtEl>
                                </p:cBhvr>
                              </p:animEffect>
                            </p:childTnLst>
                          </p:cTn>
                        </p:par>
                        <p:par>
                          <p:cTn id="19" presetID="10" presetClass="entr" presetSubtype="0" fill="hold" nodeType="withEffect">
                            <p:stCondLst>
                              <p:cond delay="700"/>
                            </p:stCondLst>
                            <p:childTnLst>
                              <p:set>
                                <p:cBhvr>
                                  <p:cTn id="20" dur="1" fill="hold"/>
                                  <p:tgtEl>
                                    <p:spTgt spid="10"/>
                                  </p:tgtEl>
                                  <p:attrNameLst>
                                    <p:attrName>style.visibility</p:attrName>
                                  </p:attrNameLst>
                                </p:cBhvr>
                                <p:to>
                                  <p:strVal val="visible"/>
                                </p:to>
                              </p:set>
                              <p:animEffect transition="in" filter="fade">
                                <p:cBhvr>
                                  <p:cTn id="21" dur="550" fill="hold"/>
                                  <p:tgtEl>
                                    <p:spTgt spid="10"/>
                                  </p:tgtEl>
                                </p:cBhvr>
                              </p:animEffect>
                            </p:childTnLst>
                          </p:cTn>
                        </p:par>
                        <p:par>
                          <p:cTn id="22" presetID="10" presetClass="entr" presetSubtype="0" fill="hold" nodeType="withEffect">
                            <p:stCondLst>
                              <p:cond delay="1300"/>
                            </p:stCondLst>
                            <p:childTnLst>
                              <p:set>
                                <p:cBhvr>
                                  <p:cTn id="23" dur="1" fill="hold"/>
                                  <p:tgtEl>
                                    <p:spTgt spid="11"/>
                                  </p:tgtEl>
                                  <p:attrNameLst>
                                    <p:attrName>style.visibility</p:attrName>
                                  </p:attrNameLst>
                                </p:cBhvr>
                                <p:to>
                                  <p:strVal val="visible"/>
                                </p:to>
                              </p:set>
                              <p:animEffect transition="in" filter="fade">
                                <p:cBhvr>
                                  <p:cTn id="24" dur="550" fill="hold"/>
                                  <p:tgtEl>
                                    <p:spTgt spid="11"/>
                                  </p:tgtEl>
                                </p:cBhvr>
                              </p:animEffect>
                            </p:childTnLst>
                          </p:cTn>
                        </p:par>
                        <p:par>
                          <p:cTn id="25" presetID="10" presetClass="entr" presetSubtype="0" fill="hold" nodeType="withEffect">
                            <p:stCondLst>
                              <p:cond delay="1300"/>
                            </p:stCondLst>
                            <p:childTnLst>
                              <p:set>
                                <p:cBhvr>
                                  <p:cTn id="26" dur="1" fill="hold"/>
                                  <p:tgtEl>
                                    <p:spTgt spid="12"/>
                                  </p:tgtEl>
                                  <p:attrNameLst>
                                    <p:attrName>style.visibility</p:attrName>
                                  </p:attrNameLst>
                                </p:cBhvr>
                                <p:to>
                                  <p:strVal val="visible"/>
                                </p:to>
                              </p:set>
                              <p:animEffect transition="in" filter="fade">
                                <p:cBhvr>
                                  <p:cTn id="27" dur="550" fill="hold"/>
                                  <p:tgtEl>
                                    <p:spTgt spid="12"/>
                                  </p:tgtEl>
                                </p:cBhvr>
                              </p:animEffect>
                            </p:childTnLst>
                          </p:cTn>
                        </p:par>
                        <p:par>
                          <p:cTn id="28" presetID="10" presetClass="entr" presetSubtype="0" fill="hold" nodeType="withEffect">
                            <p:stCondLst>
                              <p:cond delay="1300"/>
                            </p:stCondLst>
                            <p:childTnLst>
                              <p:set>
                                <p:cBhvr>
                                  <p:cTn id="29" dur="1" fill="hold"/>
                                  <p:tgtEl>
                                    <p:spTgt spid="13"/>
                                  </p:tgtEl>
                                  <p:attrNameLst>
                                    <p:attrName>style.visibility</p:attrName>
                                  </p:attrNameLst>
                                </p:cBhvr>
                                <p:to>
                                  <p:strVal val="visible"/>
                                </p:to>
                              </p:set>
                              <p:animEffect transition="in" filter="fade">
                                <p:cBhvr>
                                  <p:cTn id="30" dur="550" fill="hold"/>
                                  <p:tgtEl>
                                    <p:spTgt spid="13"/>
                                  </p:tgtEl>
                                </p:cBhvr>
                              </p:animEffect>
                            </p:childTnLst>
                          </p:cTn>
                        </p:par>
                        <p:par>
                          <p:cTn id="31" presetID="10" presetClass="entr" presetSubtype="0" fill="hold" nodeType="withEffect">
                            <p:stCondLst>
                              <p:cond delay="1300"/>
                            </p:stCondLst>
                            <p:childTnLst>
                              <p:set>
                                <p:cBhvr>
                                  <p:cTn id="32" dur="1" fill="hold"/>
                                  <p:tgtEl>
                                    <p:spTgt spid="15"/>
                                  </p:tgtEl>
                                  <p:attrNameLst>
                                    <p:attrName>style.visibility</p:attrName>
                                  </p:attrNameLst>
                                </p:cBhvr>
                                <p:to>
                                  <p:strVal val="visible"/>
                                </p:to>
                              </p:set>
                              <p:animEffect transition="in" filter="fade">
                                <p:cBhvr>
                                  <p:cTn id="33" dur="550" fill="hold"/>
                                  <p:tgtEl>
                                    <p:spTgt spid="15"/>
                                  </p:tgtEl>
                                </p:cBhvr>
                              </p:animEffect>
                            </p:childTnLst>
                          </p:cTn>
                        </p:par>
                      </p:childTnLst>
                    </p:cTn>
                  </p:par>
                </p:childTnLst>
              </p:cTn>
              <p:prevCondLst>
                <p:cond evt="onPrev" delay="0">
                  <p:tgtEl>
                    <p:sldTgt/>
                  </p:tgtEl>
                </p:cond>
              </p:prevCondLst>
              <p:nextCondLst>
                <p:cond evt="onNext" delay="0">
                  <p:tgtEl>
                    <p:sldTgt/>
                  </p:tgtEl>
                </p:cond>
              </p:nextCondLst>
            </p:seq>
            <p:video>
              <p:cMediaNode vol="80000">
                <p:cTn id="34" dur="indefinite" fill="hold" display="0">
                  <p:stCondLst>
                    <p:cond delay="indefinite"/>
                  </p:stCondLst>
                </p:cTn>
                <p:tgtEl>
                  <p:spTgt spid="5"/>
                </p:tgtEl>
              </p:cMediaNode>
            </p:video>
          </p:childTnLst>
        </p:cTn>
      </p:par>
    </p:tnLst>
  </p:timing>
</p:sld>
</file>

<file path=ppt/slides/slide7.xml><?xml version="1.0" encoding="utf-8"?>
<p:sld xmlns:p="http://schemas.openxmlformats.org/presentationml/2006/main">
  <p:cSld>
    <p:bg>
      <p:bgPr>
        <a:solidFill xmlns:a="http://schemas.openxmlformats.org/drawingml/2006/main">
          <a:srgbClr val="F2F3EB"/>
        </a:solidFill>
      </p:bgPr>
    </p:bg>
    <p:spTree>
      <p:nvGrpSpPr>
        <p:cNvPr id="1" name=""/>
        <p:cNvGrpSpPr/>
        <p:nvPr/>
      </p:nvGrpSpPr>
      <p:grpSpPr>
        <a:xfrm xmlns:a="http://schemas.openxmlformats.org/drawingml/2006/main"/>
      </p:grpSpPr>
      <p:sp>
        <p:nvSpPr>
          <p:cNvPr id="13" name="page">
            <a:extLst xmlns:a="http://schemas.openxmlformats.org/drawingml/2006/main">
              <a:ext uri="{FF2B5EF4-FFF2-40B4-BE49-F238E27FC236}">
                <a16:creationId xmlns:a16="http://schemas.microsoft.com/office/drawing/2014/main" id="{0CBE684A-22BB-49E3-B482-E1F9CC53E186}"/>
              </a:ext>
            </a:extLst>
          </p:cNvPr>
          <p:cNvSpPr>
            <a:spLocks xmlns:a="http://schemas.openxmlformats.org/drawingml/2006/main" noGrp="1"/>
          </p:cNvSpPr>
          <p:nvPr/>
        </p:nvSpPr>
        <p:spPr>
          <a:xfrm xmlns:a="http://schemas.openxmlformats.org/drawingml/2006/main">
            <a:off x="11239500" y="62579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06377"/>
                </a:solidFill>
                <a:latin typeface="Helvetica Neue"/>
                <a:ea typeface="Helvetica Neue"/>
                <a:cs typeface="Helvetica Neue"/>
              </a:defRPr>
            </a:defPPr>
          </a:lstStyle>
          <a:p xmlns:a="http://schemas.openxmlformats.org/drawingml/2006/main">
            <a:pPr algn="r">
              <a:defRPr sz="1200" b="0">
                <a:solidFill>
                  <a:srgbClr val="506377"/>
                </a:solidFill>
                <a:latin typeface="Helvetica Neue"/>
                <a:ea typeface="Helvetica Neue"/>
                <a:cs typeface="Helvetica Neue"/>
              </a:defRPr>
            </a:pPr>
            <a:r>
              <a:rPr sz="1200" b="0">
                <a:solidFill>
                  <a:srgbClr val="506377"/>
                </a:solidFill>
                <a:latin typeface="Helvetica Neue"/>
                <a:ea typeface="Helvetica Neue"/>
                <a:cs typeface="Helvetica Neue"/>
              </a:rPr>
              <a:t>07</a:t>
            </a:r>
          </a:p>
        </p:txBody>
      </p:sp>
      <p:sp>
        <p:nvSpPr>
          <p:cNvPr id="2" name="section">
            <a:extLst xmlns:a="http://schemas.openxmlformats.org/drawingml/2006/main">
              <a:ext uri="{FF2B5EF4-FFF2-40B4-BE49-F238E27FC236}">
                <a16:creationId xmlns:a16="http://schemas.microsoft.com/office/drawing/2014/main" id="{E0A915D8-7017-40B8-8A31-C5B33AF974FB}"/>
              </a:ext>
            </a:extLst>
          </p:cNvPr>
          <p:cNvSpPr>
            <a:spLocks xmlns:a="http://schemas.openxmlformats.org/drawingml/2006/main" noGrp="1"/>
          </p:cNvSpPr>
          <p:nvPr/>
        </p:nvSpPr>
        <p:spPr>
          <a:xfrm xmlns:a="http://schemas.openxmlformats.org/drawingml/2006/main">
            <a:off x="609600" y="4000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85D"/>
                </a:solidFill>
                <a:latin typeface="Helvetica Neue"/>
                <a:ea typeface="Helvetica Neue"/>
                <a:cs typeface="Helvetica Neue"/>
              </a:defRPr>
            </a:defPPr>
          </a:lstStyle>
          <a:p xmlns:a="http://schemas.openxmlformats.org/drawingml/2006/main">
            <a:pPr>
              <a:defRPr sz="1125" b="1">
                <a:solidFill>
                  <a:srgbClr val="08785D"/>
                </a:solidFill>
                <a:latin typeface="Helvetica Neue"/>
                <a:ea typeface="Helvetica Neue"/>
                <a:cs typeface="Helvetica Neue"/>
              </a:defRPr>
            </a:pPr>
            <a:r>
              <a:rPr sz="1125" b="1">
                <a:solidFill>
                  <a:srgbClr val="08785D"/>
                </a:solidFill>
                <a:latin typeface="Helvetica Neue"/>
                <a:ea typeface="Helvetica Neue"/>
                <a:cs typeface="Helvetica Neue"/>
              </a:rPr>
              <a:t>HACKATHON TWISTS</a:t>
            </a:r>
          </a:p>
        </p:txBody>
      </p:sp>
      <p:sp>
        <p:nvSpPr>
          <p:cNvPr id="3" name="title">
            <a:extLst xmlns:a="http://schemas.openxmlformats.org/drawingml/2006/main">
              <a:ext uri="{FF2B5EF4-FFF2-40B4-BE49-F238E27FC236}">
                <a16:creationId xmlns:a16="http://schemas.microsoft.com/office/drawing/2014/main" id="{A36A1595-83A1-4EDE-A50C-7D97F58163B8}"/>
              </a:ext>
            </a:extLst>
          </p:cNvPr>
          <p:cNvSpPr>
            <a:spLocks xmlns:a="http://schemas.openxmlformats.org/drawingml/2006/main" noGrp="1"/>
          </p:cNvSpPr>
          <p:nvPr/>
        </p:nvSpPr>
        <p:spPr>
          <a:xfrm xmlns:a="http://schemas.openxmlformats.org/drawingml/2006/main">
            <a:off x="609600" y="7905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12234"/>
                </a:solidFill>
                <a:latin typeface="Helvetica Neue"/>
                <a:ea typeface="Helvetica Neue"/>
                <a:cs typeface="Helvetica Neue"/>
              </a:defRPr>
            </a:defPPr>
          </a:lstStyle>
          <a:p xmlns:a="http://schemas.openxmlformats.org/drawingml/2006/main">
            <a:pPr>
              <a:defRPr sz="3600" b="1">
                <a:solidFill>
                  <a:srgbClr val="112234"/>
                </a:solidFill>
                <a:latin typeface="Helvetica Neue"/>
                <a:ea typeface="Helvetica Neue"/>
                <a:cs typeface="Helvetica Neue"/>
              </a:defRPr>
            </a:pPr>
            <a:r>
              <a:rPr sz="3600" b="1">
                <a:solidFill>
                  <a:srgbClr val="112234"/>
                </a:solidFill>
                <a:latin typeface="Helvetica Neue"/>
                <a:ea typeface="Helvetica Neue"/>
                <a:cs typeface="Helvetica Neue"/>
              </a:rPr>
              <a:t>A government pathway. A global product</a:t>
            </a:r>
          </a:p>
        </p:txBody>
      </p:sp>
      <p:sp>
        <p:nvSpPr>
          <p:cNvPr id="4" name="g1_funding_title">
            <a:extLst xmlns:a="http://schemas.openxmlformats.org/drawingml/2006/main">
              <a:ext uri="{FF2B5EF4-FFF2-40B4-BE49-F238E27FC236}">
                <a16:creationId xmlns:a16="http://schemas.microsoft.com/office/drawing/2014/main" id="{BE2DD850-8955-4582-A97B-60380183285A}"/>
              </a:ext>
            </a:extLst>
          </p:cNvPr>
          <p:cNvSpPr>
            <a:spLocks xmlns:a="http://schemas.openxmlformats.org/drawingml/2006/main" noGrp="1"/>
          </p:cNvSpPr>
          <p:nvPr/>
        </p:nvSpPr>
        <p:spPr>
          <a:xfrm xmlns:a="http://schemas.openxmlformats.org/drawingml/2006/main">
            <a:off x="619125" y="2057400"/>
            <a:ext cx="5191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2234"/>
                </a:solidFill>
                <a:latin typeface="Helvetica Neue"/>
                <a:ea typeface="Helvetica Neue"/>
                <a:cs typeface="Helvetica Neue"/>
              </a:defRPr>
            </a:defPPr>
          </a:lstStyle>
          <a:p xmlns:a="http://schemas.openxmlformats.org/drawingml/2006/main">
            <a:pPr>
              <a:defRPr sz="2550" b="1">
                <a:solidFill>
                  <a:srgbClr val="112234"/>
                </a:solidFill>
                <a:latin typeface="Helvetica Neue"/>
                <a:ea typeface="Helvetica Neue"/>
                <a:cs typeface="Helvetica Neue"/>
              </a:defRPr>
            </a:pPr>
            <a:r>
              <a:rPr sz="2550" b="1">
                <a:solidFill>
                  <a:srgbClr val="112234"/>
                </a:solidFill>
                <a:latin typeface="Helvetica Neue"/>
                <a:ea typeface="Helvetica Neue"/>
                <a:cs typeface="Helvetica Neue"/>
              </a:rPr>
              <a:t>01  Funding pathway</a:t>
            </a:r>
          </a:p>
        </p:txBody>
      </p:sp>
      <p:sp>
        <p:nvSpPr>
          <p:cNvPr id="5" name="g1_nsf">
            <a:extLst xmlns:a="http://schemas.openxmlformats.org/drawingml/2006/main">
              <a:ext uri="{FF2B5EF4-FFF2-40B4-BE49-F238E27FC236}">
                <a16:creationId xmlns:a16="http://schemas.microsoft.com/office/drawing/2014/main" id="{9B999590-097E-4D1C-931E-8414805C9B71}"/>
              </a:ext>
            </a:extLst>
          </p:cNvPr>
          <p:cNvSpPr>
            <a:spLocks xmlns:a="http://schemas.openxmlformats.org/drawingml/2006/main" noGrp="1"/>
          </p:cNvSpPr>
          <p:nvPr/>
        </p:nvSpPr>
        <p:spPr>
          <a:xfrm xmlns:a="http://schemas.openxmlformats.org/drawingml/2006/main">
            <a:off x="619125" y="27622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85D"/>
                </a:solidFill>
                <a:latin typeface="Helvetica Neue"/>
                <a:ea typeface="Helvetica Neue"/>
                <a:cs typeface="Helvetica Neue"/>
              </a:defRPr>
            </a:defPPr>
          </a:lstStyle>
          <a:p xmlns:a="http://schemas.openxmlformats.org/drawingml/2006/main">
            <a:pPr>
              <a:defRPr sz="2100" b="1">
                <a:solidFill>
                  <a:srgbClr val="08785D"/>
                </a:solidFill>
                <a:latin typeface="Helvetica Neue"/>
                <a:ea typeface="Helvetica Neue"/>
                <a:cs typeface="Helvetica Neue"/>
              </a:defRPr>
            </a:pPr>
            <a:r>
              <a:rPr sz="2100" b="1">
                <a:solidFill>
                  <a:srgbClr val="08785D"/>
                </a:solidFill>
                <a:latin typeface="Helvetica Neue"/>
                <a:ea typeface="Helvetica Neue"/>
                <a:cs typeface="Helvetica Neue"/>
              </a:rPr>
              <a:t>NSF America’s Seed Fund</a:t>
            </a:r>
          </a:p>
        </p:txBody>
      </p:sp>
      <p:sp>
        <p:nvSpPr>
          <p:cNvPr id="6" name="g1_nsf_body">
            <a:extLst xmlns:a="http://schemas.openxmlformats.org/drawingml/2006/main">
              <a:ext uri="{FF2B5EF4-FFF2-40B4-BE49-F238E27FC236}">
                <a16:creationId xmlns:a16="http://schemas.microsoft.com/office/drawing/2014/main" id="{B6B10274-70EA-4DC5-A727-5E6DFA767C24}"/>
              </a:ext>
            </a:extLst>
          </p:cNvPr>
          <p:cNvSpPr>
            <a:spLocks xmlns:a="http://schemas.openxmlformats.org/drawingml/2006/main" noGrp="1"/>
          </p:cNvSpPr>
          <p:nvPr/>
        </p:nvSpPr>
        <p:spPr>
          <a:xfrm xmlns:a="http://schemas.openxmlformats.org/drawingml/2006/main">
            <a:off x="619125" y="3248025"/>
            <a:ext cx="5191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06377"/>
                </a:solidFill>
                <a:latin typeface="Helvetica Neue"/>
                <a:ea typeface="Helvetica Neue"/>
                <a:cs typeface="Helvetica Neue"/>
              </a:defRPr>
            </a:defPPr>
          </a:lstStyle>
          <a:p xmlns:a="http://schemas.openxmlformats.org/drawingml/2006/main">
            <a:pPr>
              <a:defRPr sz="1875" b="0">
                <a:solidFill>
                  <a:srgbClr val="506377"/>
                </a:solidFill>
                <a:latin typeface="Helvetica Neue"/>
                <a:ea typeface="Helvetica Neue"/>
                <a:cs typeface="Helvetica Neue"/>
              </a:defRPr>
            </a:pPr>
            <a:r>
              <a:rPr sz="1875" b="0">
                <a:solidFill>
                  <a:srgbClr val="506377"/>
                </a:solidFill>
                <a:latin typeface="Helvetica Neue"/>
                <a:ea typeface="Helvetica Neue"/>
                <a:cs typeface="Helvetica Neue"/>
              </a:rPr>
              <a:t>Up to $305k for Phase I feasibility R&amp;D.</a:t>
            </a:r>
          </a:p>
          <a:p xmlns:a="http://schemas.openxmlformats.org/drawingml/2006/main">
            <a:pPr>
              <a:defRPr sz="1875" b="0">
                <a:solidFill>
                  <a:srgbClr val="506377"/>
                </a:solidFill>
                <a:latin typeface="Helvetica Neue"/>
                <a:ea typeface="Helvetica Neue"/>
                <a:cs typeface="Helvetica Neue"/>
              </a:defRPr>
            </a:pPr>
            <a:r>
              <a:rPr sz="1875" b="0">
                <a:solidFill>
                  <a:srgbClr val="506377"/>
                </a:solidFill>
                <a:latin typeface="Helvetica Neue"/>
                <a:ea typeface="Helvetica Neue"/>
                <a:cs typeface="Helvetica Neue"/>
              </a:rPr>
              <a:t>Project Pitch before full proposal.</a:t>
            </a:r>
          </a:p>
        </p:txBody>
      </p:sp>
      <p:sp>
        <p:nvSpPr>
          <p:cNvPr id="7" name="g2_dhs">
            <a:extLst xmlns:a="http://schemas.openxmlformats.org/drawingml/2006/main">
              <a:ext uri="{FF2B5EF4-FFF2-40B4-BE49-F238E27FC236}">
                <a16:creationId xmlns:a16="http://schemas.microsoft.com/office/drawing/2014/main" id="{C612092F-DBAF-4CF8-A8DB-1673970C588E}"/>
              </a:ext>
            </a:extLst>
          </p:cNvPr>
          <p:cNvSpPr>
            <a:spLocks xmlns:a="http://schemas.openxmlformats.org/drawingml/2006/main" noGrp="1"/>
          </p:cNvSpPr>
          <p:nvPr/>
        </p:nvSpPr>
        <p:spPr>
          <a:xfrm xmlns:a="http://schemas.openxmlformats.org/drawingml/2006/main">
            <a:off x="619125" y="427672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12234"/>
                </a:solidFill>
                <a:latin typeface="Helvetica Neue"/>
                <a:ea typeface="Helvetica Neue"/>
                <a:cs typeface="Helvetica Neue"/>
              </a:defRPr>
            </a:defPPr>
          </a:lstStyle>
          <a:p xmlns:a="http://schemas.openxmlformats.org/drawingml/2006/main">
            <a:pPr>
              <a:defRPr sz="2100" b="1">
                <a:solidFill>
                  <a:srgbClr val="112234"/>
                </a:solidFill>
                <a:latin typeface="Helvetica Neue"/>
                <a:ea typeface="Helvetica Neue"/>
                <a:cs typeface="Helvetica Neue"/>
              </a:defRPr>
            </a:pPr>
            <a:r>
              <a:rPr sz="2100" b="1">
                <a:solidFill>
                  <a:srgbClr val="112234"/>
                </a:solidFill>
                <a:latin typeface="Helvetica Neue"/>
                <a:ea typeface="Helvetica Neue"/>
                <a:cs typeface="Helvetica Neue"/>
              </a:rPr>
              <a:t>AFWERX SBIR/STTR</a:t>
            </a:r>
          </a:p>
        </p:txBody>
      </p:sp>
      <p:sp>
        <p:nvSpPr>
          <p:cNvPr id="8" name="g2_dhs_body">
            <a:extLst xmlns:a="http://schemas.openxmlformats.org/drawingml/2006/main">
              <a:ext uri="{FF2B5EF4-FFF2-40B4-BE49-F238E27FC236}">
                <a16:creationId xmlns:a16="http://schemas.microsoft.com/office/drawing/2014/main" id="{9FAEDFCD-CEAD-4298-A820-D3BE4EE548F2}"/>
              </a:ext>
            </a:extLst>
          </p:cNvPr>
          <p:cNvSpPr>
            <a:spLocks xmlns:a="http://schemas.openxmlformats.org/drawingml/2006/main" noGrp="1"/>
          </p:cNvSpPr>
          <p:nvPr/>
        </p:nvSpPr>
        <p:spPr>
          <a:xfrm xmlns:a="http://schemas.openxmlformats.org/drawingml/2006/main">
            <a:off x="619125" y="4762500"/>
            <a:ext cx="5191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06377"/>
                </a:solidFill>
                <a:latin typeface="Helvetica Neue"/>
                <a:ea typeface="Helvetica Neue"/>
                <a:cs typeface="Helvetica Neue"/>
              </a:defRPr>
            </a:defPPr>
          </a:lstStyle>
          <a:p xmlns:a="http://schemas.openxmlformats.org/drawingml/2006/main">
            <a:pPr>
              <a:defRPr sz="1875" b="0">
                <a:solidFill>
                  <a:srgbClr val="506377"/>
                </a:solidFill>
                <a:latin typeface="Helvetica Neue"/>
                <a:ea typeface="Helvetica Neue"/>
                <a:cs typeface="Helvetica Neue"/>
              </a:defRPr>
            </a:pPr>
            <a:r>
              <a:rPr sz="1875" b="0">
                <a:solidFill>
                  <a:srgbClr val="506377"/>
                </a:solidFill>
                <a:latin typeface="Helvetica Neue"/>
                <a:ea typeface="Helvetica Neue"/>
                <a:cs typeface="Helvetica Neue"/>
              </a:rPr>
              <a:t>Topic-aligned prototype contracts</a:t>
            </a:r>
          </a:p>
          <a:p xmlns:a="http://schemas.openxmlformats.org/drawingml/2006/main">
            <a:pPr>
              <a:defRPr sz="1875" b="0">
                <a:solidFill>
                  <a:srgbClr val="506377"/>
                </a:solidFill>
                <a:latin typeface="Helvetica Neue"/>
                <a:ea typeface="Helvetica Neue"/>
                <a:cs typeface="Helvetica Neue"/>
              </a:defRPr>
            </a:pPr>
            <a:r>
              <a:rPr sz="1875" b="0">
                <a:solidFill>
                  <a:srgbClr val="506377"/>
                </a:solidFill>
                <a:latin typeface="Helvetica Neue"/>
                <a:ea typeface="Helvetica Neue"/>
                <a:cs typeface="Helvetica Neue"/>
              </a:rPr>
              <a:t>for defense installation resilience.</a:t>
            </a:r>
          </a:p>
        </p:txBody>
      </p:sp>
      <p:sp>
        <p:nvSpPr>
          <p:cNvPr id="9" name="g3_global_title">
            <a:extLst xmlns:a="http://schemas.openxmlformats.org/drawingml/2006/main">
              <a:ext uri="{FF2B5EF4-FFF2-40B4-BE49-F238E27FC236}">
                <a16:creationId xmlns:a16="http://schemas.microsoft.com/office/drawing/2014/main" id="{60919B7B-7166-49D4-9F59-7C3DD8F398B4}"/>
              </a:ext>
            </a:extLst>
          </p:cNvPr>
          <p:cNvSpPr>
            <a:spLocks xmlns:a="http://schemas.openxmlformats.org/drawingml/2006/main" noGrp="1"/>
          </p:cNvSpPr>
          <p:nvPr/>
        </p:nvSpPr>
        <p:spPr>
          <a:xfrm xmlns:a="http://schemas.openxmlformats.org/drawingml/2006/main">
            <a:off x="6572250" y="2057400"/>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2234"/>
                </a:solidFill>
                <a:latin typeface="Helvetica Neue"/>
                <a:ea typeface="Helvetica Neue"/>
                <a:cs typeface="Helvetica Neue"/>
              </a:defRPr>
            </a:defPPr>
          </a:lstStyle>
          <a:p xmlns:a="http://schemas.openxmlformats.org/drawingml/2006/main">
            <a:pPr>
              <a:defRPr sz="2550" b="1">
                <a:solidFill>
                  <a:srgbClr val="112234"/>
                </a:solidFill>
                <a:latin typeface="Helvetica Neue"/>
                <a:ea typeface="Helvetica Neue"/>
                <a:cs typeface="Helvetica Neue"/>
              </a:defRPr>
            </a:pPr>
            <a:r>
              <a:rPr sz="2550" b="1">
                <a:solidFill>
                  <a:srgbClr val="112234"/>
                </a:solidFill>
                <a:latin typeface="Helvetica Neue"/>
                <a:ea typeface="Helvetica Neue"/>
                <a:cs typeface="Helvetica Neue"/>
              </a:rPr>
              <a:t>02  Global deployment</a:t>
            </a:r>
          </a:p>
        </p:txBody>
      </p:sp>
      <p:sp>
        <p:nvSpPr>
          <p:cNvPr id="10" name="g3_places">
            <a:extLst xmlns:a="http://schemas.openxmlformats.org/drawingml/2006/main">
              <a:ext uri="{FF2B5EF4-FFF2-40B4-BE49-F238E27FC236}">
                <a16:creationId xmlns:a16="http://schemas.microsoft.com/office/drawing/2014/main" id="{3C259080-F228-4815-AC54-3DB3B1B53A41}"/>
              </a:ext>
            </a:extLst>
          </p:cNvPr>
          <p:cNvSpPr>
            <a:spLocks xmlns:a="http://schemas.openxmlformats.org/drawingml/2006/main" noGrp="1"/>
          </p:cNvSpPr>
          <p:nvPr/>
        </p:nvSpPr>
        <p:spPr>
          <a:xfrm xmlns:a="http://schemas.openxmlformats.org/drawingml/2006/main">
            <a:off x="6572250" y="2762250"/>
            <a:ext cx="461962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785D"/>
                </a:solidFill>
                <a:latin typeface="Helvetica Neue"/>
                <a:ea typeface="Helvetica Neue"/>
                <a:cs typeface="Helvetica Neue"/>
              </a:defRPr>
            </a:defPPr>
          </a:lstStyle>
          <a:p xmlns:a="http://schemas.openxmlformats.org/drawingml/2006/main">
            <a:pPr>
              <a:defRPr sz="2550" b="1">
                <a:solidFill>
                  <a:srgbClr val="08785D"/>
                </a:solidFill>
                <a:latin typeface="Helvetica Neue"/>
                <a:ea typeface="Helvetica Neue"/>
                <a:cs typeface="Helvetica Neue"/>
              </a:defRPr>
            </a:pPr>
            <a:r>
              <a:rPr sz="2550" b="1">
                <a:solidFill>
                  <a:srgbClr val="08785D"/>
                </a:solidFill>
                <a:latin typeface="Helvetica Neue"/>
                <a:ea typeface="Helvetica Neue"/>
                <a:cs typeface="Helvetica Neue"/>
              </a:rPr>
              <a:t>California stadium</a:t>
            </a:r>
          </a:p>
          <a:p xmlns:a="http://schemas.openxmlformats.org/drawingml/2006/main">
            <a:pPr>
              <a:defRPr sz="2550" b="1">
                <a:solidFill>
                  <a:srgbClr val="08785D"/>
                </a:solidFill>
                <a:latin typeface="Helvetica Neue"/>
                <a:ea typeface="Helvetica Neue"/>
                <a:cs typeface="Helvetica Neue"/>
              </a:defRPr>
            </a:pPr>
            <a:r>
              <a:rPr sz="2550" b="1">
                <a:solidFill>
                  <a:srgbClr val="08785D"/>
                </a:solidFill>
                <a:latin typeface="Helvetica Neue"/>
                <a:ea typeface="Helvetica Neue"/>
                <a:cs typeface="Helvetica Neue"/>
              </a:rPr>
              <a:t>Shanghai campus</a:t>
            </a:r>
          </a:p>
          <a:p xmlns:a="http://schemas.openxmlformats.org/drawingml/2006/main">
            <a:pPr>
              <a:defRPr sz="2550" b="1">
                <a:solidFill>
                  <a:srgbClr val="08785D"/>
                </a:solidFill>
                <a:latin typeface="Helvetica Neue"/>
                <a:ea typeface="Helvetica Neue"/>
                <a:cs typeface="Helvetica Neue"/>
              </a:defRPr>
            </a:pPr>
            <a:r>
              <a:rPr sz="2550" b="1">
                <a:solidFill>
                  <a:srgbClr val="08785D"/>
                </a:solidFill>
                <a:latin typeface="Helvetica Neue"/>
                <a:ea typeface="Helvetica Neue"/>
                <a:cs typeface="Helvetica Neue"/>
              </a:rPr>
              <a:t>Indian event venue</a:t>
            </a:r>
          </a:p>
        </p:txBody>
      </p:sp>
      <p:sp>
        <p:nvSpPr>
          <p:cNvPr id="11" name="g4_localize">
            <a:extLst xmlns:a="http://schemas.openxmlformats.org/drawingml/2006/main">
              <a:ext uri="{FF2B5EF4-FFF2-40B4-BE49-F238E27FC236}">
                <a16:creationId xmlns:a16="http://schemas.microsoft.com/office/drawing/2014/main" id="{9A5CDF11-369D-477B-A875-5B5D53948EA4}"/>
              </a:ext>
            </a:extLst>
          </p:cNvPr>
          <p:cNvSpPr>
            <a:spLocks xmlns:a="http://schemas.openxmlformats.org/drawingml/2006/main" noGrp="1"/>
          </p:cNvSpPr>
          <p:nvPr/>
        </p:nvSpPr>
        <p:spPr>
          <a:xfrm xmlns:a="http://schemas.openxmlformats.org/drawingml/2006/main">
            <a:off x="6572250" y="4533900"/>
            <a:ext cx="4810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12234"/>
                </a:solidFill>
                <a:latin typeface="Helvetica Neue"/>
                <a:ea typeface="Helvetica Neue"/>
                <a:cs typeface="Helvetica Neue"/>
              </a:defRPr>
            </a:defPPr>
          </a:lstStyle>
          <a:p xmlns:a="http://schemas.openxmlformats.org/drawingml/2006/main">
            <a:pPr>
              <a:defRPr sz="2025" b="0">
                <a:solidFill>
                  <a:srgbClr val="112234"/>
                </a:solidFill>
                <a:latin typeface="Helvetica Neue"/>
                <a:ea typeface="Helvetica Neue"/>
                <a:cs typeface="Helvetica Neue"/>
              </a:defRPr>
            </a:pPr>
            <a:r>
              <a:rPr sz="2025" b="0">
                <a:solidFill>
                  <a:srgbClr val="112234"/>
                </a:solidFill>
                <a:latin typeface="Helvetica Neue"/>
                <a:ea typeface="Helvetica Neue"/>
                <a:cs typeface="Helvetica Neue"/>
              </a:rPr>
              <a:t>Same engine. Local map, signage,</a:t>
            </a:r>
          </a:p>
          <a:p xmlns:a="http://schemas.openxmlformats.org/drawingml/2006/main">
            <a:pPr>
              <a:defRPr sz="2025" b="0">
                <a:solidFill>
                  <a:srgbClr val="112234"/>
                </a:solidFill>
                <a:latin typeface="Helvetica Neue"/>
                <a:ea typeface="Helvetica Neue"/>
                <a:cs typeface="Helvetica Neue"/>
              </a:defRPr>
            </a:pPr>
            <a:r>
              <a:rPr sz="2025" b="0">
                <a:solidFill>
                  <a:srgbClr val="112234"/>
                </a:solidFill>
                <a:latin typeface="Helvetica Neue"/>
                <a:ea typeface="Helvetica Neue"/>
                <a:cs typeface="Helvetica Neue"/>
              </a:rPr>
              <a:t>language, rules and field validation.</a:t>
            </a:r>
          </a:p>
        </p:txBody>
      </p:sp>
      <p:sp>
        <p:nvSpPr>
          <p:cNvPr id="12" name="funding_qualification">
            <a:extLst xmlns:a="http://schemas.openxmlformats.org/drawingml/2006/main">
              <a:ext uri="{FF2B5EF4-FFF2-40B4-BE49-F238E27FC236}">
                <a16:creationId xmlns:a16="http://schemas.microsoft.com/office/drawing/2014/main" id="{F6CB25F7-185B-47DE-9DBD-C8C3B6686F55}"/>
              </a:ext>
            </a:extLst>
          </p:cNvPr>
          <p:cNvSpPr>
            <a:spLocks xmlns:a="http://schemas.openxmlformats.org/drawingml/2006/main" noGrp="1"/>
          </p:cNvSpPr>
          <p:nvPr/>
        </p:nvSpPr>
        <p:spPr>
          <a:xfrm xmlns:a="http://schemas.openxmlformats.org/drawingml/2006/main">
            <a:off x="619125" y="59531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06377"/>
                </a:solidFill>
                <a:latin typeface="Helvetica Neue"/>
                <a:ea typeface="Helvetica Neue"/>
                <a:cs typeface="Helvetica Neue"/>
              </a:defRPr>
            </a:defPPr>
          </a:lstStyle>
          <a:p xmlns:a="http://schemas.openxmlformats.org/drawingml/2006/main">
            <a:pPr>
              <a:defRPr sz="1275" b="0">
                <a:solidFill>
                  <a:srgbClr val="506377"/>
                </a:solidFill>
                <a:latin typeface="Helvetica Neue"/>
                <a:ea typeface="Helvetica Neue"/>
                <a:cs typeface="Helvetica Neue"/>
              </a:defRPr>
            </a:pPr>
            <a:r>
              <a:rPr sz="1275" b="0">
                <a:solidFill>
                  <a:srgbClr val="506377"/>
                </a:solidFill>
                <a:latin typeface="Helvetica Neue"/>
                <a:ea typeface="Helvetica Neue"/>
                <a:cs typeface="Helvetica Neue"/>
              </a:rPr>
              <a:t>Proposed U.S. pathways, subject to eligibility and matching topics. No awards or partnerships secured.</a:t>
            </a:r>
          </a:p>
        </p:txBody>
      </p:sp>
    </p:spTree>
    <p:extLst>
      <p:ext uri="{BB962C8B-B14F-4D97-AF65-F5344CB8AC3E}">
        <p14:creationId xmlns:p14="http://schemas.microsoft.com/office/powerpoint/2010/main" val="2030158672"/>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00"/>
                            </p:stCondLst>
                            <p:childTnLst>
                              <p:set>
                                <p:cBhvr>
                                  <p:cTn id="5" dur="1" fill="hold"/>
                                  <p:tgtEl>
                                    <p:spTgt spid="4"/>
                                  </p:tgtEl>
                                  <p:attrNameLst>
                                    <p:attrName>style.visibility</p:attrName>
                                  </p:attrNameLst>
                                </p:cBhvr>
                                <p:to>
                                  <p:strVal val="visible"/>
                                </p:to>
                              </p:set>
                              <p:animEffect transition="in" filter="fade">
                                <p:cBhvr>
                                  <p:cTn id="6" dur="550" fill="hold"/>
                                  <p:tgtEl>
                                    <p:spTgt spid="4"/>
                                  </p:tgtEl>
                                </p:cBhvr>
                              </p:animEffect>
                            </p:childTnLst>
                          </p:cTn>
                        </p:par>
                        <p:par>
                          <p:cTn id="7" presetID="10" presetClass="entr" presetSubtype="0" fill="hold" nodeType="withEffect">
                            <p:stCondLst>
                              <p:cond delay="100"/>
                            </p:stCondLst>
                            <p:childTnLst>
                              <p:set>
                                <p:cBhvr>
                                  <p:cTn id="8" dur="1" fill="hold"/>
                                  <p:tgtEl>
                                    <p:spTgt spid="5"/>
                                  </p:tgtEl>
                                  <p:attrNameLst>
                                    <p:attrName>style.visibility</p:attrName>
                                  </p:attrNameLst>
                                </p:cBhvr>
                                <p:to>
                                  <p:strVal val="visible"/>
                                </p:to>
                              </p:set>
                              <p:animEffect transition="in" filter="fade">
                                <p:cBhvr>
                                  <p:cTn id="9" dur="550" fill="hold"/>
                                  <p:tgtEl>
                                    <p:spTgt spid="5"/>
                                  </p:tgtEl>
                                </p:cBhvr>
                              </p:animEffect>
                            </p:childTnLst>
                          </p:cTn>
                        </p:par>
                        <p:par>
                          <p:cTn id="10" presetID="10" presetClass="entr" presetSubtype="0" fill="hold" nodeType="withEffect">
                            <p:stCondLst>
                              <p:cond delay="100"/>
                            </p:stCondLst>
                            <p:childTnLst>
                              <p:set>
                                <p:cBhvr>
                                  <p:cTn id="11" dur="1" fill="hold"/>
                                  <p:tgtEl>
                                    <p:spTgt spid="6"/>
                                  </p:tgtEl>
                                  <p:attrNameLst>
                                    <p:attrName>style.visibility</p:attrName>
                                  </p:attrNameLst>
                                </p:cBhvr>
                                <p:to>
                                  <p:strVal val="visible"/>
                                </p:to>
                              </p:set>
                              <p:animEffect transition="in" filter="fade">
                                <p:cBhvr>
                                  <p:cTn id="12" dur="550" fill="hold"/>
                                  <p:tgtEl>
                                    <p:spTgt spid="6"/>
                                  </p:tgtEl>
                                </p:cBhvr>
                              </p:animEffect>
                            </p:childTnLst>
                          </p:cTn>
                        </p:par>
                        <p:par>
                          <p:cTn id="13" presetID="10" presetClass="entr" presetSubtype="0" fill="hold" nodeType="withEffect">
                            <p:stCondLst>
                              <p:cond delay="700"/>
                            </p:stCondLst>
                            <p:childTnLst>
                              <p:set>
                                <p:cBhvr>
                                  <p:cTn id="14" dur="1" fill="hold"/>
                                  <p:tgtEl>
                                    <p:spTgt spid="7"/>
                                  </p:tgtEl>
                                  <p:attrNameLst>
                                    <p:attrName>style.visibility</p:attrName>
                                  </p:attrNameLst>
                                </p:cBhvr>
                                <p:to>
                                  <p:strVal val="visible"/>
                                </p:to>
                              </p:set>
                              <p:animEffect transition="in" filter="fade">
                                <p:cBhvr>
                                  <p:cTn id="15" dur="550" fill="hold"/>
                                  <p:tgtEl>
                                    <p:spTgt spid="7"/>
                                  </p:tgtEl>
                                </p:cBhvr>
                              </p:animEffect>
                            </p:childTnLst>
                          </p:cTn>
                        </p:par>
                        <p:par>
                          <p:cTn id="16" presetID="10" presetClass="entr" presetSubtype="0" fill="hold" nodeType="withEffect">
                            <p:stCondLst>
                              <p:cond delay="700"/>
                            </p:stCondLst>
                            <p:childTnLst>
                              <p:set>
                                <p:cBhvr>
                                  <p:cTn id="17" dur="1" fill="hold"/>
                                  <p:tgtEl>
                                    <p:spTgt spid="8"/>
                                  </p:tgtEl>
                                  <p:attrNameLst>
                                    <p:attrName>style.visibility</p:attrName>
                                  </p:attrNameLst>
                                </p:cBhvr>
                                <p:to>
                                  <p:strVal val="visible"/>
                                </p:to>
                              </p:set>
                              <p:animEffect transition="in" filter="fade">
                                <p:cBhvr>
                                  <p:cTn id="18" dur="550" fill="hold"/>
                                  <p:tgtEl>
                                    <p:spTgt spid="8"/>
                                  </p:tgtEl>
                                </p:cBhvr>
                              </p:animEffect>
                            </p:childTnLst>
                          </p:cTn>
                        </p:par>
                        <p:par>
                          <p:cTn id="19" presetID="10" presetClass="entr" presetSubtype="0" fill="hold" nodeType="withEffect">
                            <p:stCondLst>
                              <p:cond delay="1300"/>
                            </p:stCondLst>
                            <p:childTnLst>
                              <p:set>
                                <p:cBhvr>
                                  <p:cTn id="20" dur="1" fill="hold"/>
                                  <p:tgtEl>
                                    <p:spTgt spid="9"/>
                                  </p:tgtEl>
                                  <p:attrNameLst>
                                    <p:attrName>style.visibility</p:attrName>
                                  </p:attrNameLst>
                                </p:cBhvr>
                                <p:to>
                                  <p:strVal val="visible"/>
                                </p:to>
                              </p:set>
                              <p:animEffect transition="in" filter="fade">
                                <p:cBhvr>
                                  <p:cTn id="21" dur="550" fill="hold"/>
                                  <p:tgtEl>
                                    <p:spTgt spid="9"/>
                                  </p:tgtEl>
                                </p:cBhvr>
                              </p:animEffect>
                            </p:childTnLst>
                          </p:cTn>
                        </p:par>
                        <p:par>
                          <p:cTn id="22" presetID="10" presetClass="entr" presetSubtype="0" fill="hold" nodeType="withEffect">
                            <p:stCondLst>
                              <p:cond delay="1300"/>
                            </p:stCondLst>
                            <p:childTnLst>
                              <p:set>
                                <p:cBhvr>
                                  <p:cTn id="23" dur="1" fill="hold"/>
                                  <p:tgtEl>
                                    <p:spTgt spid="10"/>
                                  </p:tgtEl>
                                  <p:attrNameLst>
                                    <p:attrName>style.visibility</p:attrName>
                                  </p:attrNameLst>
                                </p:cBhvr>
                                <p:to>
                                  <p:strVal val="visible"/>
                                </p:to>
                              </p:set>
                              <p:animEffect transition="in" filter="fade">
                                <p:cBhvr>
                                  <p:cTn id="24" dur="550" fill="hold"/>
                                  <p:tgtEl>
                                    <p:spTgt spid="10"/>
                                  </p:tgtEl>
                                </p:cBhvr>
                              </p:animEffect>
                            </p:childTnLst>
                          </p:cTn>
                        </p:par>
                        <p:par>
                          <p:cTn id="25" presetID="10" presetClass="entr" presetSubtype="0" fill="hold" nodeType="withEffect">
                            <p:stCondLst>
                              <p:cond delay="1900"/>
                            </p:stCondLst>
                            <p:childTnLst>
                              <p:set>
                                <p:cBhvr>
                                  <p:cTn id="26" dur="1" fill="hold"/>
                                  <p:tgtEl>
                                    <p:spTgt spid="11"/>
                                  </p:tgtEl>
                                  <p:attrNameLst>
                                    <p:attrName>style.visibility</p:attrName>
                                  </p:attrNameLst>
                                </p:cBhvr>
                                <p:to>
                                  <p:strVal val="visible"/>
                                </p:to>
                              </p:set>
                              <p:animEffect transition="in" filter="fade">
                                <p:cBhvr>
                                  <p:cTn id="27"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8" name="page">
            <a:extLst xmlns:a="http://schemas.openxmlformats.org/drawingml/2006/main">
              <a:ext uri="{FF2B5EF4-FFF2-40B4-BE49-F238E27FC236}">
                <a16:creationId xmlns:a16="http://schemas.microsoft.com/office/drawing/2014/main" id="{76CC860B-6BC5-4EA6-9D62-D6E81248F7B7}"/>
              </a:ext>
            </a:extLst>
          </p:cNvPr>
          <p:cNvSpPr>
            <a:spLocks xmlns:a="http://schemas.openxmlformats.org/drawingml/2006/main" noGrp="1"/>
          </p:cNvSpPr>
          <p:nvPr/>
        </p:nvSpPr>
        <p:spPr>
          <a:xfrm xmlns:a="http://schemas.openxmlformats.org/drawingml/2006/main">
            <a:off x="11239500" y="62579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A8BACB"/>
                </a:solidFill>
                <a:latin typeface="Helvetica Neue"/>
                <a:ea typeface="Helvetica Neue"/>
                <a:cs typeface="Helvetica Neue"/>
              </a:defRPr>
            </a:defPPr>
          </a:lstStyle>
          <a:p xmlns:a="http://schemas.openxmlformats.org/drawingml/2006/main">
            <a:pPr algn="r">
              <a:defRPr sz="1200" b="0">
                <a:solidFill>
                  <a:srgbClr val="A8BACB"/>
                </a:solidFill>
                <a:latin typeface="Helvetica Neue"/>
                <a:ea typeface="Helvetica Neue"/>
                <a:cs typeface="Helvetica Neue"/>
              </a:defRPr>
            </a:pPr>
            <a:r>
              <a:rPr sz="1200" b="0">
                <a:solidFill>
                  <a:srgbClr val="A8BACB"/>
                </a:solidFill>
                <a:latin typeface="Helvetica Neue"/>
                <a:ea typeface="Helvetica Neue"/>
                <a:cs typeface="Helvetica Neue"/>
              </a:rPr>
              <a:t>08</a:t>
            </a:r>
          </a:p>
        </p:txBody>
      </p:sp>
      <p:sp>
        <p:nvSpPr>
          <p:cNvPr id="2" name="section">
            <a:extLst xmlns:a="http://schemas.openxmlformats.org/drawingml/2006/main">
              <a:ext uri="{FF2B5EF4-FFF2-40B4-BE49-F238E27FC236}">
                <a16:creationId xmlns:a16="http://schemas.microsoft.com/office/drawing/2014/main" id="{7FB7A151-CB6E-4E9E-9939-D077639C2CD7}"/>
              </a:ext>
            </a:extLst>
          </p:cNvPr>
          <p:cNvSpPr>
            <a:spLocks xmlns:a="http://schemas.openxmlformats.org/drawingml/2006/main" noGrp="1"/>
          </p:cNvSpPr>
          <p:nvPr/>
        </p:nvSpPr>
        <p:spPr>
          <a:xfrm xmlns:a="http://schemas.openxmlformats.org/drawingml/2006/main">
            <a:off x="609600" y="4000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5E2C1"/>
                </a:solidFill>
                <a:latin typeface="Helvetica Neue"/>
                <a:ea typeface="Helvetica Neue"/>
                <a:cs typeface="Helvetica Neue"/>
              </a:defRPr>
            </a:defPPr>
          </a:lstStyle>
          <a:p xmlns:a="http://schemas.openxmlformats.org/drawingml/2006/main">
            <a:pPr>
              <a:defRPr sz="1125" b="1">
                <a:solidFill>
                  <a:srgbClr val="65E2C1"/>
                </a:solidFill>
                <a:latin typeface="Helvetica Neue"/>
                <a:ea typeface="Helvetica Neue"/>
                <a:cs typeface="Helvetica Neue"/>
              </a:defRPr>
            </a:pPr>
            <a:r>
              <a:rPr sz="1125" b="1">
                <a:solidFill>
                  <a:srgbClr val="65E2C1"/>
                </a:solidFill>
                <a:latin typeface="Helvetica Neue"/>
                <a:ea typeface="Helvetica Neue"/>
                <a:cs typeface="Helvetica Neue"/>
              </a:rPr>
              <a:t>FUTURE SENSING AND PILOT GOALS</a:t>
            </a:r>
          </a:p>
        </p:txBody>
      </p:sp>
      <p:sp>
        <p:nvSpPr>
          <p:cNvPr id="3" name="title">
            <a:extLst xmlns:a="http://schemas.openxmlformats.org/drawingml/2006/main">
              <a:ext uri="{FF2B5EF4-FFF2-40B4-BE49-F238E27FC236}">
                <a16:creationId xmlns:a16="http://schemas.microsoft.com/office/drawing/2014/main" id="{78ECC48F-EDF4-4626-8150-7661BEBAF223}"/>
              </a:ext>
            </a:extLst>
          </p:cNvPr>
          <p:cNvSpPr>
            <a:spLocks xmlns:a="http://schemas.openxmlformats.org/drawingml/2006/main" noGrp="1"/>
          </p:cNvSpPr>
          <p:nvPr/>
        </p:nvSpPr>
        <p:spPr>
          <a:xfrm xmlns:a="http://schemas.openxmlformats.org/drawingml/2006/main">
            <a:off x="609600" y="7905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1F5F9"/>
                </a:solidFill>
                <a:latin typeface="Helvetica Neue"/>
                <a:ea typeface="Helvetica Neue"/>
                <a:cs typeface="Helvetica Neue"/>
              </a:defRPr>
            </a:defPPr>
          </a:lstStyle>
          <a:p xmlns:a="http://schemas.openxmlformats.org/drawingml/2006/main">
            <a:pPr>
              <a:defRPr sz="3600" b="1">
                <a:solidFill>
                  <a:srgbClr val="F1F5F9"/>
                </a:solidFill>
                <a:latin typeface="Helvetica Neue"/>
                <a:ea typeface="Helvetica Neue"/>
                <a:cs typeface="Helvetica Neue"/>
              </a:defRPr>
            </a:pPr>
            <a:r>
              <a:rPr sz="3600" b="1">
                <a:solidFill>
                  <a:srgbClr val="F1F5F9"/>
                </a:solidFill>
                <a:latin typeface="Helvetica Neue"/>
                <a:ea typeface="Helvetica Neue"/>
                <a:cs typeface="Helvetica Neue"/>
              </a:rPr>
              <a:t>From simulated people to measured movement</a:t>
            </a:r>
          </a:p>
        </p:txBody>
      </p:sp>
      <p:sp>
        <p:nvSpPr>
          <p:cNvPr id="4" name="g1_source">
            <a:extLst xmlns:a="http://schemas.openxmlformats.org/drawingml/2006/main">
              <a:ext uri="{FF2B5EF4-FFF2-40B4-BE49-F238E27FC236}">
                <a16:creationId xmlns:a16="http://schemas.microsoft.com/office/drawing/2014/main" id="{E931D6DF-066F-440C-BE94-FD94102B5762}"/>
              </a:ext>
            </a:extLst>
          </p:cNvPr>
          <p:cNvSpPr>
            <a:spLocks xmlns:a="http://schemas.openxmlformats.org/drawingml/2006/main" noGrp="1"/>
          </p:cNvSpPr>
          <p:nvPr/>
        </p:nvSpPr>
        <p:spPr>
          <a:xfrm xmlns:a="http://schemas.openxmlformats.org/drawingml/2006/main">
            <a:off x="628650" y="2247900"/>
            <a:ext cx="295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1F5F9"/>
                </a:solidFill>
                <a:latin typeface="Helvetica Neue"/>
                <a:ea typeface="Helvetica Neue"/>
                <a:cs typeface="Helvetica Neue"/>
              </a:defRPr>
            </a:defPPr>
          </a:lstStyle>
          <a:p xmlns:a="http://schemas.openxmlformats.org/drawingml/2006/main">
            <a:pPr>
              <a:defRPr sz="2550" b="1">
                <a:solidFill>
                  <a:srgbClr val="F1F5F9"/>
                </a:solidFill>
                <a:latin typeface="Helvetica Neue"/>
                <a:ea typeface="Helvetica Neue"/>
                <a:cs typeface="Helvetica Neue"/>
              </a:defRPr>
            </a:pPr>
            <a:r>
              <a:rPr sz="2550" b="1">
                <a:solidFill>
                  <a:srgbClr val="F1F5F9"/>
                </a:solidFill>
                <a:latin typeface="Helvetica Neue"/>
                <a:ea typeface="Helvetica Neue"/>
                <a:cs typeface="Helvetica Neue"/>
              </a:rPr>
              <a:t>Cameras, LiDAR</a:t>
            </a:r>
          </a:p>
          <a:p xmlns:a="http://schemas.openxmlformats.org/drawingml/2006/main">
            <a:pPr>
              <a:defRPr sz="2550" b="1">
                <a:solidFill>
                  <a:srgbClr val="F1F5F9"/>
                </a:solidFill>
                <a:latin typeface="Helvetica Neue"/>
                <a:ea typeface="Helvetica Neue"/>
                <a:cs typeface="Helvetica Neue"/>
              </a:defRPr>
            </a:pPr>
            <a:r>
              <a:rPr sz="2550" b="1">
                <a:solidFill>
                  <a:srgbClr val="F1F5F9"/>
                </a:solidFill>
                <a:latin typeface="Helvetica Neue"/>
                <a:ea typeface="Helvetica Neue"/>
                <a:cs typeface="Helvetica Neue"/>
              </a:rPr>
              <a:t>and turnstiles</a:t>
            </a:r>
          </a:p>
        </p:txBody>
      </p:sp>
      <p:cxnSp>
        <p:nvCxnSpPr>
          <p:cNvPr id="5" name="g2_arrow">
            <a:extLst xmlns:a="http://schemas.openxmlformats.org/drawingml/2006/main">
              <a:ext uri="{FF2B5EF4-FFF2-40B4-BE49-F238E27FC236}">
                <a16:creationId xmlns:a16="http://schemas.microsoft.com/office/drawing/2014/main" id="{FA9BF1AA-C1D4-43FC-8080-EF12A206E6C3}"/>
              </a:ext>
            </a:extLst>
          </p:cNvPr>
          <p:cNvCxnSpPr/>
          <p:nvPr/>
        </p:nvCxnSpPr>
        <p:spPr>
          <a:xfrm xmlns:a="http://schemas.openxmlformats.org/drawingml/2006/main" flipH="0" flipV="0">
            <a:off x="3714750" y="2657475"/>
            <a:ext cx="514350" cy="0"/>
          </a:xfrm>
          <a:prstGeom xmlns:a="http://schemas.openxmlformats.org/drawingml/2006/main" prst="straightConnector1">
            <a:avLst/>
          </a:prstGeom>
          <a:ln xmlns:a="http://schemas.openxmlformats.org/drawingml/2006/main" w="28575">
            <a:solidFill>
              <a:srgbClr val="65E2C1"/>
            </a:solidFill>
            <a:prstDash val="solid"/>
            <a:tailEnd type="triangle" w="med" len="med"/>
          </a:ln>
        </p:spPr>
      </p:cxnSp>
      <p:sp>
        <p:nvSpPr>
          <p:cNvPr id="6" name="g2_vision">
            <a:extLst xmlns:a="http://schemas.openxmlformats.org/drawingml/2006/main">
              <a:ext uri="{FF2B5EF4-FFF2-40B4-BE49-F238E27FC236}">
                <a16:creationId xmlns:a16="http://schemas.microsoft.com/office/drawing/2014/main" id="{D07F228E-646A-4510-9E2C-725D4007C05C}"/>
              </a:ext>
            </a:extLst>
          </p:cNvPr>
          <p:cNvSpPr>
            <a:spLocks xmlns:a="http://schemas.openxmlformats.org/drawingml/2006/main" noGrp="1"/>
          </p:cNvSpPr>
          <p:nvPr/>
        </p:nvSpPr>
        <p:spPr>
          <a:xfrm xmlns:a="http://schemas.openxmlformats.org/drawingml/2006/main">
            <a:off x="4467225" y="2247900"/>
            <a:ext cx="3476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65E2C1"/>
                </a:solidFill>
                <a:latin typeface="Helvetica Neue"/>
                <a:ea typeface="Helvetica Neue"/>
                <a:cs typeface="Helvetica Neue"/>
              </a:defRPr>
            </a:defPPr>
          </a:lstStyle>
          <a:p xmlns:a="http://schemas.openxmlformats.org/drawingml/2006/main">
            <a:pPr>
              <a:defRPr sz="2400" b="1">
                <a:solidFill>
                  <a:srgbClr val="65E2C1"/>
                </a:solidFill>
                <a:latin typeface="Helvetica Neue"/>
                <a:ea typeface="Helvetica Neue"/>
                <a:cs typeface="Helvetica Neue"/>
              </a:defRPr>
            </a:pPr>
            <a:r>
              <a:rPr sz="2400" b="1">
                <a:solidFill>
                  <a:srgbClr val="65E2C1"/>
                </a:solidFill>
                <a:latin typeface="Helvetica Neue"/>
                <a:ea typeface="Helvetica Neue"/>
                <a:cs typeface="Helvetica Neue"/>
              </a:rPr>
              <a:t>Anonymous counts</a:t>
            </a:r>
          </a:p>
          <a:p xmlns:a="http://schemas.openxmlformats.org/drawingml/2006/main">
            <a:pPr>
              <a:defRPr sz="2400" b="1">
                <a:solidFill>
                  <a:srgbClr val="65E2C1"/>
                </a:solidFill>
                <a:latin typeface="Helvetica Neue"/>
                <a:ea typeface="Helvetica Neue"/>
                <a:cs typeface="Helvetica Neue"/>
              </a:defRPr>
            </a:pPr>
            <a:r>
              <a:rPr sz="2400" b="1">
                <a:solidFill>
                  <a:srgbClr val="65E2C1"/>
                </a:solidFill>
                <a:latin typeface="Helvetica Neue"/>
                <a:ea typeface="Helvetica Neue"/>
                <a:cs typeface="Helvetica Neue"/>
              </a:rPr>
              <a:t>and calibrated tracks</a:t>
            </a:r>
          </a:p>
        </p:txBody>
      </p:sp>
      <p:cxnSp>
        <p:nvCxnSpPr>
          <p:cNvPr id="7" name="g3_arrow">
            <a:extLst xmlns:a="http://schemas.openxmlformats.org/drawingml/2006/main">
              <a:ext uri="{FF2B5EF4-FFF2-40B4-BE49-F238E27FC236}">
                <a16:creationId xmlns:a16="http://schemas.microsoft.com/office/drawing/2014/main" id="{90588737-CC2A-435D-90B2-AE3EBC41E879}"/>
              </a:ext>
            </a:extLst>
          </p:cNvPr>
          <p:cNvCxnSpPr/>
          <p:nvPr/>
        </p:nvCxnSpPr>
        <p:spPr>
          <a:xfrm xmlns:a="http://schemas.openxmlformats.org/drawingml/2006/main" flipH="0" flipV="0">
            <a:off x="8201025" y="2657475"/>
            <a:ext cx="552450" cy="0"/>
          </a:xfrm>
          <a:prstGeom xmlns:a="http://schemas.openxmlformats.org/drawingml/2006/main" prst="straightConnector1">
            <a:avLst/>
          </a:prstGeom>
          <a:ln xmlns:a="http://schemas.openxmlformats.org/drawingml/2006/main" w="28575">
            <a:solidFill>
              <a:srgbClr val="65E2C1"/>
            </a:solidFill>
            <a:prstDash val="solid"/>
            <a:tailEnd type="triangle" w="med" len="med"/>
          </a:ln>
        </p:spPr>
      </p:cxnSp>
      <p:sp>
        <p:nvSpPr>
          <p:cNvPr id="8" name="g3_model">
            <a:extLst xmlns:a="http://schemas.openxmlformats.org/drawingml/2006/main">
              <a:ext uri="{FF2B5EF4-FFF2-40B4-BE49-F238E27FC236}">
                <a16:creationId xmlns:a16="http://schemas.microsoft.com/office/drawing/2014/main" id="{9F07103A-5589-42A1-90F8-7BBE3579ADA3}"/>
              </a:ext>
            </a:extLst>
          </p:cNvPr>
          <p:cNvSpPr>
            <a:spLocks xmlns:a="http://schemas.openxmlformats.org/drawingml/2006/main" noGrp="1"/>
          </p:cNvSpPr>
          <p:nvPr/>
        </p:nvSpPr>
        <p:spPr>
          <a:xfrm xmlns:a="http://schemas.openxmlformats.org/drawingml/2006/main">
            <a:off x="8991600" y="2247900"/>
            <a:ext cx="247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1F5F9"/>
                </a:solidFill>
                <a:latin typeface="Helvetica Neue"/>
                <a:ea typeface="Helvetica Neue"/>
                <a:cs typeface="Helvetica Neue"/>
              </a:defRPr>
            </a:defPPr>
          </a:lstStyle>
          <a:p xmlns:a="http://schemas.openxmlformats.org/drawingml/2006/main">
            <a:pPr>
              <a:defRPr sz="2550" b="1">
                <a:solidFill>
                  <a:srgbClr val="F1F5F9"/>
                </a:solidFill>
                <a:latin typeface="Helvetica Neue"/>
                <a:ea typeface="Helvetica Neue"/>
                <a:cs typeface="Helvetica Neue"/>
              </a:defRPr>
            </a:pPr>
            <a:r>
              <a:rPr sz="2550" b="1">
                <a:solidFill>
                  <a:srgbClr val="F1F5F9"/>
                </a:solidFill>
                <a:latin typeface="Helvetica Neue"/>
                <a:ea typeface="Helvetica Neue"/>
                <a:cs typeface="Helvetica Neue"/>
              </a:rPr>
              <a:t>Live venue</a:t>
            </a:r>
          </a:p>
          <a:p xmlns:a="http://schemas.openxmlformats.org/drawingml/2006/main">
            <a:pPr>
              <a:defRPr sz="2550" b="1">
                <a:solidFill>
                  <a:srgbClr val="F1F5F9"/>
                </a:solidFill>
                <a:latin typeface="Helvetica Neue"/>
                <a:ea typeface="Helvetica Neue"/>
                <a:cs typeface="Helvetica Neue"/>
              </a:defRPr>
            </a:pPr>
            <a:r>
              <a:rPr sz="2550" b="1">
                <a:solidFill>
                  <a:srgbClr val="F1F5F9"/>
                </a:solidFill>
                <a:latin typeface="Helvetica Neue"/>
                <a:ea typeface="Helvetica Neue"/>
                <a:cs typeface="Helvetica Neue"/>
              </a:rPr>
              <a:t>state</a:t>
            </a:r>
          </a:p>
        </p:txBody>
      </p:sp>
      <p:sp>
        <p:nvSpPr>
          <p:cNvPr id="9" name="g4_cv">
            <a:extLst xmlns:a="http://schemas.openxmlformats.org/drawingml/2006/main">
              <a:ext uri="{FF2B5EF4-FFF2-40B4-BE49-F238E27FC236}">
                <a16:creationId xmlns:a16="http://schemas.microsoft.com/office/drawing/2014/main" id="{B9288F66-AB8A-40FE-9CFE-5F21EF99F733}"/>
              </a:ext>
            </a:extLst>
          </p:cNvPr>
          <p:cNvSpPr>
            <a:spLocks xmlns:a="http://schemas.openxmlformats.org/drawingml/2006/main" noGrp="1"/>
          </p:cNvSpPr>
          <p:nvPr/>
        </p:nvSpPr>
        <p:spPr>
          <a:xfrm xmlns:a="http://schemas.openxmlformats.org/drawingml/2006/main">
            <a:off x="638175" y="35718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1F5F9"/>
                </a:solidFill>
                <a:latin typeface="Helvetica Neue"/>
                <a:ea typeface="Helvetica Neue"/>
                <a:cs typeface="Helvetica Neue"/>
              </a:defRPr>
            </a:defPPr>
          </a:lstStyle>
          <a:p xmlns:a="http://schemas.openxmlformats.org/drawingml/2006/main">
            <a:pPr>
              <a:defRPr sz="2100" b="0">
                <a:solidFill>
                  <a:srgbClr val="F1F5F9"/>
                </a:solidFill>
                <a:latin typeface="Helvetica Neue"/>
                <a:ea typeface="Helvetica Neue"/>
                <a:cs typeface="Helvetica Neue"/>
              </a:defRPr>
            </a:pPr>
            <a:r>
              <a:rPr sz="2100" b="0">
                <a:solidFill>
                  <a:srgbClr val="F1F5F9"/>
                </a:solidFill>
                <a:latin typeface="Helvetica Neue"/>
                <a:ea typeface="Helvetica Neue"/>
                <a:cs typeface="Helvetica Neue"/>
              </a:rPr>
              <a:t>OpenCV for calibration and image processing</a:t>
            </a:r>
          </a:p>
        </p:txBody>
      </p:sp>
      <p:sp>
        <p:nvSpPr>
          <p:cNvPr id="10" name="g4_density">
            <a:extLst xmlns:a="http://schemas.openxmlformats.org/drawingml/2006/main">
              <a:ext uri="{FF2B5EF4-FFF2-40B4-BE49-F238E27FC236}">
                <a16:creationId xmlns:a16="http://schemas.microsoft.com/office/drawing/2014/main" id="{005F9126-4F23-4EC3-AB15-1EB65F41F70F}"/>
              </a:ext>
            </a:extLst>
          </p:cNvPr>
          <p:cNvSpPr>
            <a:spLocks xmlns:a="http://schemas.openxmlformats.org/drawingml/2006/main" noGrp="1"/>
          </p:cNvSpPr>
          <p:nvPr/>
        </p:nvSpPr>
        <p:spPr>
          <a:xfrm xmlns:a="http://schemas.openxmlformats.org/drawingml/2006/main">
            <a:off x="638175" y="40671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8BACB"/>
                </a:solidFill>
                <a:latin typeface="Helvetica Neue"/>
                <a:ea typeface="Helvetica Neue"/>
                <a:cs typeface="Helvetica Neue"/>
              </a:defRPr>
            </a:defPPr>
          </a:lstStyle>
          <a:p xmlns:a="http://schemas.openxmlformats.org/drawingml/2006/main">
            <a:pPr>
              <a:defRPr sz="1800" b="0">
                <a:solidFill>
                  <a:srgbClr val="A8BACB"/>
                </a:solidFill>
                <a:latin typeface="Helvetica Neue"/>
                <a:ea typeface="Helvetica Neue"/>
                <a:cs typeface="Helvetica Neue"/>
              </a:defRPr>
            </a:pPr>
            <a:r>
              <a:rPr sz="1800" b="0">
                <a:solidFill>
                  <a:srgbClr val="A8BACB"/>
                </a:solidFill>
                <a:latin typeface="Helvetica Neue"/>
                <a:ea typeface="Helvetica Neue"/>
                <a:cs typeface="Helvetica Neue"/>
              </a:rPr>
              <a:t>Detection + tracking for visible people. Density estimation for occluded crowds.</a:t>
            </a:r>
          </a:p>
        </p:txBody>
      </p:sp>
      <p:sp>
        <p:nvSpPr>
          <p:cNvPr id="11" name="g5_target">
            <a:extLst xmlns:a="http://schemas.openxmlformats.org/drawingml/2006/main">
              <a:ext uri="{FF2B5EF4-FFF2-40B4-BE49-F238E27FC236}">
                <a16:creationId xmlns:a16="http://schemas.microsoft.com/office/drawing/2014/main" id="{48F29BD3-DA04-47D0-9204-F06D6BAD905D}"/>
              </a:ext>
            </a:extLst>
          </p:cNvPr>
          <p:cNvSpPr>
            <a:spLocks xmlns:a="http://schemas.openxmlformats.org/drawingml/2006/main" noGrp="1"/>
          </p:cNvSpPr>
          <p:nvPr/>
        </p:nvSpPr>
        <p:spPr>
          <a:xfrm xmlns:a="http://schemas.openxmlformats.org/drawingml/2006/main">
            <a:off x="638175" y="4848225"/>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65E2C1"/>
                </a:solidFill>
                <a:latin typeface="Helvetica Neue"/>
                <a:ea typeface="Helvetica Neue"/>
                <a:cs typeface="Helvetica Neue"/>
              </a:defRPr>
            </a:defPPr>
          </a:lstStyle>
          <a:p xmlns:a="http://schemas.openxmlformats.org/drawingml/2006/main">
            <a:pPr>
              <a:defRPr sz="1200" b="1">
                <a:solidFill>
                  <a:srgbClr val="65E2C1"/>
                </a:solidFill>
                <a:latin typeface="Helvetica Neue"/>
                <a:ea typeface="Helvetica Neue"/>
                <a:cs typeface="Helvetica Neue"/>
              </a:defRPr>
            </a:pPr>
            <a:r>
              <a:rPr sz="1200" b="1">
                <a:solidFill>
                  <a:srgbClr val="65E2C1"/>
                </a:solidFill>
                <a:latin typeface="Helvetica Neue"/>
                <a:ea typeface="Helvetica Neue"/>
                <a:cs typeface="Helvetica Neue"/>
              </a:rPr>
              <a:t>PILOT TARGET</a:t>
            </a:r>
          </a:p>
        </p:txBody>
      </p:sp>
      <p:sp>
        <p:nvSpPr>
          <p:cNvPr id="12" name="g5_goal1">
            <a:extLst xmlns:a="http://schemas.openxmlformats.org/drawingml/2006/main">
              <a:ext uri="{FF2B5EF4-FFF2-40B4-BE49-F238E27FC236}">
                <a16:creationId xmlns:a16="http://schemas.microsoft.com/office/drawing/2014/main" id="{7662C69A-F420-4CC3-8E2B-4F15A12AEBD8}"/>
              </a:ext>
            </a:extLst>
          </p:cNvPr>
          <p:cNvSpPr>
            <a:spLocks xmlns:a="http://schemas.openxmlformats.org/drawingml/2006/main" noGrp="1"/>
          </p:cNvSpPr>
          <p:nvPr/>
        </p:nvSpPr>
        <p:spPr>
          <a:xfrm xmlns:a="http://schemas.openxmlformats.org/drawingml/2006/main">
            <a:off x="619125" y="504825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65E2C1"/>
                </a:solidFill>
                <a:latin typeface="Helvetica Neue"/>
                <a:ea typeface="Helvetica Neue"/>
                <a:cs typeface="Helvetica Neue"/>
              </a:defRPr>
            </a:defPPr>
          </a:lstStyle>
          <a:p xmlns:a="http://schemas.openxmlformats.org/drawingml/2006/main">
            <a:pPr>
              <a:defRPr sz="5250" b="1">
                <a:solidFill>
                  <a:srgbClr val="65E2C1"/>
                </a:solidFill>
                <a:latin typeface="Helvetica Neue"/>
                <a:ea typeface="Helvetica Neue"/>
                <a:cs typeface="Helvetica Neue"/>
              </a:defRPr>
            </a:pPr>
            <a:r>
              <a:rPr sz="5250" b="1">
                <a:solidFill>
                  <a:srgbClr val="65E2C1"/>
                </a:solidFill>
                <a:latin typeface="Helvetica Neue"/>
                <a:ea typeface="Helvetica Neue"/>
                <a:cs typeface="Helvetica Neue"/>
              </a:rPr>
              <a:t>15%</a:t>
            </a:r>
          </a:p>
        </p:txBody>
      </p:sp>
      <p:sp>
        <p:nvSpPr>
          <p:cNvPr id="13" name="g5_label1">
            <a:extLst xmlns:a="http://schemas.openxmlformats.org/drawingml/2006/main">
              <a:ext uri="{FF2B5EF4-FFF2-40B4-BE49-F238E27FC236}">
                <a16:creationId xmlns:a16="http://schemas.microsoft.com/office/drawing/2014/main" id="{803A8236-D960-4D1F-9774-687A9916B4BE}"/>
              </a:ext>
            </a:extLst>
          </p:cNvPr>
          <p:cNvSpPr>
            <a:spLocks xmlns:a="http://schemas.openxmlformats.org/drawingml/2006/main" noGrp="1"/>
          </p:cNvSpPr>
          <p:nvPr/>
        </p:nvSpPr>
        <p:spPr>
          <a:xfrm xmlns:a="http://schemas.openxmlformats.org/drawingml/2006/main">
            <a:off x="2609850" y="5257800"/>
            <a:ext cx="3257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Helvetica Neue"/>
                <a:ea typeface="Helvetica Neue"/>
                <a:cs typeface="Helvetica Neue"/>
              </a:defRPr>
            </a:defPPr>
          </a:lstStyle>
          <a:p xmlns:a="http://schemas.openxmlformats.org/drawingml/2006/main">
            <a:pPr>
              <a:defRPr sz="1950" b="0">
                <a:solidFill>
                  <a:srgbClr val="F1F5F9"/>
                </a:solidFill>
                <a:latin typeface="Helvetica Neue"/>
                <a:ea typeface="Helvetica Neue"/>
                <a:cs typeface="Helvetica Neue"/>
              </a:defRPr>
            </a:pPr>
            <a:r>
              <a:rPr sz="1950" b="0">
                <a:solidFill>
                  <a:srgbClr val="F1F5F9"/>
                </a:solidFill>
                <a:latin typeface="Helvetica Neue"/>
                <a:ea typeface="Helvetica Neue"/>
                <a:cs typeface="Helvetica Neue"/>
              </a:rPr>
              <a:t>less clearance time</a:t>
            </a:r>
          </a:p>
        </p:txBody>
      </p:sp>
      <p:sp>
        <p:nvSpPr>
          <p:cNvPr id="14" name="g6_target">
            <a:extLst xmlns:a="http://schemas.openxmlformats.org/drawingml/2006/main">
              <a:ext uri="{FF2B5EF4-FFF2-40B4-BE49-F238E27FC236}">
                <a16:creationId xmlns:a16="http://schemas.microsoft.com/office/drawing/2014/main" id="{59D38D29-ECFB-4004-9437-668AAB52A2A5}"/>
              </a:ext>
            </a:extLst>
          </p:cNvPr>
          <p:cNvSpPr>
            <a:spLocks xmlns:a="http://schemas.openxmlformats.org/drawingml/2006/main" noGrp="1"/>
          </p:cNvSpPr>
          <p:nvPr/>
        </p:nvSpPr>
        <p:spPr>
          <a:xfrm xmlns:a="http://schemas.openxmlformats.org/drawingml/2006/main">
            <a:off x="6496050" y="4848225"/>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93BAFF"/>
                </a:solidFill>
                <a:latin typeface="Helvetica Neue"/>
                <a:ea typeface="Helvetica Neue"/>
                <a:cs typeface="Helvetica Neue"/>
              </a:defRPr>
            </a:defPPr>
          </a:lstStyle>
          <a:p xmlns:a="http://schemas.openxmlformats.org/drawingml/2006/main">
            <a:pPr>
              <a:defRPr sz="1200" b="1">
                <a:solidFill>
                  <a:srgbClr val="93BAFF"/>
                </a:solidFill>
                <a:latin typeface="Helvetica Neue"/>
                <a:ea typeface="Helvetica Neue"/>
                <a:cs typeface="Helvetica Neue"/>
              </a:defRPr>
            </a:pPr>
            <a:r>
              <a:rPr sz="1200" b="1">
                <a:solidFill>
                  <a:srgbClr val="93BAFF"/>
                </a:solidFill>
                <a:latin typeface="Helvetica Neue"/>
                <a:ea typeface="Helvetica Neue"/>
                <a:cs typeface="Helvetica Neue"/>
              </a:rPr>
              <a:t>PILOT TARGET</a:t>
            </a:r>
          </a:p>
        </p:txBody>
      </p:sp>
      <p:sp>
        <p:nvSpPr>
          <p:cNvPr id="15" name="g6_goal2">
            <a:extLst xmlns:a="http://schemas.openxmlformats.org/drawingml/2006/main">
              <a:ext uri="{FF2B5EF4-FFF2-40B4-BE49-F238E27FC236}">
                <a16:creationId xmlns:a16="http://schemas.microsoft.com/office/drawing/2014/main" id="{A9B1D1A6-4237-4ACB-855A-960754F95B3F}"/>
              </a:ext>
            </a:extLst>
          </p:cNvPr>
          <p:cNvSpPr>
            <a:spLocks xmlns:a="http://schemas.openxmlformats.org/drawingml/2006/main" noGrp="1"/>
          </p:cNvSpPr>
          <p:nvPr/>
        </p:nvSpPr>
        <p:spPr>
          <a:xfrm xmlns:a="http://schemas.openxmlformats.org/drawingml/2006/main">
            <a:off x="6477000" y="504825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93BAFF"/>
                </a:solidFill>
                <a:latin typeface="Helvetica Neue"/>
                <a:ea typeface="Helvetica Neue"/>
                <a:cs typeface="Helvetica Neue"/>
              </a:defRPr>
            </a:defPPr>
          </a:lstStyle>
          <a:p xmlns:a="http://schemas.openxmlformats.org/drawingml/2006/main">
            <a:pPr>
              <a:defRPr sz="5250" b="1">
                <a:solidFill>
                  <a:srgbClr val="93BAFF"/>
                </a:solidFill>
                <a:latin typeface="Helvetica Neue"/>
                <a:ea typeface="Helvetica Neue"/>
                <a:cs typeface="Helvetica Neue"/>
              </a:defRPr>
            </a:pPr>
            <a:r>
              <a:rPr sz="5250" b="1">
                <a:solidFill>
                  <a:srgbClr val="93BAFF"/>
                </a:solidFill>
                <a:latin typeface="Helvetica Neue"/>
                <a:ea typeface="Helvetica Neue"/>
                <a:cs typeface="Helvetica Neue"/>
              </a:rPr>
              <a:t>20%</a:t>
            </a:r>
          </a:p>
        </p:txBody>
      </p:sp>
      <p:sp>
        <p:nvSpPr>
          <p:cNvPr id="16" name="g6_label2">
            <a:extLst xmlns:a="http://schemas.openxmlformats.org/drawingml/2006/main">
              <a:ext uri="{FF2B5EF4-FFF2-40B4-BE49-F238E27FC236}">
                <a16:creationId xmlns:a16="http://schemas.microsoft.com/office/drawing/2014/main" id="{09886F09-CFFF-42A8-B729-989C8A222F12}"/>
              </a:ext>
            </a:extLst>
          </p:cNvPr>
          <p:cNvSpPr>
            <a:spLocks xmlns:a="http://schemas.openxmlformats.org/drawingml/2006/main" noGrp="1"/>
          </p:cNvSpPr>
          <p:nvPr/>
        </p:nvSpPr>
        <p:spPr>
          <a:xfrm xmlns:a="http://schemas.openxmlformats.org/drawingml/2006/main">
            <a:off x="8496300" y="5257800"/>
            <a:ext cx="3095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Helvetica Neue"/>
                <a:ea typeface="Helvetica Neue"/>
                <a:cs typeface="Helvetica Neue"/>
              </a:defRPr>
            </a:defPPr>
          </a:lstStyle>
          <a:p xmlns:a="http://schemas.openxmlformats.org/drawingml/2006/main">
            <a:pPr>
              <a:defRPr sz="1950" b="0">
                <a:solidFill>
                  <a:srgbClr val="F1F5F9"/>
                </a:solidFill>
                <a:latin typeface="Helvetica Neue"/>
                <a:ea typeface="Helvetica Neue"/>
                <a:cs typeface="Helvetica Neue"/>
              </a:defRPr>
            </a:pPr>
            <a:r>
              <a:rPr sz="1950" b="0">
                <a:solidFill>
                  <a:srgbClr val="F1F5F9"/>
                </a:solidFill>
                <a:latin typeface="Helvetica Neue"/>
                <a:ea typeface="Helvetica Neue"/>
                <a:cs typeface="Helvetica Neue"/>
              </a:rPr>
              <a:t>lower peak queue</a:t>
            </a:r>
          </a:p>
        </p:txBody>
      </p:sp>
      <p:sp>
        <p:nvSpPr>
          <p:cNvPr id="17" name="targets_note">
            <a:extLst xmlns:a="http://schemas.openxmlformats.org/drawingml/2006/main">
              <a:ext uri="{FF2B5EF4-FFF2-40B4-BE49-F238E27FC236}">
                <a16:creationId xmlns:a16="http://schemas.microsoft.com/office/drawing/2014/main" id="{3B3D87D8-3BF0-426C-A0D9-B2639AC1297A}"/>
              </a:ext>
            </a:extLst>
          </p:cNvPr>
          <p:cNvSpPr>
            <a:spLocks xmlns:a="http://schemas.openxmlformats.org/drawingml/2006/main" noGrp="1"/>
          </p:cNvSpPr>
          <p:nvPr/>
        </p:nvSpPr>
        <p:spPr>
          <a:xfrm xmlns:a="http://schemas.openxmlformats.org/drawingml/2006/main">
            <a:off x="619125" y="60960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8BACB"/>
                </a:solidFill>
                <a:latin typeface="Helvetica Neue"/>
                <a:ea typeface="Helvetica Neue"/>
                <a:cs typeface="Helvetica Neue"/>
              </a:defRPr>
            </a:defPPr>
          </a:lstStyle>
          <a:p xmlns:a="http://schemas.openxmlformats.org/drawingml/2006/main">
            <a:pPr>
              <a:defRPr sz="1350" b="0">
                <a:solidFill>
                  <a:srgbClr val="A8BACB"/>
                </a:solidFill>
                <a:latin typeface="Helvetica Neue"/>
                <a:ea typeface="Helvetica Neue"/>
                <a:cs typeface="Helvetica Neue"/>
              </a:defRPr>
            </a:pPr>
            <a:r>
              <a:rPr sz="1350" b="0">
                <a:solidFill>
                  <a:srgbClr val="A8BACB"/>
                </a:solidFill>
                <a:latin typeface="Helvetica Neue"/>
                <a:ea typeface="Helvetica Neue"/>
                <a:cs typeface="Helvetica Neue"/>
              </a:rPr>
              <a:t>Unmeasured pilot targets against a fixed nearest-open-gate baseline across repeated runs.</a:t>
            </a:r>
          </a:p>
        </p:txBody>
      </p:sp>
    </p:spTree>
    <p:extLst>
      <p:ext uri="{BB962C8B-B14F-4D97-AF65-F5344CB8AC3E}">
        <p14:creationId xmlns:p14="http://schemas.microsoft.com/office/powerpoint/2010/main" val="247453811"/>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00"/>
                            </p:stCondLst>
                            <p:childTnLst>
                              <p:set>
                                <p:cBhvr>
                                  <p:cTn id="5" dur="1" fill="hold"/>
                                  <p:tgtEl>
                                    <p:spTgt spid="4"/>
                                  </p:tgtEl>
                                  <p:attrNameLst>
                                    <p:attrName>style.visibility</p:attrName>
                                  </p:attrNameLst>
                                </p:cBhvr>
                                <p:to>
                                  <p:strVal val="visible"/>
                                </p:to>
                              </p:set>
                              <p:animEffect transition="in" filter="fade">
                                <p:cBhvr>
                                  <p:cTn id="6" dur="550" fill="hold"/>
                                  <p:tgtEl>
                                    <p:spTgt spid="4"/>
                                  </p:tgtEl>
                                </p:cBhvr>
                              </p:animEffect>
                            </p:childTnLst>
                          </p:cTn>
                        </p:par>
                        <p:par>
                          <p:cTn id="7" presetID="22" presetClass="entr" presetSubtype="1" fill="hold" nodeType="withEffect">
                            <p:stCondLst>
                              <p:cond delay="700"/>
                            </p:stCondLst>
                            <p:childTnLst>
                              <p:set>
                                <p:cBhvr>
                                  <p:cTn id="8" dur="1" fill="hold"/>
                                  <p:tgtEl>
                                    <p:spTgt spid="5"/>
                                  </p:tgtEl>
                                  <p:attrNameLst>
                                    <p:attrName>style.visibility</p:attrName>
                                  </p:attrNameLst>
                                </p:cBhvr>
                                <p:to>
                                  <p:strVal val="visible"/>
                                </p:to>
                              </p:set>
                              <p:animEffect transition="in" filter="wipe(right)">
                                <p:cBhvr>
                                  <p:cTn id="9" dur="550" fill="hold"/>
                                  <p:tgtEl>
                                    <p:spTgt spid="5"/>
                                  </p:tgtEl>
                                </p:cBhvr>
                              </p:animEffect>
                            </p:childTnLst>
                          </p:cTn>
                        </p:par>
                        <p:par>
                          <p:cTn id="10" presetID="10" presetClass="entr" presetSubtype="0" fill="hold" nodeType="withEffect">
                            <p:stCondLst>
                              <p:cond delay="700"/>
                            </p:stCondLst>
                            <p:childTnLst>
                              <p:set>
                                <p:cBhvr>
                                  <p:cTn id="11" dur="1" fill="hold"/>
                                  <p:tgtEl>
                                    <p:spTgt spid="6"/>
                                  </p:tgtEl>
                                  <p:attrNameLst>
                                    <p:attrName>style.visibility</p:attrName>
                                  </p:attrNameLst>
                                </p:cBhvr>
                                <p:to>
                                  <p:strVal val="visible"/>
                                </p:to>
                              </p:set>
                              <p:animEffect transition="in" filter="fade">
                                <p:cBhvr>
                                  <p:cTn id="12" dur="550" fill="hold"/>
                                  <p:tgtEl>
                                    <p:spTgt spid="6"/>
                                  </p:tgtEl>
                                </p:cBhvr>
                              </p:animEffect>
                            </p:childTnLst>
                          </p:cTn>
                        </p:par>
                        <p:par>
                          <p:cTn id="13" presetID="22" presetClass="entr" presetSubtype="1" fill="hold" nodeType="withEffect">
                            <p:stCondLst>
                              <p:cond delay="1300"/>
                            </p:stCondLst>
                            <p:childTnLst>
                              <p:set>
                                <p:cBhvr>
                                  <p:cTn id="14" dur="1" fill="hold"/>
                                  <p:tgtEl>
                                    <p:spTgt spid="7"/>
                                  </p:tgtEl>
                                  <p:attrNameLst>
                                    <p:attrName>style.visibility</p:attrName>
                                  </p:attrNameLst>
                                </p:cBhvr>
                                <p:to>
                                  <p:strVal val="visible"/>
                                </p:to>
                              </p:set>
                              <p:animEffect transition="in" filter="wipe(right)">
                                <p:cBhvr>
                                  <p:cTn id="15" dur="550" fill="hold"/>
                                  <p:tgtEl>
                                    <p:spTgt spid="7"/>
                                  </p:tgtEl>
                                </p:cBhvr>
                              </p:animEffect>
                            </p:childTnLst>
                          </p:cTn>
                        </p:par>
                        <p:par>
                          <p:cTn id="16" presetID="10" presetClass="entr" presetSubtype="0" fill="hold" nodeType="withEffect">
                            <p:stCondLst>
                              <p:cond delay="1300"/>
                            </p:stCondLst>
                            <p:childTnLst>
                              <p:set>
                                <p:cBhvr>
                                  <p:cTn id="17" dur="1" fill="hold"/>
                                  <p:tgtEl>
                                    <p:spTgt spid="8"/>
                                  </p:tgtEl>
                                  <p:attrNameLst>
                                    <p:attrName>style.visibility</p:attrName>
                                  </p:attrNameLst>
                                </p:cBhvr>
                                <p:to>
                                  <p:strVal val="visible"/>
                                </p:to>
                              </p:set>
                              <p:animEffect transition="in" filter="fade">
                                <p:cBhvr>
                                  <p:cTn id="18" dur="550" fill="hold"/>
                                  <p:tgtEl>
                                    <p:spTgt spid="8"/>
                                  </p:tgtEl>
                                </p:cBhvr>
                              </p:animEffect>
                            </p:childTnLst>
                          </p:cTn>
                        </p:par>
                        <p:par>
                          <p:cTn id="19" presetID="10" presetClass="entr" presetSubtype="0" fill="hold" nodeType="withEffect">
                            <p:stCondLst>
                              <p:cond delay="1900"/>
                            </p:stCondLst>
                            <p:childTnLst>
                              <p:set>
                                <p:cBhvr>
                                  <p:cTn id="20" dur="1" fill="hold"/>
                                  <p:tgtEl>
                                    <p:spTgt spid="9"/>
                                  </p:tgtEl>
                                  <p:attrNameLst>
                                    <p:attrName>style.visibility</p:attrName>
                                  </p:attrNameLst>
                                </p:cBhvr>
                                <p:to>
                                  <p:strVal val="visible"/>
                                </p:to>
                              </p:set>
                              <p:animEffect transition="in" filter="fade">
                                <p:cBhvr>
                                  <p:cTn id="21" dur="550" fill="hold"/>
                                  <p:tgtEl>
                                    <p:spTgt spid="9"/>
                                  </p:tgtEl>
                                </p:cBhvr>
                              </p:animEffect>
                            </p:childTnLst>
                          </p:cTn>
                        </p:par>
                        <p:par>
                          <p:cTn id="22" presetID="10" presetClass="entr" presetSubtype="0" fill="hold" nodeType="withEffect">
                            <p:stCondLst>
                              <p:cond delay="1900"/>
                            </p:stCondLst>
                            <p:childTnLst>
                              <p:set>
                                <p:cBhvr>
                                  <p:cTn id="23" dur="1" fill="hold"/>
                                  <p:tgtEl>
                                    <p:spTgt spid="10"/>
                                  </p:tgtEl>
                                  <p:attrNameLst>
                                    <p:attrName>style.visibility</p:attrName>
                                  </p:attrNameLst>
                                </p:cBhvr>
                                <p:to>
                                  <p:strVal val="visible"/>
                                </p:to>
                              </p:set>
                              <p:animEffect transition="in" filter="fade">
                                <p:cBhvr>
                                  <p:cTn id="24" dur="550" fill="hold"/>
                                  <p:tgtEl>
                                    <p:spTgt spid="10"/>
                                  </p:tgtEl>
                                </p:cBhvr>
                              </p:animEffect>
                            </p:childTnLst>
                          </p:cTn>
                        </p:par>
                        <p:par>
                          <p:cTn id="25" presetID="10" presetClass="entr" presetSubtype="0" fill="hold" nodeType="withEffect">
                            <p:stCondLst>
                              <p:cond delay="2500"/>
                            </p:stCondLst>
                            <p:childTnLst>
                              <p:set>
                                <p:cBhvr>
                                  <p:cTn id="26" dur="1" fill="hold"/>
                                  <p:tgtEl>
                                    <p:spTgt spid="11"/>
                                  </p:tgtEl>
                                  <p:attrNameLst>
                                    <p:attrName>style.visibility</p:attrName>
                                  </p:attrNameLst>
                                </p:cBhvr>
                                <p:to>
                                  <p:strVal val="visible"/>
                                </p:to>
                              </p:set>
                              <p:animEffect transition="in" filter="fade">
                                <p:cBhvr>
                                  <p:cTn id="27" dur="550" fill="hold"/>
                                  <p:tgtEl>
                                    <p:spTgt spid="11"/>
                                  </p:tgtEl>
                                </p:cBhvr>
                              </p:animEffect>
                            </p:childTnLst>
                          </p:cTn>
                        </p:par>
                        <p:par>
                          <p:cTn id="28" presetID="10" presetClass="entr" presetSubtype="0" fill="hold" nodeType="withEffect">
                            <p:stCondLst>
                              <p:cond delay="2500"/>
                            </p:stCondLst>
                            <p:childTnLst>
                              <p:set>
                                <p:cBhvr>
                                  <p:cTn id="29" dur="1" fill="hold"/>
                                  <p:tgtEl>
                                    <p:spTgt spid="12"/>
                                  </p:tgtEl>
                                  <p:attrNameLst>
                                    <p:attrName>style.visibility</p:attrName>
                                  </p:attrNameLst>
                                </p:cBhvr>
                                <p:to>
                                  <p:strVal val="visible"/>
                                </p:to>
                              </p:set>
                              <p:animEffect transition="in" filter="fade">
                                <p:cBhvr>
                                  <p:cTn id="30" dur="550" fill="hold"/>
                                  <p:tgtEl>
                                    <p:spTgt spid="12"/>
                                  </p:tgtEl>
                                </p:cBhvr>
                              </p:animEffect>
                            </p:childTnLst>
                          </p:cTn>
                        </p:par>
                        <p:par>
                          <p:cTn id="31" presetID="10" presetClass="entr" presetSubtype="0" fill="hold" nodeType="withEffect">
                            <p:stCondLst>
                              <p:cond delay="2500"/>
                            </p:stCondLst>
                            <p:childTnLst>
                              <p:set>
                                <p:cBhvr>
                                  <p:cTn id="32" dur="1" fill="hold"/>
                                  <p:tgtEl>
                                    <p:spTgt spid="13"/>
                                  </p:tgtEl>
                                  <p:attrNameLst>
                                    <p:attrName>style.visibility</p:attrName>
                                  </p:attrNameLst>
                                </p:cBhvr>
                                <p:to>
                                  <p:strVal val="visible"/>
                                </p:to>
                              </p:set>
                              <p:animEffect transition="in" filter="fade">
                                <p:cBhvr>
                                  <p:cTn id="33" dur="550" fill="hold"/>
                                  <p:tgtEl>
                                    <p:spTgt spid="13"/>
                                  </p:tgtEl>
                                </p:cBhvr>
                              </p:animEffect>
                            </p:childTnLst>
                          </p:cTn>
                        </p:par>
                        <p:par>
                          <p:cTn id="34" presetID="10" presetClass="entr" presetSubtype="0" fill="hold" nodeType="withEffect">
                            <p:stCondLst>
                              <p:cond delay="3100"/>
                            </p:stCondLst>
                            <p:childTnLst>
                              <p:set>
                                <p:cBhvr>
                                  <p:cTn id="35" dur="1" fill="hold"/>
                                  <p:tgtEl>
                                    <p:spTgt spid="14"/>
                                  </p:tgtEl>
                                  <p:attrNameLst>
                                    <p:attrName>style.visibility</p:attrName>
                                  </p:attrNameLst>
                                </p:cBhvr>
                                <p:to>
                                  <p:strVal val="visible"/>
                                </p:to>
                              </p:set>
                              <p:animEffect transition="in" filter="fade">
                                <p:cBhvr>
                                  <p:cTn id="36" dur="550" fill="hold"/>
                                  <p:tgtEl>
                                    <p:spTgt spid="14"/>
                                  </p:tgtEl>
                                </p:cBhvr>
                              </p:animEffect>
                            </p:childTnLst>
                          </p:cTn>
                        </p:par>
                        <p:par>
                          <p:cTn id="37" presetID="10" presetClass="entr" presetSubtype="0" fill="hold" nodeType="withEffect">
                            <p:stCondLst>
                              <p:cond delay="3100"/>
                            </p:stCondLst>
                            <p:childTnLst>
                              <p:set>
                                <p:cBhvr>
                                  <p:cTn id="38" dur="1" fill="hold"/>
                                  <p:tgtEl>
                                    <p:spTgt spid="15"/>
                                  </p:tgtEl>
                                  <p:attrNameLst>
                                    <p:attrName>style.visibility</p:attrName>
                                  </p:attrNameLst>
                                </p:cBhvr>
                                <p:to>
                                  <p:strVal val="visible"/>
                                </p:to>
                              </p:set>
                              <p:animEffect transition="in" filter="fade">
                                <p:cBhvr>
                                  <p:cTn id="39" dur="550" fill="hold"/>
                                  <p:tgtEl>
                                    <p:spTgt spid="15"/>
                                  </p:tgtEl>
                                </p:cBhvr>
                              </p:animEffect>
                            </p:childTnLst>
                          </p:cTn>
                        </p:par>
                        <p:par>
                          <p:cTn id="40" presetID="10" presetClass="entr" presetSubtype="0" fill="hold" nodeType="withEffect">
                            <p:stCondLst>
                              <p:cond delay="3100"/>
                            </p:stCondLst>
                            <p:childTnLst>
                              <p:set>
                                <p:cBhvr>
                                  <p:cTn id="41" dur="1" fill="hold"/>
                                  <p:tgtEl>
                                    <p:spTgt spid="16"/>
                                  </p:tgtEl>
                                  <p:attrNameLst>
                                    <p:attrName>style.visibility</p:attrName>
                                  </p:attrNameLst>
                                </p:cBhvr>
                                <p:to>
                                  <p:strVal val="visible"/>
                                </p:to>
                              </p:set>
                              <p:animEffect transition="in" filter="fade">
                                <p:cBhvr>
                                  <p:cTn id="42" dur="550" fill="hold"/>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0" name="page">
            <a:extLst xmlns:a="http://schemas.openxmlformats.org/drawingml/2006/main">
              <a:ext uri="{FF2B5EF4-FFF2-40B4-BE49-F238E27FC236}">
                <a16:creationId xmlns:a16="http://schemas.microsoft.com/office/drawing/2014/main" id="{9705E23E-9672-4677-8CAB-D67ADA44BB9B}"/>
              </a:ext>
            </a:extLst>
          </p:cNvPr>
          <p:cNvSpPr>
            <a:spLocks xmlns:a="http://schemas.openxmlformats.org/drawingml/2006/main" noGrp="1"/>
          </p:cNvSpPr>
          <p:nvPr/>
        </p:nvSpPr>
        <p:spPr>
          <a:xfrm xmlns:a="http://schemas.openxmlformats.org/drawingml/2006/main">
            <a:off x="11239500" y="62579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A8BACB"/>
                </a:solidFill>
                <a:latin typeface="Helvetica Neue"/>
                <a:ea typeface="Helvetica Neue"/>
                <a:cs typeface="Helvetica Neue"/>
              </a:defRPr>
            </a:defPPr>
          </a:lstStyle>
          <a:p xmlns:a="http://schemas.openxmlformats.org/drawingml/2006/main">
            <a:pPr algn="r">
              <a:defRPr sz="1200" b="0">
                <a:solidFill>
                  <a:srgbClr val="A8BACB"/>
                </a:solidFill>
                <a:latin typeface="Helvetica Neue"/>
                <a:ea typeface="Helvetica Neue"/>
                <a:cs typeface="Helvetica Neue"/>
              </a:defRPr>
            </a:pPr>
            <a:r>
              <a:rPr sz="1200" b="0">
                <a:solidFill>
                  <a:srgbClr val="A8BACB"/>
                </a:solidFill>
                <a:latin typeface="Helvetica Neue"/>
                <a:ea typeface="Helvetica Neue"/>
                <a:cs typeface="Helvetica Neue"/>
              </a:rPr>
              <a:t>09</a:t>
            </a:r>
          </a:p>
        </p:txBody>
      </p:sp>
      <p:pic>
        <p:nvPicPr>
          <p:cNvPr id="2" name="wildfire concept" descr="wildfire concept">
            <a:extLst xmlns:a="http://schemas.openxmlformats.org/drawingml/2006/main">
              <a:ext uri="{FF2B5EF4-FFF2-40B4-BE49-F238E27FC236}">
                <a16:creationId xmlns:a16="http://schemas.microsoft.com/office/drawing/2014/main" id="{D1211079-CFA9-4499-AAD1-C3DF3842D116}"/>
              </a:ext>
            </a:extLst>
          </p:cNvPr>
          <p:cNvPicPr>
            <a:picLocks xmlns:a="http://schemas.openxmlformats.org/drawingml/2006/main" noChangeAspect="1"/>
          </p:cNvPicPr>
          <p:nvPr/>
        </p:nvPicPr>
        <p:blipFill>
          <a:blip xmlns:r="http://schemas.openxmlformats.org/officeDocument/2006/relationships" xmlns:a="http://schemas.openxmlformats.org/drawingml/2006/main" r:embed="R61875b3eeee0493e"/>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3" name="section">
            <a:extLst xmlns:a="http://schemas.openxmlformats.org/drawingml/2006/main">
              <a:ext uri="{FF2B5EF4-FFF2-40B4-BE49-F238E27FC236}">
                <a16:creationId xmlns:a16="http://schemas.microsoft.com/office/drawing/2014/main" id="{C5981257-834D-4839-921A-73FF5721D257}"/>
              </a:ext>
            </a:extLst>
          </p:cNvPr>
          <p:cNvSpPr>
            <a:spLocks xmlns:a="http://schemas.openxmlformats.org/drawingml/2006/main" noGrp="1"/>
          </p:cNvSpPr>
          <p:nvPr/>
        </p:nvSpPr>
        <p:spPr>
          <a:xfrm xmlns:a="http://schemas.openxmlformats.org/drawingml/2006/main">
            <a:off x="609600" y="409575"/>
            <a:ext cx="971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65E2C1"/>
                </a:solidFill>
                <a:latin typeface="Helvetica Neue"/>
                <a:ea typeface="Helvetica Neue"/>
                <a:cs typeface="Helvetica Neue"/>
              </a:defRPr>
            </a:defPPr>
          </a:lstStyle>
          <a:p xmlns:a="http://schemas.openxmlformats.org/drawingml/2006/main">
            <a:pPr>
              <a:defRPr sz="1200" b="1">
                <a:solidFill>
                  <a:srgbClr val="65E2C1"/>
                </a:solidFill>
                <a:latin typeface="Helvetica Neue"/>
                <a:ea typeface="Helvetica Neue"/>
                <a:cs typeface="Helvetica Neue"/>
              </a:defRPr>
            </a:pPr>
            <a:r>
              <a:rPr sz="1200" b="1">
                <a:solidFill>
                  <a:srgbClr val="65E2C1"/>
                </a:solidFill>
                <a:latin typeface="Helvetica Neue"/>
                <a:ea typeface="Helvetica Neue"/>
                <a:cs typeface="Helvetica Neue"/>
              </a:rPr>
              <a:t>DUAL USE AND EXPANSION</a:t>
            </a:r>
          </a:p>
        </p:txBody>
      </p:sp>
      <p:sp>
        <p:nvSpPr>
          <p:cNvPr id="4" name="title">
            <a:extLst xmlns:a="http://schemas.openxmlformats.org/drawingml/2006/main">
              <a:ext uri="{FF2B5EF4-FFF2-40B4-BE49-F238E27FC236}">
                <a16:creationId xmlns:a16="http://schemas.microsoft.com/office/drawing/2014/main" id="{FF8F277A-BE98-4147-A8A8-C7B4B6713CA0}"/>
              </a:ext>
            </a:extLst>
          </p:cNvPr>
          <p:cNvSpPr>
            <a:spLocks xmlns:a="http://schemas.openxmlformats.org/drawingml/2006/main" noGrp="1"/>
          </p:cNvSpPr>
          <p:nvPr/>
        </p:nvSpPr>
        <p:spPr>
          <a:xfrm xmlns:a="http://schemas.openxmlformats.org/drawingml/2006/main">
            <a:off x="609600" y="866775"/>
            <a:ext cx="1076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1F5F9"/>
                </a:solidFill>
                <a:latin typeface="Helvetica Neue"/>
                <a:ea typeface="Helvetica Neue"/>
                <a:cs typeface="Helvetica Neue"/>
              </a:defRPr>
            </a:defPPr>
          </a:lstStyle>
          <a:p xmlns:a="http://schemas.openxmlformats.org/drawingml/2006/main">
            <a:pPr>
              <a:defRPr sz="3600" b="1">
                <a:solidFill>
                  <a:srgbClr val="F1F5F9"/>
                </a:solidFill>
                <a:latin typeface="Helvetica Neue"/>
                <a:ea typeface="Helvetica Neue"/>
                <a:cs typeface="Helvetica Neue"/>
              </a:defRPr>
            </a:pPr>
            <a:r>
              <a:rPr sz="3600" b="1">
                <a:solidFill>
                  <a:srgbClr val="F1F5F9"/>
                </a:solidFill>
                <a:latin typeface="Helvetica Neue"/>
                <a:ea typeface="Helvetica Neue"/>
                <a:cs typeface="Helvetica Neue"/>
              </a:rPr>
              <a:t>The route network changes.</a:t>
            </a:r>
          </a:p>
          <a:p xmlns:a="http://schemas.openxmlformats.org/drawingml/2006/main">
            <a:pPr>
              <a:defRPr sz="3600" b="1">
                <a:solidFill>
                  <a:srgbClr val="F1F5F9"/>
                </a:solidFill>
                <a:latin typeface="Helvetica Neue"/>
                <a:ea typeface="Helvetica Neue"/>
                <a:cs typeface="Helvetica Neue"/>
              </a:defRPr>
            </a:pPr>
            <a:r>
              <a:rPr sz="3600" b="1">
                <a:solidFill>
                  <a:srgbClr val="F1F5F9"/>
                </a:solidFill>
                <a:latin typeface="Helvetica Neue"/>
                <a:ea typeface="Helvetica Neue"/>
                <a:cs typeface="Helvetica Neue"/>
              </a:rPr>
              <a:t>The decision loop carries over</a:t>
            </a:r>
          </a:p>
        </p:txBody>
      </p:sp>
      <p:sp>
        <p:nvSpPr>
          <p:cNvPr id="5" name="g1_wildfire">
            <a:extLst xmlns:a="http://schemas.openxmlformats.org/drawingml/2006/main">
              <a:ext uri="{FF2B5EF4-FFF2-40B4-BE49-F238E27FC236}">
                <a16:creationId xmlns:a16="http://schemas.microsoft.com/office/drawing/2014/main" id="{21C67A7E-7B74-416D-8EFB-7B865D82E14D}"/>
              </a:ext>
            </a:extLst>
          </p:cNvPr>
          <p:cNvSpPr>
            <a:spLocks xmlns:a="http://schemas.openxmlformats.org/drawingml/2006/main" noGrp="1"/>
          </p:cNvSpPr>
          <p:nvPr/>
        </p:nvSpPr>
        <p:spPr>
          <a:xfrm xmlns:a="http://schemas.openxmlformats.org/drawingml/2006/main">
            <a:off x="619125" y="2619375"/>
            <a:ext cx="600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65E2C1"/>
                </a:solidFill>
                <a:latin typeface="Helvetica Neue"/>
                <a:ea typeface="Helvetica Neue"/>
                <a:cs typeface="Helvetica Neue"/>
              </a:defRPr>
            </a:defPPr>
          </a:lstStyle>
          <a:p xmlns:a="http://schemas.openxmlformats.org/drawingml/2006/main">
            <a:pPr>
              <a:defRPr sz="2475" b="1">
                <a:solidFill>
                  <a:srgbClr val="65E2C1"/>
                </a:solidFill>
                <a:latin typeface="Helvetica Neue"/>
                <a:ea typeface="Helvetica Neue"/>
                <a:cs typeface="Helvetica Neue"/>
              </a:defRPr>
            </a:pPr>
            <a:r>
              <a:rPr sz="2475" b="1">
                <a:solidFill>
                  <a:srgbClr val="65E2C1"/>
                </a:solidFill>
                <a:latin typeface="Helvetica Neue"/>
                <a:ea typeface="Helvetica Neue"/>
                <a:cs typeface="Helvetica Neue"/>
              </a:rPr>
              <a:t>Civilian wildfire evacuation</a:t>
            </a:r>
          </a:p>
        </p:txBody>
      </p:sp>
      <p:sp>
        <p:nvSpPr>
          <p:cNvPr id="6" name="g1_wildfire_body">
            <a:extLst xmlns:a="http://schemas.openxmlformats.org/drawingml/2006/main">
              <a:ext uri="{FF2B5EF4-FFF2-40B4-BE49-F238E27FC236}">
                <a16:creationId xmlns:a16="http://schemas.microsoft.com/office/drawing/2014/main" id="{25B8C51B-473B-4E6B-8952-D4717AEBF25C}"/>
              </a:ext>
            </a:extLst>
          </p:cNvPr>
          <p:cNvSpPr>
            <a:spLocks xmlns:a="http://schemas.openxmlformats.org/drawingml/2006/main" noGrp="1"/>
          </p:cNvSpPr>
          <p:nvPr/>
        </p:nvSpPr>
        <p:spPr>
          <a:xfrm xmlns:a="http://schemas.openxmlformats.org/drawingml/2006/main">
            <a:off x="619125" y="3200400"/>
            <a:ext cx="6191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Helvetica Neue"/>
                <a:ea typeface="Helvetica Neue"/>
                <a:cs typeface="Helvetica Neue"/>
              </a:defRPr>
            </a:defPPr>
          </a:lstStyle>
          <a:p xmlns:a="http://schemas.openxmlformats.org/drawingml/2006/main">
            <a:pPr>
              <a:defRPr sz="2025" b="0">
                <a:solidFill>
                  <a:srgbClr val="F1F5F9"/>
                </a:solidFill>
                <a:latin typeface="Helvetica Neue"/>
                <a:ea typeface="Helvetica Neue"/>
                <a:cs typeface="Helvetica Neue"/>
              </a:defRPr>
            </a:pPr>
            <a:r>
              <a:rPr sz="2025" b="0">
                <a:solidFill>
                  <a:srgbClr val="F1F5F9"/>
                </a:solidFill>
                <a:latin typeface="Helvetica Neue"/>
                <a:ea typeface="Helvetica Neue"/>
                <a:cs typeface="Helvetica Neue"/>
              </a:rPr>
              <a:t>Road closures, mountain trails</a:t>
            </a:r>
          </a:p>
          <a:p xmlns:a="http://schemas.openxmlformats.org/drawingml/2006/main">
            <a:pPr>
              <a:defRPr sz="2025" b="0">
                <a:solidFill>
                  <a:srgbClr val="F1F5F9"/>
                </a:solidFill>
                <a:latin typeface="Helvetica Neue"/>
                <a:ea typeface="Helvetica Neue"/>
                <a:cs typeface="Helvetica Neue"/>
              </a:defRPr>
            </a:pPr>
            <a:r>
              <a:rPr sz="2025" b="0">
                <a:solidFill>
                  <a:srgbClr val="F1F5F9"/>
                </a:solidFill>
                <a:latin typeface="Helvetica Neue"/>
                <a:ea typeface="Helvetica Neue"/>
                <a:cs typeface="Helvetica Neue"/>
              </a:rPr>
              <a:t>and authority-provided hazard zones</a:t>
            </a:r>
          </a:p>
        </p:txBody>
      </p:sp>
      <p:sp>
        <p:nvSpPr>
          <p:cNvPr id="7" name="g2_defense">
            <a:extLst xmlns:a="http://schemas.openxmlformats.org/drawingml/2006/main">
              <a:ext uri="{FF2B5EF4-FFF2-40B4-BE49-F238E27FC236}">
                <a16:creationId xmlns:a16="http://schemas.microsoft.com/office/drawing/2014/main" id="{E5C66D31-60E5-475D-AA50-D925580DF82D}"/>
              </a:ext>
            </a:extLst>
          </p:cNvPr>
          <p:cNvSpPr>
            <a:spLocks xmlns:a="http://schemas.openxmlformats.org/drawingml/2006/main" noGrp="1"/>
          </p:cNvSpPr>
          <p:nvPr/>
        </p:nvSpPr>
        <p:spPr>
          <a:xfrm xmlns:a="http://schemas.openxmlformats.org/drawingml/2006/main">
            <a:off x="619125" y="4543425"/>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93BAFF"/>
                </a:solidFill>
                <a:latin typeface="Helvetica Neue"/>
                <a:ea typeface="Helvetica Neue"/>
                <a:cs typeface="Helvetica Neue"/>
              </a:defRPr>
            </a:defPPr>
          </a:lstStyle>
          <a:p xmlns:a="http://schemas.openxmlformats.org/drawingml/2006/main">
            <a:pPr>
              <a:defRPr sz="2475" b="1">
                <a:solidFill>
                  <a:srgbClr val="93BAFF"/>
                </a:solidFill>
                <a:latin typeface="Helvetica Neue"/>
                <a:ea typeface="Helvetica Neue"/>
                <a:cs typeface="Helvetica Neue"/>
              </a:defRPr>
            </a:pPr>
            <a:r>
              <a:rPr sz="2475" b="1">
                <a:solidFill>
                  <a:srgbClr val="93BAFF"/>
                </a:solidFill>
                <a:latin typeface="Helvetica Neue"/>
                <a:ea typeface="Helvetica Neue"/>
                <a:cs typeface="Helvetica Neue"/>
              </a:rPr>
              <a:t>Defense &amp; security facilities</a:t>
            </a:r>
          </a:p>
        </p:txBody>
      </p:sp>
      <p:sp>
        <p:nvSpPr>
          <p:cNvPr id="8" name="g2_defense_body">
            <a:extLst xmlns:a="http://schemas.openxmlformats.org/drawingml/2006/main">
              <a:ext uri="{FF2B5EF4-FFF2-40B4-BE49-F238E27FC236}">
                <a16:creationId xmlns:a16="http://schemas.microsoft.com/office/drawing/2014/main" id="{6C1DEB73-4470-499E-B169-049D346F08F5}"/>
              </a:ext>
            </a:extLst>
          </p:cNvPr>
          <p:cNvSpPr>
            <a:spLocks xmlns:a="http://schemas.openxmlformats.org/drawingml/2006/main" noGrp="1"/>
          </p:cNvSpPr>
          <p:nvPr/>
        </p:nvSpPr>
        <p:spPr>
          <a:xfrm xmlns:a="http://schemas.openxmlformats.org/drawingml/2006/main">
            <a:off x="619125" y="5133975"/>
            <a:ext cx="619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Helvetica Neue"/>
                <a:ea typeface="Helvetica Neue"/>
                <a:cs typeface="Helvetica Neue"/>
              </a:defRPr>
            </a:defPPr>
          </a:lstStyle>
          <a:p xmlns:a="http://schemas.openxmlformats.org/drawingml/2006/main">
            <a:pPr>
              <a:defRPr sz="2025" b="0">
                <a:solidFill>
                  <a:srgbClr val="F1F5F9"/>
                </a:solidFill>
                <a:latin typeface="Helvetica Neue"/>
                <a:ea typeface="Helvetica Neue"/>
                <a:cs typeface="Helvetica Neue"/>
              </a:defRPr>
            </a:pPr>
            <a:r>
              <a:rPr sz="2025" b="0">
                <a:solidFill>
                  <a:srgbClr val="F1F5F9"/>
                </a:solidFill>
                <a:latin typeface="Helvetica Neue"/>
                <a:ea typeface="Helvetica Neue"/>
                <a:cs typeface="Helvetica Neue"/>
              </a:rPr>
              <a:t>Restricted routes, assembly points</a:t>
            </a:r>
          </a:p>
          <a:p xmlns:a="http://schemas.openxmlformats.org/drawingml/2006/main">
            <a:pPr>
              <a:defRPr sz="2025" b="0">
                <a:solidFill>
                  <a:srgbClr val="F1F5F9"/>
                </a:solidFill>
                <a:latin typeface="Helvetica Neue"/>
                <a:ea typeface="Helvetica Neue"/>
                <a:cs typeface="Helvetica Neue"/>
              </a:defRPr>
            </a:pPr>
            <a:r>
              <a:rPr sz="2025" b="0">
                <a:solidFill>
                  <a:srgbClr val="F1F5F9"/>
                </a:solidFill>
                <a:latin typeface="Helvetica Neue"/>
                <a:ea typeface="Helvetica Neue"/>
                <a:cs typeface="Helvetica Neue"/>
              </a:rPr>
              <a:t>and evacuation under disruption</a:t>
            </a:r>
          </a:p>
        </p:txBody>
      </p:sp>
      <p:sp>
        <p:nvSpPr>
          <p:cNvPr id="9" name="future_scope_note">
            <a:extLst xmlns:a="http://schemas.openxmlformats.org/drawingml/2006/main">
              <a:ext uri="{FF2B5EF4-FFF2-40B4-BE49-F238E27FC236}">
                <a16:creationId xmlns:a16="http://schemas.microsoft.com/office/drawing/2014/main" id="{E87B35F9-678F-4855-A6E2-BF384DCC29D4}"/>
              </a:ext>
            </a:extLst>
          </p:cNvPr>
          <p:cNvSpPr>
            <a:spLocks xmlns:a="http://schemas.openxmlformats.org/drawingml/2006/main" noGrp="1"/>
          </p:cNvSpPr>
          <p:nvPr/>
        </p:nvSpPr>
        <p:spPr>
          <a:xfrm xmlns:a="http://schemas.openxmlformats.org/drawingml/2006/main">
            <a:off x="619125" y="6353175"/>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8BACB"/>
                </a:solidFill>
                <a:latin typeface="Helvetica Neue"/>
                <a:ea typeface="Helvetica Neue"/>
                <a:cs typeface="Helvetica Neue"/>
              </a:defRPr>
            </a:defPPr>
          </a:lstStyle>
          <a:p xmlns:a="http://schemas.openxmlformats.org/drawingml/2006/main">
            <a:pPr>
              <a:defRPr sz="1275" b="0">
                <a:solidFill>
                  <a:srgbClr val="A8BACB"/>
                </a:solidFill>
                <a:latin typeface="Helvetica Neue"/>
                <a:ea typeface="Helvetica Neue"/>
                <a:cs typeface="Helvetica Neue"/>
              </a:defRPr>
            </a:pPr>
            <a:r>
              <a:rPr sz="1275" b="0">
                <a:solidFill>
                  <a:srgbClr val="A8BACB"/>
                </a:solidFill>
                <a:latin typeface="Helvetica Neue"/>
                <a:ea typeface="Helvetica Neue"/>
                <a:cs typeface="Helvetica Neue"/>
              </a:rPr>
              <a:t>Future applications require domain-specific models and field validation.</a:t>
            </a:r>
          </a:p>
        </p:txBody>
      </p:sp>
    </p:spTree>
    <p:extLst>
      <p:ext uri="{BB962C8B-B14F-4D97-AF65-F5344CB8AC3E}">
        <p14:creationId xmlns:p14="http://schemas.microsoft.com/office/powerpoint/2010/main" val="1344734030"/>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00"/>
                            </p:stCondLst>
                            <p:childTnLst>
                              <p:set>
                                <p:cBhvr>
                                  <p:cTn id="5" dur="1" fill="hold"/>
                                  <p:tgtEl>
                                    <p:spTgt spid="5"/>
                                  </p:tgtEl>
                                  <p:attrNameLst>
                                    <p:attrName>style.visibility</p:attrName>
                                  </p:attrNameLst>
                                </p:cBhvr>
                                <p:to>
                                  <p:strVal val="visible"/>
                                </p:to>
                              </p:set>
                              <p:animEffect transition="in" filter="fade">
                                <p:cBhvr>
                                  <p:cTn id="6" dur="550" fill="hold"/>
                                  <p:tgtEl>
                                    <p:spTgt spid="5"/>
                                  </p:tgtEl>
                                </p:cBhvr>
                              </p:animEffect>
                            </p:childTnLst>
                          </p:cTn>
                        </p:par>
                        <p:par>
                          <p:cTn id="7" presetID="10" presetClass="entr" presetSubtype="0" fill="hold" nodeType="withEffect">
                            <p:stCondLst>
                              <p:cond delay="100"/>
                            </p:stCondLst>
                            <p:childTnLst>
                              <p:set>
                                <p:cBhvr>
                                  <p:cTn id="8" dur="1" fill="hold"/>
                                  <p:tgtEl>
                                    <p:spTgt spid="6"/>
                                  </p:tgtEl>
                                  <p:attrNameLst>
                                    <p:attrName>style.visibility</p:attrName>
                                  </p:attrNameLst>
                                </p:cBhvr>
                                <p:to>
                                  <p:strVal val="visible"/>
                                </p:to>
                              </p:set>
                              <p:animEffect transition="in" filter="fade">
                                <p:cBhvr>
                                  <p:cTn id="9" dur="550" fill="hold"/>
                                  <p:tgtEl>
                                    <p:spTgt spid="6"/>
                                  </p:tgtEl>
                                </p:cBhvr>
                              </p:animEffect>
                            </p:childTnLst>
                          </p:cTn>
                        </p:par>
                        <p:par>
                          <p:cTn id="10" presetID="10" presetClass="entr" presetSubtype="0" fill="hold" nodeType="withEffect">
                            <p:stCondLst>
                              <p:cond delay="700"/>
                            </p:stCondLst>
                            <p:childTnLst>
                              <p:set>
                                <p:cBhvr>
                                  <p:cTn id="11" dur="1" fill="hold"/>
                                  <p:tgtEl>
                                    <p:spTgt spid="7"/>
                                  </p:tgtEl>
                                  <p:attrNameLst>
                                    <p:attrName>style.visibility</p:attrName>
                                  </p:attrNameLst>
                                </p:cBhvr>
                                <p:to>
                                  <p:strVal val="visible"/>
                                </p:to>
                              </p:set>
                              <p:animEffect transition="in" filter="fade">
                                <p:cBhvr>
                                  <p:cTn id="12" dur="550" fill="hold"/>
                                  <p:tgtEl>
                                    <p:spTgt spid="7"/>
                                  </p:tgtEl>
                                </p:cBhvr>
                              </p:animEffect>
                            </p:childTnLst>
                          </p:cTn>
                        </p:par>
                        <p:par>
                          <p:cTn id="13" presetID="10" presetClass="entr" presetSubtype="0" fill="hold" nodeType="withEffect">
                            <p:stCondLst>
                              <p:cond delay="700"/>
                            </p:stCondLst>
                            <p:childTnLst>
                              <p:set>
                                <p:cBhvr>
                                  <p:cTn id="14" dur="1" fill="hold"/>
                                  <p:tgtEl>
                                    <p:spTgt spid="8"/>
                                  </p:tgtEl>
                                  <p:attrNameLst>
                                    <p:attrName>style.visibility</p:attrName>
                                  </p:attrNameLst>
                                </p:cBhvr>
                                <p:to>
                                  <p:strVal val="visible"/>
                                </p:to>
                              </p:set>
                              <p:animEffect transition="in" filter="fade">
                                <p:cBhvr>
                                  <p:cTn id="15"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9" name="page">
            <a:extLst xmlns:a="http://schemas.openxmlformats.org/drawingml/2006/main">
              <a:ext uri="{FF2B5EF4-FFF2-40B4-BE49-F238E27FC236}">
                <a16:creationId xmlns:a16="http://schemas.microsoft.com/office/drawing/2014/main" id="{74360EE0-E1D7-4097-B793-027BE1557382}"/>
              </a:ext>
            </a:extLst>
          </p:cNvPr>
          <p:cNvSpPr>
            <a:spLocks xmlns:a="http://schemas.openxmlformats.org/drawingml/2006/main" noGrp="1"/>
          </p:cNvSpPr>
          <p:nvPr/>
        </p:nvSpPr>
        <p:spPr>
          <a:xfrm xmlns:a="http://schemas.openxmlformats.org/drawingml/2006/main">
            <a:off x="11239500" y="62579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A8BACB"/>
                </a:solidFill>
                <a:latin typeface="Helvetica Neue"/>
                <a:ea typeface="Helvetica Neue"/>
                <a:cs typeface="Helvetica Neue"/>
              </a:defRPr>
            </a:defPPr>
          </a:lstStyle>
          <a:p xmlns:a="http://schemas.openxmlformats.org/drawingml/2006/main">
            <a:pPr algn="r">
              <a:defRPr sz="1200" b="0">
                <a:solidFill>
                  <a:srgbClr val="A8BACB"/>
                </a:solidFill>
                <a:latin typeface="Helvetica Neue"/>
                <a:ea typeface="Helvetica Neue"/>
                <a:cs typeface="Helvetica Neue"/>
              </a:defRPr>
            </a:pPr>
            <a:r>
              <a:rPr sz="1200" b="0">
                <a:solidFill>
                  <a:srgbClr val="A8BACB"/>
                </a:solidFill>
                <a:latin typeface="Helvetica Neue"/>
                <a:ea typeface="Helvetica Neue"/>
                <a:cs typeface="Helvetica Neue"/>
              </a:rPr>
              <a:t>10</a:t>
            </a:r>
          </a:p>
        </p:txBody>
      </p:sp>
      <p:pic>
        <p:nvPicPr>
          <p:cNvPr id="2" name="stadium closing background" descr="stadium closing background">
            <a:extLst xmlns:a="http://schemas.openxmlformats.org/drawingml/2006/main">
              <a:ext uri="{FF2B5EF4-FFF2-40B4-BE49-F238E27FC236}">
                <a16:creationId xmlns:a16="http://schemas.microsoft.com/office/drawing/2014/main" id="{4C5EF6EF-BA8B-4892-BFAB-60CC3AEA5586}"/>
              </a:ext>
            </a:extLst>
          </p:cNvPr>
          <p:cNvPicPr>
            <a:picLocks xmlns:a="http://schemas.openxmlformats.org/drawingml/2006/main" noChangeAspect="1"/>
          </p:cNvPicPr>
          <p:nvPr/>
        </p:nvPicPr>
        <p:blipFill>
          <a:blip xmlns:r="http://schemas.openxmlformats.org/officeDocument/2006/relationships" xmlns:a="http://schemas.openxmlformats.org/drawingml/2006/main" r:embed="Rb77e887aabfb4927"/>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3" name="g1_thanks">
            <a:extLst xmlns:a="http://schemas.openxmlformats.org/drawingml/2006/main">
              <a:ext uri="{FF2B5EF4-FFF2-40B4-BE49-F238E27FC236}">
                <a16:creationId xmlns:a16="http://schemas.microsoft.com/office/drawing/2014/main" id="{F0B4183D-BD72-45EE-885C-66805C17BD76}"/>
              </a:ext>
            </a:extLst>
          </p:cNvPr>
          <p:cNvSpPr>
            <a:spLocks xmlns:a="http://schemas.openxmlformats.org/drawingml/2006/main" noGrp="1"/>
          </p:cNvSpPr>
          <p:nvPr/>
        </p:nvSpPr>
        <p:spPr>
          <a:xfrm xmlns:a="http://schemas.openxmlformats.org/drawingml/2006/main">
            <a:off x="590550" y="1028700"/>
            <a:ext cx="809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00" b="1">
                <a:solidFill>
                  <a:srgbClr val="F1F5F9"/>
                </a:solidFill>
                <a:latin typeface="Helvetica Neue"/>
                <a:ea typeface="Helvetica Neue"/>
                <a:cs typeface="Helvetica Neue"/>
              </a:defRPr>
            </a:defPPr>
          </a:lstStyle>
          <a:p xmlns:a="http://schemas.openxmlformats.org/drawingml/2006/main">
            <a:pPr>
              <a:defRPr sz="6000" b="1">
                <a:solidFill>
                  <a:srgbClr val="F1F5F9"/>
                </a:solidFill>
                <a:latin typeface="Helvetica Neue"/>
                <a:ea typeface="Helvetica Neue"/>
                <a:cs typeface="Helvetica Neue"/>
              </a:defRPr>
            </a:pPr>
            <a:r>
              <a:rPr sz="6000" b="1">
                <a:solidFill>
                  <a:srgbClr val="F1F5F9"/>
                </a:solidFill>
                <a:latin typeface="Helvetica Neue"/>
                <a:ea typeface="Helvetica Neue"/>
                <a:cs typeface="Helvetica Neue"/>
              </a:rPr>
              <a:t>Thank you</a:t>
            </a:r>
          </a:p>
        </p:txBody>
      </p:sp>
      <p:sp>
        <p:nvSpPr>
          <p:cNvPr id="4" name="g1_brand">
            <a:extLst xmlns:a="http://schemas.openxmlformats.org/drawingml/2006/main">
              <a:ext uri="{FF2B5EF4-FFF2-40B4-BE49-F238E27FC236}">
                <a16:creationId xmlns:a16="http://schemas.microsoft.com/office/drawing/2014/main" id="{09338F51-B3A0-4FD8-B6EF-1BD274992BB5}"/>
              </a:ext>
            </a:extLst>
          </p:cNvPr>
          <p:cNvSpPr>
            <a:spLocks xmlns:a="http://schemas.openxmlformats.org/drawingml/2006/main" noGrp="1"/>
          </p:cNvSpPr>
          <p:nvPr/>
        </p:nvSpPr>
        <p:spPr>
          <a:xfrm xmlns:a="http://schemas.openxmlformats.org/drawingml/2006/main">
            <a:off x="628650" y="2095500"/>
            <a:ext cx="619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65E2C1"/>
                </a:solidFill>
                <a:latin typeface="Helvetica Neue"/>
                <a:ea typeface="Helvetica Neue"/>
                <a:cs typeface="Helvetica Neue"/>
              </a:defRPr>
            </a:defPPr>
          </a:lstStyle>
          <a:p xmlns:a="http://schemas.openxmlformats.org/drawingml/2006/main">
            <a:pPr>
              <a:defRPr sz="4050" b="1">
                <a:solidFill>
                  <a:srgbClr val="65E2C1"/>
                </a:solidFill>
                <a:latin typeface="Helvetica Neue"/>
                <a:ea typeface="Helvetica Neue"/>
                <a:cs typeface="Helvetica Neue"/>
              </a:defRPr>
            </a:pPr>
            <a:r>
              <a:rPr sz="4050" b="1">
                <a:solidFill>
                  <a:srgbClr val="65E2C1"/>
                </a:solidFill>
                <a:latin typeface="Helvetica Neue"/>
                <a:ea typeface="Helvetica Neue"/>
                <a:cs typeface="Helvetica Neue"/>
              </a:rPr>
              <a:t>NorthStar</a:t>
            </a:r>
          </a:p>
        </p:txBody>
      </p:sp>
      <p:sp>
        <p:nvSpPr>
          <p:cNvPr id="5" name="g2_ask">
            <a:extLst xmlns:a="http://schemas.openxmlformats.org/drawingml/2006/main">
              <a:ext uri="{FF2B5EF4-FFF2-40B4-BE49-F238E27FC236}">
                <a16:creationId xmlns:a16="http://schemas.microsoft.com/office/drawing/2014/main" id="{91BCB786-0B07-4152-B714-F1BE383A2F89}"/>
              </a:ext>
            </a:extLst>
          </p:cNvPr>
          <p:cNvSpPr>
            <a:spLocks xmlns:a="http://schemas.openxmlformats.org/drawingml/2006/main" noGrp="1"/>
          </p:cNvSpPr>
          <p:nvPr/>
        </p:nvSpPr>
        <p:spPr>
          <a:xfrm xmlns:a="http://schemas.openxmlformats.org/drawingml/2006/main">
            <a:off x="628650" y="3257550"/>
            <a:ext cx="7381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F1F5F9"/>
                </a:solidFill>
                <a:latin typeface="Helvetica Neue"/>
                <a:ea typeface="Helvetica Neue"/>
                <a:cs typeface="Helvetica Neue"/>
              </a:defRPr>
            </a:defPPr>
          </a:lstStyle>
          <a:p xmlns:a="http://schemas.openxmlformats.org/drawingml/2006/main">
            <a:pPr>
              <a:defRPr sz="2625" b="1">
                <a:solidFill>
                  <a:srgbClr val="F1F5F9"/>
                </a:solidFill>
                <a:latin typeface="Helvetica Neue"/>
                <a:ea typeface="Helvetica Neue"/>
                <a:cs typeface="Helvetica Neue"/>
              </a:defRPr>
            </a:pPr>
            <a:r>
              <a:rPr sz="2625" b="1">
                <a:solidFill>
                  <a:srgbClr val="F1F5F9"/>
                </a:solidFill>
                <a:latin typeface="Helvetica Neue"/>
                <a:ea typeface="Helvetica Neue"/>
                <a:cs typeface="Helvetica Neue"/>
              </a:rPr>
              <a:t>Seeking one venue partner</a:t>
            </a:r>
          </a:p>
          <a:p xmlns:a="http://schemas.openxmlformats.org/drawingml/2006/main">
            <a:pPr>
              <a:defRPr sz="2625" b="1">
                <a:solidFill>
                  <a:srgbClr val="F1F5F9"/>
                </a:solidFill>
                <a:latin typeface="Helvetica Neue"/>
                <a:ea typeface="Helvetica Neue"/>
                <a:cs typeface="Helvetica Neue"/>
              </a:defRPr>
            </a:pPr>
            <a:r>
              <a:rPr sz="2625" b="1">
                <a:solidFill>
                  <a:srgbClr val="F1F5F9"/>
                </a:solidFill>
                <a:latin typeface="Helvetica Neue"/>
                <a:ea typeface="Helvetica Neue"/>
                <a:cs typeface="Helvetica Neue"/>
              </a:rPr>
              <a:t>for a six-week validation pilot</a:t>
            </a:r>
          </a:p>
        </p:txBody>
      </p:sp>
      <p:sp>
        <p:nvSpPr>
          <p:cNvPr id="6" name="g2_detail">
            <a:extLst xmlns:a="http://schemas.openxmlformats.org/drawingml/2006/main">
              <a:ext uri="{FF2B5EF4-FFF2-40B4-BE49-F238E27FC236}">
                <a16:creationId xmlns:a16="http://schemas.microsoft.com/office/drawing/2014/main" id="{E0D73B78-5069-4584-8165-7EFCB2D06501}"/>
              </a:ext>
            </a:extLst>
          </p:cNvPr>
          <p:cNvSpPr>
            <a:spLocks xmlns:a="http://schemas.openxmlformats.org/drawingml/2006/main" noGrp="1"/>
          </p:cNvSpPr>
          <p:nvPr/>
        </p:nvSpPr>
        <p:spPr>
          <a:xfrm xmlns:a="http://schemas.openxmlformats.org/drawingml/2006/main">
            <a:off x="647700" y="4533900"/>
            <a:ext cx="5953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8BACB"/>
                </a:solidFill>
                <a:latin typeface="Helvetica Neue"/>
                <a:ea typeface="Helvetica Neue"/>
                <a:cs typeface="Helvetica Neue"/>
              </a:defRPr>
            </a:defPPr>
          </a:lstStyle>
          <a:p xmlns:a="http://schemas.openxmlformats.org/drawingml/2006/main">
            <a:pPr>
              <a:defRPr sz="1800" b="0">
                <a:solidFill>
                  <a:srgbClr val="A8BACB"/>
                </a:solidFill>
                <a:latin typeface="Helvetica Neue"/>
                <a:ea typeface="Helvetica Neue"/>
                <a:cs typeface="Helvetica Neue"/>
              </a:defRPr>
            </a:pPr>
            <a:r>
              <a:rPr sz="1800" b="0">
                <a:solidFill>
                  <a:srgbClr val="A8BACB"/>
                </a:solidFill>
                <a:latin typeface="Helvetica Neue"/>
                <a:ea typeface="Helvetica Neue"/>
                <a:cs typeface="Helvetica Neue"/>
              </a:rPr>
              <a:t>A calibrated model and controlled drills.</a:t>
            </a:r>
          </a:p>
          <a:p xmlns:a="http://schemas.openxmlformats.org/drawingml/2006/main">
            <a:pPr>
              <a:defRPr sz="1800" b="0">
                <a:solidFill>
                  <a:srgbClr val="A8BACB"/>
                </a:solidFill>
                <a:latin typeface="Helvetica Neue"/>
                <a:ea typeface="Helvetica Neue"/>
                <a:cs typeface="Helvetica Neue"/>
              </a:defRPr>
            </a:pPr>
            <a:r>
              <a:rPr sz="1800" b="0">
                <a:solidFill>
                  <a:srgbClr val="A8BACB"/>
                </a:solidFill>
                <a:latin typeface="Helvetica Neue"/>
                <a:ea typeface="Helvetica Neue"/>
                <a:cs typeface="Helvetica Neue"/>
              </a:rPr>
              <a:t>Measured outcomes.</a:t>
            </a:r>
          </a:p>
        </p:txBody>
      </p:sp>
      <p:sp>
        <p:nvSpPr>
          <p:cNvPr id="7" name="g3_names1">
            <a:extLst xmlns:a="http://schemas.openxmlformats.org/drawingml/2006/main">
              <a:ext uri="{FF2B5EF4-FFF2-40B4-BE49-F238E27FC236}">
                <a16:creationId xmlns:a16="http://schemas.microsoft.com/office/drawing/2014/main" id="{F6604CF3-5B00-487A-8BAB-C16FB307DBA7}"/>
              </a:ext>
            </a:extLst>
          </p:cNvPr>
          <p:cNvSpPr>
            <a:spLocks xmlns:a="http://schemas.openxmlformats.org/drawingml/2006/main" noGrp="1"/>
          </p:cNvSpPr>
          <p:nvPr/>
        </p:nvSpPr>
        <p:spPr>
          <a:xfrm xmlns:a="http://schemas.openxmlformats.org/drawingml/2006/main">
            <a:off x="647700" y="5591175"/>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1F5F9"/>
                </a:solidFill>
                <a:latin typeface="Helvetica Neue"/>
                <a:ea typeface="Helvetica Neue"/>
                <a:cs typeface="Helvetica Neue"/>
              </a:defRPr>
            </a:defPPr>
          </a:lstStyle>
          <a:p xmlns:a="http://schemas.openxmlformats.org/drawingml/2006/main">
            <a:pPr>
              <a:defRPr sz="1875" b="0">
                <a:solidFill>
                  <a:srgbClr val="F1F5F9"/>
                </a:solidFill>
                <a:latin typeface="Helvetica Neue"/>
                <a:ea typeface="Helvetica Neue"/>
                <a:cs typeface="Helvetica Neue"/>
              </a:defRPr>
            </a:pPr>
            <a:r>
              <a:rPr sz="1875" b="0">
                <a:solidFill>
                  <a:srgbClr val="F1F5F9"/>
                </a:solidFill>
                <a:latin typeface="Helvetica Neue"/>
                <a:ea typeface="Helvetica Neue"/>
                <a:cs typeface="Helvetica Neue"/>
              </a:rPr>
              <a:t>Khushi Patel     Ujjwal Puri</a:t>
            </a:r>
          </a:p>
        </p:txBody>
      </p:sp>
      <p:sp>
        <p:nvSpPr>
          <p:cNvPr id="8" name="g3_names2">
            <a:extLst xmlns:a="http://schemas.openxmlformats.org/drawingml/2006/main">
              <a:ext uri="{FF2B5EF4-FFF2-40B4-BE49-F238E27FC236}">
                <a16:creationId xmlns:a16="http://schemas.microsoft.com/office/drawing/2014/main" id="{D73A2CAA-4769-47A6-A4B7-5422E66A4EE7}"/>
              </a:ext>
            </a:extLst>
          </p:cNvPr>
          <p:cNvSpPr>
            <a:spLocks xmlns:a="http://schemas.openxmlformats.org/drawingml/2006/main" noGrp="1"/>
          </p:cNvSpPr>
          <p:nvPr/>
        </p:nvSpPr>
        <p:spPr>
          <a:xfrm xmlns:a="http://schemas.openxmlformats.org/drawingml/2006/main">
            <a:off x="647700" y="6010275"/>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1F5F9"/>
                </a:solidFill>
                <a:latin typeface="Helvetica Neue"/>
                <a:ea typeface="Helvetica Neue"/>
                <a:cs typeface="Helvetica Neue"/>
              </a:defRPr>
            </a:defPPr>
          </a:lstStyle>
          <a:p xmlns:a="http://schemas.openxmlformats.org/drawingml/2006/main">
            <a:pPr>
              <a:defRPr sz="1875" b="0">
                <a:solidFill>
                  <a:srgbClr val="F1F5F9"/>
                </a:solidFill>
                <a:latin typeface="Helvetica Neue"/>
                <a:ea typeface="Helvetica Neue"/>
                <a:cs typeface="Helvetica Neue"/>
              </a:defRPr>
            </a:pPr>
            <a:r>
              <a:rPr sz="1875" b="0">
                <a:solidFill>
                  <a:srgbClr val="F1F5F9"/>
                </a:solidFill>
                <a:latin typeface="Helvetica Neue"/>
                <a:ea typeface="Helvetica Neue"/>
                <a:cs typeface="Helvetica Neue"/>
              </a:rPr>
              <a:t>Mansi Surywanshi     Aditya Lanjewar</a:t>
            </a:r>
          </a:p>
        </p:txBody>
      </p:sp>
    </p:spTree>
    <p:extLst>
      <p:ext uri="{BB962C8B-B14F-4D97-AF65-F5344CB8AC3E}">
        <p14:creationId xmlns:p14="http://schemas.microsoft.com/office/powerpoint/2010/main" val="2111445317"/>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00"/>
                            </p:stCondLst>
                            <p:childTnLst>
                              <p:set>
                                <p:cBhvr>
                                  <p:cTn id="5" dur="1" fill="hold"/>
                                  <p:tgtEl>
                                    <p:spTgt spid="3"/>
                                  </p:tgtEl>
                                  <p:attrNameLst>
                                    <p:attrName>style.visibility</p:attrName>
                                  </p:attrNameLst>
                                </p:cBhvr>
                                <p:to>
                                  <p:strVal val="visible"/>
                                </p:to>
                              </p:set>
                              <p:animEffect transition="in" filter="fade">
                                <p:cBhvr>
                                  <p:cTn id="6" dur="550" fill="hold"/>
                                  <p:tgtEl>
                                    <p:spTgt spid="3"/>
                                  </p:tgtEl>
                                </p:cBhvr>
                              </p:animEffect>
                            </p:childTnLst>
                          </p:cTn>
                        </p:par>
                        <p:par>
                          <p:cTn id="7" presetID="10" presetClass="entr" presetSubtype="0" fill="hold" nodeType="withEffect">
                            <p:stCondLst>
                              <p:cond delay="100"/>
                            </p:stCondLst>
                            <p:childTnLst>
                              <p:set>
                                <p:cBhvr>
                                  <p:cTn id="8" dur="1" fill="hold"/>
                                  <p:tgtEl>
                                    <p:spTgt spid="4"/>
                                  </p:tgtEl>
                                  <p:attrNameLst>
                                    <p:attrName>style.visibility</p:attrName>
                                  </p:attrNameLst>
                                </p:cBhvr>
                                <p:to>
                                  <p:strVal val="visible"/>
                                </p:to>
                              </p:set>
                              <p:animEffect transition="in" filter="fade">
                                <p:cBhvr>
                                  <p:cTn id="9" dur="550" fill="hold"/>
                                  <p:tgtEl>
                                    <p:spTgt spid="4"/>
                                  </p:tgtEl>
                                </p:cBhvr>
                              </p:animEffect>
                            </p:childTnLst>
                          </p:cTn>
                        </p:par>
                        <p:par>
                          <p:cTn id="10" presetID="10" presetClass="entr" presetSubtype="0" fill="hold" nodeType="withEffect">
                            <p:stCondLst>
                              <p:cond delay="700"/>
                            </p:stCondLst>
                            <p:childTnLst>
                              <p:set>
                                <p:cBhvr>
                                  <p:cTn id="11" dur="1" fill="hold"/>
                                  <p:tgtEl>
                                    <p:spTgt spid="5"/>
                                  </p:tgtEl>
                                  <p:attrNameLst>
                                    <p:attrName>style.visibility</p:attrName>
                                  </p:attrNameLst>
                                </p:cBhvr>
                                <p:to>
                                  <p:strVal val="visible"/>
                                </p:to>
                              </p:set>
                              <p:animEffect transition="in" filter="fade">
                                <p:cBhvr>
                                  <p:cTn id="12" dur="550" fill="hold"/>
                                  <p:tgtEl>
                                    <p:spTgt spid="5"/>
                                  </p:tgtEl>
                                </p:cBhvr>
                              </p:animEffect>
                            </p:childTnLst>
                          </p:cTn>
                        </p:par>
                        <p:par>
                          <p:cTn id="13" presetID="10" presetClass="entr" presetSubtype="0" fill="hold" nodeType="withEffect">
                            <p:stCondLst>
                              <p:cond delay="700"/>
                            </p:stCondLst>
                            <p:childTnLst>
                              <p:set>
                                <p:cBhvr>
                                  <p:cTn id="14" dur="1" fill="hold"/>
                                  <p:tgtEl>
                                    <p:spTgt spid="6"/>
                                  </p:tgtEl>
                                  <p:attrNameLst>
                                    <p:attrName>style.visibility</p:attrName>
                                  </p:attrNameLst>
                                </p:cBhvr>
                                <p:to>
                                  <p:strVal val="visible"/>
                                </p:to>
                              </p:set>
                              <p:animEffect transition="in" filter="fade">
                                <p:cBhvr>
                                  <p:cTn id="15" dur="550" fill="hold"/>
                                  <p:tgtEl>
                                    <p:spTgt spid="6"/>
                                  </p:tgtEl>
                                </p:cBhvr>
                              </p:animEffect>
                            </p:childTnLst>
                          </p:cTn>
                        </p:par>
                        <p:par>
                          <p:cTn id="16" presetID="10" presetClass="entr" presetSubtype="0" fill="hold" nodeType="withEffect">
                            <p:stCondLst>
                              <p:cond delay="1300"/>
                            </p:stCondLst>
                            <p:childTnLst>
                              <p:set>
                                <p:cBhvr>
                                  <p:cTn id="17" dur="1" fill="hold"/>
                                  <p:tgtEl>
                                    <p:spTgt spid="7"/>
                                  </p:tgtEl>
                                  <p:attrNameLst>
                                    <p:attrName>style.visibility</p:attrName>
                                  </p:attrNameLst>
                                </p:cBhvr>
                                <p:to>
                                  <p:strVal val="visible"/>
                                </p:to>
                              </p:set>
                              <p:animEffect transition="in" filter="fade">
                                <p:cBhvr>
                                  <p:cTn id="18" dur="550" fill="hold"/>
                                  <p:tgtEl>
                                    <p:spTgt spid="7"/>
                                  </p:tgtEl>
                                </p:cBhvr>
                              </p:animEffect>
                            </p:childTnLst>
                          </p:cTn>
                        </p:par>
                        <p:par>
                          <p:cTn id="19" presetID="10" presetClass="entr" presetSubtype="0" fill="hold" nodeType="withEffect">
                            <p:stCondLst>
                              <p:cond delay="1300"/>
                            </p:stCondLst>
                            <p:childTnLst>
                              <p:set>
                                <p:cBhvr>
                                  <p:cTn id="20" dur="1" fill="hold"/>
                                  <p:tgtEl>
                                    <p:spTgt spid="8"/>
                                  </p:tgtEl>
                                  <p:attrNameLst>
                                    <p:attrName>style.visibility</p:attrName>
                                  </p:attrNameLst>
                                </p:cBhvr>
                                <p:to>
                                  <p:strVal val="visible"/>
                                </p:to>
                              </p:set>
                              <p:animEffect transition="in" filter="fade">
                                <p:cBhvr>
                                  <p:cTn id="21"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Khushi Patel; Ujjwal Puri; Mansi Surywanshi; Aditya Lanjewar</dc:creator>
  <lastModifiedBy>Walnut Exporter</lastModifiedBy>
  <dc:title>NorthStar | Evacuation Intelligence</dc:title>
  <dcterms:created xsi:type="dcterms:W3CDTF">2026-10-18T02:31:35.6190000Z</dcterms:created>
  <dcterms:modified xsi:type="dcterms:W3CDTF">2026-10-18T02:31:35.6190000Z</dcterms:modified>
  <dc:description>10-slide startup pitch with real prototype screenshots, editable diagrams, animations and an embedded actual demo.</dc:description>
</coreProperties>
</file>